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75" r:id="rId13"/>
    <p:sldId id="267" r:id="rId14"/>
    <p:sldId id="268" r:id="rId15"/>
    <p:sldId id="269" r:id="rId16"/>
    <p:sldId id="270" r:id="rId17"/>
    <p:sldId id="271" r:id="rId18"/>
    <p:sldId id="272"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56"/>
    <p:restoredTop sz="91228"/>
  </p:normalViewPr>
  <p:slideViewPr>
    <p:cSldViewPr snapToGrid="0" snapToObjects="1">
      <p:cViewPr>
        <p:scale>
          <a:sx n="192" d="100"/>
          <a:sy n="192" d="100"/>
        </p:scale>
        <p:origin x="-3216" y="-2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796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Set up the story. The current reproduction has thousands of downstream metric files, but 13 planned cells still need targeted reruns. The new part is that the deck now includes the raw-logit implementation fix, CTGAN repeat results, and the extra evaluation tracks we just added.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Use this slide to summarize where the reproduction agrees with the paper. The important point is not that every number matches exactly, but that TabPFGen is among the closer methods while CTGAN has the biggest gap.</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This is the clearest augmentation comparison. First compare the paper block to my-results block, then use the delta block to see direction and size of mismatch. Remind the audience that positive means reproduced AUC is higher.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This slide mirrors the lower half of the paper table. It should be the main evidence slide for whether the reproduction matches the paper in the synthetic-only setting.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Explain the main result table from the paper. Top rows use synthetic data as augmentation. Bottom rows train classifiers only on synthetic data. Replacement is the stricter test of whether synthetic data contains useful structure.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This slide answers what changed in the implementation. The important sentence is that logits preserve the energy scale, and differentiability means changes in x_synth must change the TabPFN output so autograd can compute SGLD updates.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Explain the swap slowly. First say that core asks whether a synthetic row is plausible given real data. Then say full also asks the reverse: if synthetic data becomes the context, can it classify real rows? That makes the synthetic batch useful as a replacement training set, not only plausible sample by sample.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Use this slide when asked why scaling appears in the code. The honest answer is that the paper underspecifies external scaling, but gradient-based sampling is scale-sensitive. Present scaling as an engineering stabilization choice and the no-scale run as the check.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This slide prevents overclaiming. Say that Hollmann provides search spaces and evaluation style, not a recoverable list of exact selected hyperparameters. Therefore the reproduction should either tune baselines or disclose fixed defaults.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Use this slide to separate reproduction from extension. The paper path is an old TabPFN checkpoint. A v3/new-model run can be scientifically useful, but it changes the prior and therefore the sampler.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Be transparent about diabetes. The goal is not to hide this dataset. Say that we are excluding it temporarily, and the next diagnostic is gradient health logging to identify where sampling becomes numerically unstable.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This slide explains why downstream AUC alone is not enough. Point out the contrast between fidelity, detectability, and copy risk, then mention the new diagnostics as a way to locate which part of the distribution each method loses.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NL" sz="1200" b="1" kern="1200" dirty="0">
                <a:solidFill>
                  <a:schemeClr val="tx1"/>
                </a:solidFill>
                <a:latin typeface="+mn-lt"/>
                <a:ea typeface="+mn-ea"/>
                <a:cs typeface="+mn-cs"/>
              </a:rPr>
              <a:t>conditional_ks</a:t>
            </a:r>
            <a:br>
              <a:rPr lang="en-NL" dirty="0"/>
            </a:br>
            <a:r>
              <a:rPr lang="en-NL" dirty="0"/>
              <a:t>This compares each feature’s real vs synthetic distribution </a:t>
            </a:r>
            <a:r>
              <a:rPr lang="en-NL" b="1" dirty="0"/>
              <a:t>within each class label</a:t>
            </a:r>
            <a:r>
              <a:rPr lang="en-NL" dirty="0"/>
              <a:t>. For every target class, it runs a two-sample Kolmogorov-Smirnov test per feature, then averages the KS statistics.</a:t>
            </a:r>
          </a:p>
          <a:p>
            <a:r>
              <a:rPr lang="en-NL" dirty="0"/>
              <a:t>Lower is better.</a:t>
            </a:r>
            <a:br>
              <a:rPr lang="en-NL" dirty="0"/>
            </a:br>
            <a:r>
              <a:rPr lang="en-NL" dirty="0"/>
              <a:t>It answers: “Within class 0, class 1, etc., do synthetic feature values follow the same marginal distributions as real feature values?”</a:t>
            </a:r>
          </a:p>
          <a:p>
            <a:r>
              <a:rPr lang="en-NL" sz="1200" b="1" kern="1200" dirty="0">
                <a:solidFill>
                  <a:schemeClr val="tx1"/>
                </a:solidFill>
                <a:latin typeface="+mn-lt"/>
                <a:ea typeface="+mn-ea"/>
                <a:cs typeface="+mn-cs"/>
              </a:rPr>
              <a:t>pca_spectrum_l1</a:t>
            </a:r>
            <a:br>
              <a:rPr lang="en-NL" dirty="0"/>
            </a:br>
            <a:r>
              <a:rPr lang="en-NL" dirty="0"/>
              <a:t>This standardizes features using the real data scaler, runs PCA separately on real and synthetic data, then compares their explained-variance spectra using L1 distance.</a:t>
            </a:r>
          </a:p>
          <a:p>
            <a:r>
              <a:rPr lang="en-NL" dirty="0"/>
              <a:t>Lower is better.</a:t>
            </a:r>
            <a:br>
              <a:rPr lang="en-NL" dirty="0"/>
            </a:br>
            <a:r>
              <a:rPr lang="en-NL" dirty="0"/>
              <a:t>It answers: “Do real and synthetic data have a similar global variance structure?”</a:t>
            </a:r>
            <a:br>
              <a:rPr lang="en-NL" dirty="0"/>
            </a:br>
            <a:r>
              <a:rPr lang="en-NL" dirty="0"/>
              <a:t>If this is low, the synthetic data captures the main directions of variation.</a:t>
            </a:r>
          </a:p>
          <a:p>
            <a:r>
              <a:rPr lang="en-NL" sz="1200" b="1" kern="1200" dirty="0">
                <a:solidFill>
                  <a:schemeClr val="tx1"/>
                </a:solidFill>
                <a:latin typeface="+mn-lt"/>
                <a:ea typeface="+mn-ea"/>
                <a:cs typeface="+mn-cs"/>
              </a:rPr>
              <a:t>partial_corr_mae</a:t>
            </a:r>
            <a:br>
              <a:rPr lang="en-NL" dirty="0"/>
            </a:br>
            <a:r>
              <a:rPr lang="en-NL" dirty="0"/>
              <a:t>This computes the partial correlation matrix for real and synthetic data, then takes mean absolute error between off-diagonal entries.</a:t>
            </a:r>
          </a:p>
          <a:p>
            <a:r>
              <a:rPr lang="en-NL" dirty="0"/>
              <a:t>Lower is better.</a:t>
            </a:r>
            <a:br>
              <a:rPr lang="en-NL" dirty="0"/>
            </a:br>
            <a:r>
              <a:rPr lang="en-NL" dirty="0"/>
              <a:t>It answers: “Do synthetic data preserve conditional feature dependencies?”</a:t>
            </a:r>
            <a:br>
              <a:rPr lang="en-NL" dirty="0"/>
            </a:br>
            <a:r>
              <a:rPr lang="en-NL" dirty="0"/>
              <a:t>Partial correlation is different from ordinary correlation: it asks whether two features are related </a:t>
            </a:r>
            <a:r>
              <a:rPr lang="en-NL" b="1" dirty="0"/>
              <a:t>after accounting for the other features</a:t>
            </a:r>
            <a:r>
              <a:rPr lang="en-NL" dirty="0"/>
              <a:t>.</a:t>
            </a:r>
          </a:p>
          <a:p>
            <a:r>
              <a:rPr lang="en-NL" dirty="0"/>
              <a:t>Important caveat: your means had huge numerical outliers, so medians are safer here.</a:t>
            </a:r>
          </a:p>
          <a:p>
            <a:r>
              <a:rPr lang="en-NL" sz="1200" b="1" kern="1200" dirty="0">
                <a:solidFill>
                  <a:schemeClr val="tx1"/>
                </a:solidFill>
                <a:latin typeface="+mn-lt"/>
                <a:ea typeface="+mn-ea"/>
                <a:cs typeface="+mn-cs"/>
              </a:rPr>
              <a:t>feature_target_mi_mae</a:t>
            </a:r>
            <a:br>
              <a:rPr lang="en-NL" dirty="0"/>
            </a:br>
            <a:r>
              <a:rPr lang="en-NL" dirty="0"/>
              <a:t>This computes mutual information between each feature and the target label in real data, then does the same in synthetic data, then averages the absolute differences.</a:t>
            </a:r>
          </a:p>
          <a:p>
            <a:r>
              <a:rPr lang="en-NL" dirty="0"/>
              <a:t>Lower is better.</a:t>
            </a:r>
            <a:br>
              <a:rPr lang="en-NL" dirty="0"/>
            </a:br>
            <a:r>
              <a:rPr lang="en-NL" dirty="0"/>
              <a:t>It answers: “Do features carry a similar amount of class-label information in synthetic data as in real data?”</a:t>
            </a:r>
          </a:p>
          <a:p>
            <a:r>
              <a:rPr lang="en-NL" sz="1200" b="1" kern="1200" dirty="0">
                <a:solidFill>
                  <a:schemeClr val="tx1"/>
                </a:solidFill>
                <a:latin typeface="+mn-lt"/>
                <a:ea typeface="+mn-ea"/>
                <a:cs typeface="+mn-cs"/>
              </a:rPr>
              <a:t>precision</a:t>
            </a:r>
            <a:br>
              <a:rPr lang="en-NL" dirty="0"/>
            </a:br>
            <a:r>
              <a:rPr lang="en-NL" dirty="0"/>
              <a:t>This is a nearest-neighbor manifold metric. The script first computes a typical real-data neighborhood radius: the median distance from each real point to its nearest other real point. Then it checks what fraction of synthetic rows are close enough to the real data.</a:t>
            </a:r>
          </a:p>
          <a:p>
            <a:r>
              <a:rPr lang="en-NL" dirty="0"/>
              <a:t>Higher is better.</a:t>
            </a:r>
            <a:br>
              <a:rPr lang="en-NL" dirty="0"/>
            </a:br>
            <a:r>
              <a:rPr lang="en-NL" dirty="0"/>
              <a:t>It answers: “Are synthetic rows located in realistic regions?”</a:t>
            </a:r>
          </a:p>
          <a:p>
            <a:r>
              <a:rPr lang="en-NL" dirty="0"/>
              <a:t>High precision means synthetic samples are not wandering far away from the real data manifold.</a:t>
            </a:r>
          </a:p>
          <a:p>
            <a:r>
              <a:rPr lang="en-NL" sz="1200" b="1" kern="1200" dirty="0">
                <a:solidFill>
                  <a:schemeClr val="tx1"/>
                </a:solidFill>
                <a:latin typeface="+mn-lt"/>
                <a:ea typeface="+mn-ea"/>
                <a:cs typeface="+mn-cs"/>
              </a:rPr>
              <a:t>coverage</a:t>
            </a:r>
            <a:br>
              <a:rPr lang="en-NL" dirty="0"/>
            </a:br>
            <a:r>
              <a:rPr lang="en-NL" dirty="0"/>
              <a:t>This uses the same real-data radius, but goes the other way: for each real row, it asks whether there is a synthetic row close enough to it.</a:t>
            </a:r>
          </a:p>
          <a:p>
            <a:r>
              <a:rPr lang="en-NL" dirty="0"/>
              <a:t>Higher is better.</a:t>
            </a:r>
            <a:br>
              <a:rPr lang="en-NL" dirty="0"/>
            </a:br>
            <a:r>
              <a:rPr lang="en-NL" dirty="0"/>
              <a:t>It answers: “Does the synthetic dataset cover many regions of the real dataset?”</a:t>
            </a:r>
          </a:p>
          <a:p>
            <a:r>
              <a:rPr lang="en-NL" dirty="0"/>
              <a:t>High coverage means the generator did not collapse to only a few modes.</a:t>
            </a:r>
          </a:p>
          <a:p>
            <a:r>
              <a:rPr lang="en-NL" sz="1200" b="1" kern="1200" dirty="0">
                <a:solidFill>
                  <a:schemeClr val="tx1"/>
                </a:solidFill>
                <a:latin typeface="+mn-lt"/>
                <a:ea typeface="+mn-ea"/>
                <a:cs typeface="+mn-cs"/>
              </a:rPr>
              <a:t>minority_coverage</a:t>
            </a:r>
            <a:br>
              <a:rPr lang="en-NL" dirty="0"/>
            </a:br>
            <a:r>
              <a:rPr lang="en-NL" dirty="0"/>
              <a:t>This is coverage restricted to the minority class. It finds the least frequent real class, computes a real minority-class neighborhood radius, then checks whether minority real rows have nearby synthetic minority rows.</a:t>
            </a:r>
          </a:p>
          <a:p>
            <a:r>
              <a:rPr lang="en-NL" dirty="0"/>
              <a:t>Higher is better.</a:t>
            </a:r>
            <a:br>
              <a:rPr lang="en-NL" dirty="0"/>
            </a:br>
            <a:r>
              <a:rPr lang="en-NL" dirty="0"/>
              <a:t>It answers: “Does the generator cover the underrepresented class, or does it mainly model the majority class?”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Use this as the explainer slide. Manifold support means the generated rows lie in realistic regions and cover those regions. Exact duplicate fraction is stricter: it only counts exact row matches. TabPFGen has zero exact duplicates because SGLD perturbs continuous values, but membership attacks still show train rows are more exposed.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Use this to answer the question about surprisingly high CTGAN best AUC. Best-of-many is selection biased. The average and standard deviation are the honest stability signal.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This is the main privacy result. Say that TabPFGen has the strongest membership signal, even though exact duplicate fraction is zero. SMOTE is also risky, partly because interpolation keeps samples close to real training rows. A near-random privacy attack for weak generators should not automatically be celebrated because their fidelity is poor.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a:t>This slide turns the reproduction into a work plan. Evaluation-only items can run on existing outputs. Training items consume GPU time or rerun generators, so they should be prioritized after diagnostics.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a:xfrm>
            <a:off x="685800" y="3886200"/>
            <a:ext cx="7772400" cy="2057400"/>
          </a:xfrm>
          <a:prstGeom prst="rect">
            <a:avLst/>
          </a:prstGeom>
        </p:spPr>
        <p:txBody>
          <a:bodyPr/>
          <a:lstStyle/>
          <a:p>
            <a:r>
              <a:rPr lang="en-US" sz="1200" dirty="0"/>
              <a:t>Close with the research message. The reproduction is now useful because it identifies concrete axes for further work: stability, structure preservation, and privacy, not just aggregate AUC.</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502920"/>
            <a:ext cx="7315200" cy="685800"/>
          </a:xfrm>
          <a:prstGeom prst="rect">
            <a:avLst/>
          </a:prstGeom>
          <a:noFill/>
        </p:spPr>
        <p:txBody>
          <a:bodyPr wrap="square">
            <a:normAutofit lnSpcReduction="10000"/>
          </a:bodyPr>
          <a:lstStyle/>
          <a:p>
            <a:r>
              <a:rPr sz="4000" b="1">
                <a:solidFill>
                  <a:srgbClr val="0F172A"/>
                </a:solidFill>
                <a:latin typeface="Arial"/>
              </a:rPr>
              <a:t>TabPFGen reproduction</a:t>
            </a:r>
          </a:p>
        </p:txBody>
      </p:sp>
      <p:sp>
        <p:nvSpPr>
          <p:cNvPr id="3" name="TextBox 2"/>
          <p:cNvSpPr txBox="1"/>
          <p:nvPr/>
        </p:nvSpPr>
        <p:spPr>
          <a:xfrm>
            <a:off x="530352" y="1234440"/>
            <a:ext cx="7772400" cy="320040"/>
          </a:xfrm>
          <a:prstGeom prst="rect">
            <a:avLst/>
          </a:prstGeom>
          <a:noFill/>
        </p:spPr>
        <p:txBody>
          <a:bodyPr wrap="square">
            <a:normAutofit lnSpcReduction="10000"/>
          </a:bodyPr>
          <a:lstStyle/>
          <a:p>
            <a:r>
              <a:rPr sz="1600" b="0">
                <a:solidFill>
                  <a:srgbClr val="475569"/>
                </a:solidFill>
                <a:latin typeface="Arial"/>
              </a:rPr>
              <a:t>Current evidence, known failure modes, and next evaluation tracks</a:t>
            </a:r>
          </a:p>
        </p:txBody>
      </p:sp>
      <p:sp>
        <p:nvSpPr>
          <p:cNvPr id="4" name="Rectangle 3"/>
          <p:cNvSpPr/>
          <p:nvPr/>
        </p:nvSpPr>
        <p:spPr>
          <a:xfrm>
            <a:off x="640080" y="2057400"/>
            <a:ext cx="2423160" cy="1143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203704"/>
            <a:ext cx="2148840" cy="329184"/>
          </a:xfrm>
          <a:prstGeom prst="rect">
            <a:avLst/>
          </a:prstGeom>
          <a:noFill/>
        </p:spPr>
        <p:txBody>
          <a:bodyPr wrap="square">
            <a:normAutofit fontScale="85000" lnSpcReduction="20000"/>
          </a:bodyPr>
          <a:lstStyle/>
          <a:p>
            <a:r>
              <a:rPr sz="2200" b="1">
                <a:solidFill>
                  <a:srgbClr val="2563EB"/>
                </a:solidFill>
                <a:latin typeface="Arial"/>
              </a:rPr>
              <a:t>3,227</a:t>
            </a:r>
          </a:p>
        </p:txBody>
      </p:sp>
      <p:sp>
        <p:nvSpPr>
          <p:cNvPr id="6" name="TextBox 5"/>
          <p:cNvSpPr txBox="1"/>
          <p:nvPr/>
        </p:nvSpPr>
        <p:spPr>
          <a:xfrm>
            <a:off x="777240" y="2587752"/>
            <a:ext cx="2148840" cy="256032"/>
          </a:xfrm>
          <a:prstGeom prst="rect">
            <a:avLst/>
          </a:prstGeom>
          <a:noFill/>
        </p:spPr>
        <p:txBody>
          <a:bodyPr wrap="square">
            <a:normAutofit/>
          </a:bodyPr>
          <a:lstStyle/>
          <a:p>
            <a:r>
              <a:rPr sz="1050" b="0">
                <a:solidFill>
                  <a:srgbClr val="475569"/>
                </a:solidFill>
                <a:latin typeface="Arial"/>
              </a:rPr>
              <a:t>downstream metric files</a:t>
            </a:r>
          </a:p>
        </p:txBody>
      </p:sp>
      <p:sp>
        <p:nvSpPr>
          <p:cNvPr id="7" name="Rectangle 6"/>
          <p:cNvSpPr/>
          <p:nvPr/>
        </p:nvSpPr>
        <p:spPr>
          <a:xfrm>
            <a:off x="3337560" y="2057400"/>
            <a:ext cx="2423160" cy="1143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0" y="2203704"/>
            <a:ext cx="2148840" cy="329184"/>
          </a:xfrm>
          <a:prstGeom prst="rect">
            <a:avLst/>
          </a:prstGeom>
          <a:noFill/>
        </p:spPr>
        <p:txBody>
          <a:bodyPr wrap="square">
            <a:normAutofit fontScale="85000" lnSpcReduction="20000"/>
          </a:bodyPr>
          <a:lstStyle/>
          <a:p>
            <a:r>
              <a:rPr sz="2200" b="1">
                <a:solidFill>
                  <a:srgbClr val="DC2626"/>
                </a:solidFill>
                <a:latin typeface="Arial"/>
              </a:rPr>
              <a:t>13</a:t>
            </a:r>
          </a:p>
        </p:txBody>
      </p:sp>
      <p:sp>
        <p:nvSpPr>
          <p:cNvPr id="9" name="TextBox 8"/>
          <p:cNvSpPr txBox="1"/>
          <p:nvPr/>
        </p:nvSpPr>
        <p:spPr>
          <a:xfrm>
            <a:off x="3474720" y="2587752"/>
            <a:ext cx="2148840" cy="256032"/>
          </a:xfrm>
          <a:prstGeom prst="rect">
            <a:avLst/>
          </a:prstGeom>
          <a:noFill/>
        </p:spPr>
        <p:txBody>
          <a:bodyPr wrap="square">
            <a:normAutofit/>
          </a:bodyPr>
          <a:lstStyle/>
          <a:p>
            <a:r>
              <a:rPr sz="1050" b="0">
                <a:solidFill>
                  <a:srgbClr val="475569"/>
                </a:solidFill>
                <a:latin typeface="Arial"/>
              </a:rPr>
              <a:t>missing planned cells</a:t>
            </a:r>
          </a:p>
        </p:txBody>
      </p:sp>
      <p:sp>
        <p:nvSpPr>
          <p:cNvPr id="10" name="Rectangle 9"/>
          <p:cNvSpPr/>
          <p:nvPr/>
        </p:nvSpPr>
        <p:spPr>
          <a:xfrm>
            <a:off x="6035040" y="2057400"/>
            <a:ext cx="2423160" cy="1143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2200" y="2203704"/>
            <a:ext cx="2148840" cy="329184"/>
          </a:xfrm>
          <a:prstGeom prst="rect">
            <a:avLst/>
          </a:prstGeom>
          <a:noFill/>
        </p:spPr>
        <p:txBody>
          <a:bodyPr wrap="square">
            <a:normAutofit fontScale="85000" lnSpcReduction="20000"/>
          </a:bodyPr>
          <a:lstStyle/>
          <a:p>
            <a:r>
              <a:rPr sz="2200" b="1">
                <a:solidFill>
                  <a:srgbClr val="0EA5A6"/>
                </a:solidFill>
                <a:latin typeface="Arial"/>
              </a:rPr>
              <a:t>0.017</a:t>
            </a:r>
          </a:p>
        </p:txBody>
      </p:sp>
      <p:sp>
        <p:nvSpPr>
          <p:cNvPr id="12" name="TextBox 11"/>
          <p:cNvSpPr txBox="1"/>
          <p:nvPr/>
        </p:nvSpPr>
        <p:spPr>
          <a:xfrm>
            <a:off x="6172200" y="2587752"/>
            <a:ext cx="2148840" cy="256032"/>
          </a:xfrm>
          <a:prstGeom prst="rect">
            <a:avLst/>
          </a:prstGeom>
          <a:noFill/>
        </p:spPr>
        <p:txBody>
          <a:bodyPr wrap="square">
            <a:normAutofit/>
          </a:bodyPr>
          <a:lstStyle/>
          <a:p>
            <a:r>
              <a:rPr sz="1050" b="0">
                <a:solidFill>
                  <a:srgbClr val="475569"/>
                </a:solidFill>
                <a:latin typeface="Arial"/>
              </a:rPr>
              <a:t>TabPFGen mean gap</a:t>
            </a:r>
          </a:p>
        </p:txBody>
      </p:sp>
      <p:sp>
        <p:nvSpPr>
          <p:cNvPr id="13" name="Rectangle 12"/>
          <p:cNvSpPr/>
          <p:nvPr/>
        </p:nvSpPr>
        <p:spPr>
          <a:xfrm>
            <a:off x="8732520" y="2057400"/>
            <a:ext cx="2423160" cy="11430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69680" y="2203704"/>
            <a:ext cx="2148840" cy="329184"/>
          </a:xfrm>
          <a:prstGeom prst="rect">
            <a:avLst/>
          </a:prstGeom>
          <a:noFill/>
        </p:spPr>
        <p:txBody>
          <a:bodyPr wrap="square">
            <a:normAutofit fontScale="85000" lnSpcReduction="20000"/>
          </a:bodyPr>
          <a:lstStyle/>
          <a:p>
            <a:r>
              <a:rPr sz="2200" b="1">
                <a:solidFill>
                  <a:srgbClr val="F59E0B"/>
                </a:solidFill>
                <a:latin typeface="Arial"/>
              </a:rPr>
              <a:t>0.077</a:t>
            </a:r>
          </a:p>
        </p:txBody>
      </p:sp>
      <p:sp>
        <p:nvSpPr>
          <p:cNvPr id="15" name="TextBox 14"/>
          <p:cNvSpPr txBox="1"/>
          <p:nvPr/>
        </p:nvSpPr>
        <p:spPr>
          <a:xfrm>
            <a:off x="8869680" y="2587752"/>
            <a:ext cx="2148840" cy="256032"/>
          </a:xfrm>
          <a:prstGeom prst="rect">
            <a:avLst/>
          </a:prstGeom>
          <a:noFill/>
        </p:spPr>
        <p:txBody>
          <a:bodyPr wrap="square">
            <a:normAutofit/>
          </a:bodyPr>
          <a:lstStyle/>
          <a:p>
            <a:r>
              <a:rPr sz="1050" b="0">
                <a:solidFill>
                  <a:srgbClr val="475569"/>
                </a:solidFill>
                <a:latin typeface="Arial"/>
              </a:rPr>
              <a:t>replacement gap</a:t>
            </a:r>
          </a:p>
        </p:txBody>
      </p:sp>
      <p:sp>
        <p:nvSpPr>
          <p:cNvPr id="16" name="TextBox 15"/>
          <p:cNvSpPr txBox="1"/>
          <p:nvPr/>
        </p:nvSpPr>
        <p:spPr>
          <a:xfrm>
            <a:off x="640080" y="3794760"/>
            <a:ext cx="10424160" cy="640080"/>
          </a:xfrm>
          <a:prstGeom prst="rect">
            <a:avLst/>
          </a:prstGeom>
          <a:noFill/>
        </p:spPr>
        <p:txBody>
          <a:bodyPr wrap="square">
            <a:normAutofit/>
          </a:bodyPr>
          <a:lstStyle/>
          <a:p>
            <a:r>
              <a:rPr sz="1700" b="0">
                <a:solidFill>
                  <a:srgbClr val="0F172A"/>
                </a:solidFill>
                <a:latin typeface="Arial"/>
              </a:rPr>
              <a:t>Updated with raw-logit sampling, CTGAN repeated seeds, gradient-health logging, extra fidelity diagnostics, and privacy attacks.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Table 1 reproduction gap</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Mean absolute AUC difference against the paper, lower is closer</a:t>
            </a:r>
          </a:p>
        </p:txBody>
      </p:sp>
      <p:sp>
        <p:nvSpPr>
          <p:cNvPr id="4" name="TextBox 3"/>
          <p:cNvSpPr txBox="1"/>
          <p:nvPr/>
        </p:nvSpPr>
        <p:spPr>
          <a:xfrm>
            <a:off x="594360" y="1252728"/>
            <a:ext cx="5394960" cy="201168"/>
          </a:xfrm>
          <a:prstGeom prst="rect">
            <a:avLst/>
          </a:prstGeom>
          <a:noFill/>
        </p:spPr>
        <p:txBody>
          <a:bodyPr wrap="square">
            <a:normAutofit fontScale="77500" lnSpcReduction="20000"/>
          </a:bodyPr>
          <a:lstStyle/>
          <a:p>
            <a:r>
              <a:rPr sz="1150" b="1">
                <a:solidFill>
                  <a:srgbClr val="0F172A"/>
                </a:solidFill>
                <a:latin typeface="Arial"/>
              </a:rPr>
              <a:t>By generator</a:t>
            </a:r>
          </a:p>
        </p:txBody>
      </p:sp>
      <p:sp>
        <p:nvSpPr>
          <p:cNvPr id="5" name="TextBox 4"/>
          <p:cNvSpPr txBox="1"/>
          <p:nvPr/>
        </p:nvSpPr>
        <p:spPr>
          <a:xfrm>
            <a:off x="594360" y="1527048"/>
            <a:ext cx="1325880" cy="431074"/>
          </a:xfrm>
          <a:prstGeom prst="rect">
            <a:avLst/>
          </a:prstGeom>
          <a:noFill/>
        </p:spPr>
        <p:txBody>
          <a:bodyPr wrap="square">
            <a:normAutofit/>
          </a:bodyPr>
          <a:lstStyle/>
          <a:p>
            <a:r>
              <a:rPr sz="950" b="0">
                <a:solidFill>
                  <a:srgbClr val="475569"/>
                </a:solidFill>
                <a:latin typeface="Arial"/>
              </a:rPr>
              <a:t>smote</a:t>
            </a:r>
          </a:p>
        </p:txBody>
      </p:sp>
      <p:sp>
        <p:nvSpPr>
          <p:cNvPr id="6" name="Rectangle 5"/>
          <p:cNvSpPr/>
          <p:nvPr/>
        </p:nvSpPr>
        <p:spPr>
          <a:xfrm>
            <a:off x="2011680" y="1572768"/>
            <a:ext cx="3429000" cy="258644"/>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011680" y="1572768"/>
            <a:ext cx="181961" cy="25864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13832" y="1508760"/>
            <a:ext cx="502920" cy="431074"/>
          </a:xfrm>
          <a:prstGeom prst="rect">
            <a:avLst/>
          </a:prstGeom>
          <a:noFill/>
        </p:spPr>
        <p:txBody>
          <a:bodyPr wrap="square">
            <a:normAutofit/>
          </a:bodyPr>
          <a:lstStyle/>
          <a:p>
            <a:r>
              <a:rPr sz="919" b="0">
                <a:solidFill>
                  <a:srgbClr val="0F172A"/>
                </a:solidFill>
                <a:latin typeface="Arial"/>
              </a:rPr>
              <a:t>0.006</a:t>
            </a:r>
          </a:p>
        </p:txBody>
      </p:sp>
      <p:sp>
        <p:nvSpPr>
          <p:cNvPr id="9" name="TextBox 8"/>
          <p:cNvSpPr txBox="1"/>
          <p:nvPr/>
        </p:nvSpPr>
        <p:spPr>
          <a:xfrm>
            <a:off x="594360" y="2101813"/>
            <a:ext cx="1325880" cy="431074"/>
          </a:xfrm>
          <a:prstGeom prst="rect">
            <a:avLst/>
          </a:prstGeom>
          <a:noFill/>
        </p:spPr>
        <p:txBody>
          <a:bodyPr wrap="square">
            <a:normAutofit/>
          </a:bodyPr>
          <a:lstStyle/>
          <a:p>
            <a:r>
              <a:rPr sz="950" b="0" dirty="0" err="1">
                <a:solidFill>
                  <a:srgbClr val="475569"/>
                </a:solidFill>
                <a:latin typeface="Arial"/>
              </a:rPr>
              <a:t>tabpfgen</a:t>
            </a:r>
            <a:endParaRPr sz="950" b="0" dirty="0">
              <a:solidFill>
                <a:srgbClr val="475569"/>
              </a:solidFill>
              <a:latin typeface="Arial"/>
            </a:endParaRPr>
          </a:p>
        </p:txBody>
      </p:sp>
      <p:sp>
        <p:nvSpPr>
          <p:cNvPr id="10" name="Rectangle 9"/>
          <p:cNvSpPr/>
          <p:nvPr/>
        </p:nvSpPr>
        <p:spPr>
          <a:xfrm>
            <a:off x="2011680" y="2147533"/>
            <a:ext cx="3429000" cy="258644"/>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11680" y="2147533"/>
            <a:ext cx="472268" cy="25864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513832" y="2083525"/>
            <a:ext cx="502920" cy="431074"/>
          </a:xfrm>
          <a:prstGeom prst="rect">
            <a:avLst/>
          </a:prstGeom>
          <a:noFill/>
        </p:spPr>
        <p:txBody>
          <a:bodyPr wrap="square">
            <a:normAutofit/>
          </a:bodyPr>
          <a:lstStyle/>
          <a:p>
            <a:r>
              <a:rPr sz="919" b="0">
                <a:solidFill>
                  <a:srgbClr val="0F172A"/>
                </a:solidFill>
                <a:latin typeface="Arial"/>
              </a:rPr>
              <a:t>0.017</a:t>
            </a:r>
          </a:p>
        </p:txBody>
      </p:sp>
      <p:sp>
        <p:nvSpPr>
          <p:cNvPr id="13" name="TextBox 12"/>
          <p:cNvSpPr txBox="1"/>
          <p:nvPr/>
        </p:nvSpPr>
        <p:spPr>
          <a:xfrm>
            <a:off x="594360" y="2676579"/>
            <a:ext cx="1325880" cy="431074"/>
          </a:xfrm>
          <a:prstGeom prst="rect">
            <a:avLst/>
          </a:prstGeom>
          <a:noFill/>
        </p:spPr>
        <p:txBody>
          <a:bodyPr wrap="square">
            <a:normAutofit/>
          </a:bodyPr>
          <a:lstStyle/>
          <a:p>
            <a:r>
              <a:rPr sz="950" b="0" dirty="0" err="1">
                <a:solidFill>
                  <a:srgbClr val="475569"/>
                </a:solidFill>
                <a:latin typeface="Arial"/>
              </a:rPr>
              <a:t>nflow</a:t>
            </a:r>
            <a:endParaRPr sz="950" b="0" dirty="0">
              <a:solidFill>
                <a:srgbClr val="475569"/>
              </a:solidFill>
              <a:latin typeface="Arial"/>
            </a:endParaRPr>
          </a:p>
        </p:txBody>
      </p:sp>
      <p:sp>
        <p:nvSpPr>
          <p:cNvPr id="14" name="Rectangle 13"/>
          <p:cNvSpPr/>
          <p:nvPr/>
        </p:nvSpPr>
        <p:spPr>
          <a:xfrm>
            <a:off x="2011680" y="2722299"/>
            <a:ext cx="3429000" cy="258644"/>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11680" y="2722299"/>
            <a:ext cx="630658" cy="25864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513832" y="2658291"/>
            <a:ext cx="502920" cy="431074"/>
          </a:xfrm>
          <a:prstGeom prst="rect">
            <a:avLst/>
          </a:prstGeom>
          <a:noFill/>
        </p:spPr>
        <p:txBody>
          <a:bodyPr wrap="square">
            <a:normAutofit/>
          </a:bodyPr>
          <a:lstStyle/>
          <a:p>
            <a:r>
              <a:rPr sz="919" b="0">
                <a:solidFill>
                  <a:srgbClr val="0F172A"/>
                </a:solidFill>
                <a:latin typeface="Arial"/>
              </a:rPr>
              <a:t>0.022</a:t>
            </a:r>
          </a:p>
        </p:txBody>
      </p:sp>
      <p:sp>
        <p:nvSpPr>
          <p:cNvPr id="17" name="TextBox 16"/>
          <p:cNvSpPr txBox="1"/>
          <p:nvPr/>
        </p:nvSpPr>
        <p:spPr>
          <a:xfrm>
            <a:off x="594360" y="3251345"/>
            <a:ext cx="1325880" cy="431074"/>
          </a:xfrm>
          <a:prstGeom prst="rect">
            <a:avLst/>
          </a:prstGeom>
          <a:noFill/>
        </p:spPr>
        <p:txBody>
          <a:bodyPr wrap="square">
            <a:normAutofit/>
          </a:bodyPr>
          <a:lstStyle/>
          <a:p>
            <a:r>
              <a:rPr sz="950" b="0">
                <a:solidFill>
                  <a:srgbClr val="475569"/>
                </a:solidFill>
                <a:latin typeface="Arial"/>
              </a:rPr>
              <a:t>tvae</a:t>
            </a:r>
          </a:p>
        </p:txBody>
      </p:sp>
      <p:sp>
        <p:nvSpPr>
          <p:cNvPr id="18" name="Rectangle 17"/>
          <p:cNvSpPr/>
          <p:nvPr/>
        </p:nvSpPr>
        <p:spPr>
          <a:xfrm>
            <a:off x="2011680" y="3297065"/>
            <a:ext cx="3429000" cy="258644"/>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011680" y="3297065"/>
            <a:ext cx="678076" cy="25864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13832" y="3233057"/>
            <a:ext cx="502920" cy="431074"/>
          </a:xfrm>
          <a:prstGeom prst="rect">
            <a:avLst/>
          </a:prstGeom>
          <a:noFill/>
        </p:spPr>
        <p:txBody>
          <a:bodyPr wrap="square">
            <a:normAutofit/>
          </a:bodyPr>
          <a:lstStyle/>
          <a:p>
            <a:r>
              <a:rPr sz="919" b="0">
                <a:solidFill>
                  <a:srgbClr val="0F172A"/>
                </a:solidFill>
                <a:latin typeface="Arial"/>
              </a:rPr>
              <a:t>0.024</a:t>
            </a:r>
          </a:p>
        </p:txBody>
      </p:sp>
      <p:sp>
        <p:nvSpPr>
          <p:cNvPr id="21" name="TextBox 20"/>
          <p:cNvSpPr txBox="1"/>
          <p:nvPr/>
        </p:nvSpPr>
        <p:spPr>
          <a:xfrm>
            <a:off x="594360" y="3826110"/>
            <a:ext cx="1325880" cy="431074"/>
          </a:xfrm>
          <a:prstGeom prst="rect">
            <a:avLst/>
          </a:prstGeom>
          <a:noFill/>
        </p:spPr>
        <p:txBody>
          <a:bodyPr wrap="square">
            <a:normAutofit/>
          </a:bodyPr>
          <a:lstStyle/>
          <a:p>
            <a:r>
              <a:rPr sz="950" b="0">
                <a:solidFill>
                  <a:srgbClr val="475569"/>
                </a:solidFill>
                <a:latin typeface="Arial"/>
              </a:rPr>
              <a:t>rtvae</a:t>
            </a:r>
          </a:p>
        </p:txBody>
      </p:sp>
      <p:sp>
        <p:nvSpPr>
          <p:cNvPr id="22" name="Rectangle 21"/>
          <p:cNvSpPr/>
          <p:nvPr/>
        </p:nvSpPr>
        <p:spPr>
          <a:xfrm>
            <a:off x="2011680" y="3871830"/>
            <a:ext cx="3429000" cy="258644"/>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011680" y="3871830"/>
            <a:ext cx="986468" cy="25864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13832" y="3807822"/>
            <a:ext cx="502920" cy="431074"/>
          </a:xfrm>
          <a:prstGeom prst="rect">
            <a:avLst/>
          </a:prstGeom>
          <a:noFill/>
        </p:spPr>
        <p:txBody>
          <a:bodyPr wrap="square">
            <a:normAutofit/>
          </a:bodyPr>
          <a:lstStyle/>
          <a:p>
            <a:r>
              <a:rPr sz="919" b="0">
                <a:solidFill>
                  <a:srgbClr val="0F172A"/>
                </a:solidFill>
                <a:latin typeface="Arial"/>
              </a:rPr>
              <a:t>0.035</a:t>
            </a:r>
          </a:p>
        </p:txBody>
      </p:sp>
      <p:sp>
        <p:nvSpPr>
          <p:cNvPr id="25" name="TextBox 24"/>
          <p:cNvSpPr txBox="1"/>
          <p:nvPr/>
        </p:nvSpPr>
        <p:spPr>
          <a:xfrm>
            <a:off x="594360" y="4400876"/>
            <a:ext cx="1325880" cy="431074"/>
          </a:xfrm>
          <a:prstGeom prst="rect">
            <a:avLst/>
          </a:prstGeom>
          <a:noFill/>
        </p:spPr>
        <p:txBody>
          <a:bodyPr wrap="square">
            <a:normAutofit/>
          </a:bodyPr>
          <a:lstStyle/>
          <a:p>
            <a:r>
              <a:rPr sz="950" b="0">
                <a:solidFill>
                  <a:srgbClr val="475569"/>
                </a:solidFill>
                <a:latin typeface="Arial"/>
              </a:rPr>
              <a:t>tabddpm</a:t>
            </a:r>
          </a:p>
        </p:txBody>
      </p:sp>
      <p:sp>
        <p:nvSpPr>
          <p:cNvPr id="26" name="Rectangle 25"/>
          <p:cNvSpPr/>
          <p:nvPr/>
        </p:nvSpPr>
        <p:spPr>
          <a:xfrm>
            <a:off x="2011680" y="4446596"/>
            <a:ext cx="3429000" cy="258644"/>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011680" y="4446596"/>
            <a:ext cx="1907773" cy="25864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513832" y="4382588"/>
            <a:ext cx="502920" cy="431074"/>
          </a:xfrm>
          <a:prstGeom prst="rect">
            <a:avLst/>
          </a:prstGeom>
          <a:noFill/>
        </p:spPr>
        <p:txBody>
          <a:bodyPr wrap="square">
            <a:normAutofit/>
          </a:bodyPr>
          <a:lstStyle/>
          <a:p>
            <a:r>
              <a:rPr sz="919" b="0">
                <a:solidFill>
                  <a:srgbClr val="0F172A"/>
                </a:solidFill>
                <a:latin typeface="Arial"/>
              </a:rPr>
              <a:t>0.067</a:t>
            </a:r>
          </a:p>
        </p:txBody>
      </p:sp>
      <p:sp>
        <p:nvSpPr>
          <p:cNvPr id="29" name="TextBox 28"/>
          <p:cNvSpPr txBox="1"/>
          <p:nvPr/>
        </p:nvSpPr>
        <p:spPr>
          <a:xfrm>
            <a:off x="594360" y="4975642"/>
            <a:ext cx="1325880" cy="431074"/>
          </a:xfrm>
          <a:prstGeom prst="rect">
            <a:avLst/>
          </a:prstGeom>
          <a:noFill/>
        </p:spPr>
        <p:txBody>
          <a:bodyPr wrap="square">
            <a:normAutofit/>
          </a:bodyPr>
          <a:lstStyle/>
          <a:p>
            <a:r>
              <a:rPr sz="950" b="0" dirty="0" err="1">
                <a:solidFill>
                  <a:srgbClr val="475569"/>
                </a:solidFill>
                <a:latin typeface="Arial"/>
              </a:rPr>
              <a:t>ctgan</a:t>
            </a:r>
            <a:endParaRPr sz="950" b="0" dirty="0">
              <a:solidFill>
                <a:srgbClr val="475569"/>
              </a:solidFill>
              <a:latin typeface="Arial"/>
            </a:endParaRPr>
          </a:p>
        </p:txBody>
      </p:sp>
      <p:sp>
        <p:nvSpPr>
          <p:cNvPr id="30" name="Rectangle 29"/>
          <p:cNvSpPr/>
          <p:nvPr/>
        </p:nvSpPr>
        <p:spPr>
          <a:xfrm>
            <a:off x="2011680" y="5021362"/>
            <a:ext cx="3429000" cy="258644"/>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011680" y="5021362"/>
            <a:ext cx="3429000" cy="25864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513832" y="4957354"/>
            <a:ext cx="502920" cy="431074"/>
          </a:xfrm>
          <a:prstGeom prst="rect">
            <a:avLst/>
          </a:prstGeom>
          <a:noFill/>
        </p:spPr>
        <p:txBody>
          <a:bodyPr wrap="square">
            <a:normAutofit/>
          </a:bodyPr>
          <a:lstStyle/>
          <a:p>
            <a:r>
              <a:rPr sz="919" b="0">
                <a:solidFill>
                  <a:srgbClr val="0F172A"/>
                </a:solidFill>
                <a:latin typeface="Arial"/>
              </a:rPr>
              <a:t>0.121</a:t>
            </a:r>
          </a:p>
        </p:txBody>
      </p:sp>
      <p:sp>
        <p:nvSpPr>
          <p:cNvPr id="33" name="TextBox 32"/>
          <p:cNvSpPr txBox="1"/>
          <p:nvPr/>
        </p:nvSpPr>
        <p:spPr>
          <a:xfrm>
            <a:off x="6492240" y="1435608"/>
            <a:ext cx="4389120" cy="201168"/>
          </a:xfrm>
          <a:prstGeom prst="rect">
            <a:avLst/>
          </a:prstGeom>
          <a:noFill/>
        </p:spPr>
        <p:txBody>
          <a:bodyPr wrap="square">
            <a:normAutofit fontScale="77500" lnSpcReduction="20000"/>
          </a:bodyPr>
          <a:lstStyle/>
          <a:p>
            <a:r>
              <a:rPr sz="1150" b="1">
                <a:solidFill>
                  <a:srgbClr val="0F172A"/>
                </a:solidFill>
                <a:latin typeface="Arial"/>
              </a:rPr>
              <a:t>By training mode</a:t>
            </a:r>
          </a:p>
        </p:txBody>
      </p:sp>
      <p:sp>
        <p:nvSpPr>
          <p:cNvPr id="34" name="TextBox 33"/>
          <p:cNvSpPr txBox="1"/>
          <p:nvPr/>
        </p:nvSpPr>
        <p:spPr>
          <a:xfrm>
            <a:off x="6492240" y="1709928"/>
            <a:ext cx="1325880" cy="480059"/>
          </a:xfrm>
          <a:prstGeom prst="rect">
            <a:avLst/>
          </a:prstGeom>
          <a:noFill/>
        </p:spPr>
        <p:txBody>
          <a:bodyPr wrap="square">
            <a:normAutofit/>
          </a:bodyPr>
          <a:lstStyle/>
          <a:p>
            <a:r>
              <a:rPr sz="950" b="0">
                <a:solidFill>
                  <a:srgbClr val="475569"/>
                </a:solidFill>
                <a:latin typeface="Arial"/>
              </a:rPr>
              <a:t>augmentation</a:t>
            </a:r>
          </a:p>
        </p:txBody>
      </p:sp>
      <p:sp>
        <p:nvSpPr>
          <p:cNvPr id="35" name="Rectangle 34"/>
          <p:cNvSpPr/>
          <p:nvPr/>
        </p:nvSpPr>
        <p:spPr>
          <a:xfrm>
            <a:off x="7909560" y="1755648"/>
            <a:ext cx="2423160" cy="288036"/>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909560" y="1755648"/>
            <a:ext cx="206968" cy="28803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405872" y="1691640"/>
            <a:ext cx="502920" cy="480059"/>
          </a:xfrm>
          <a:prstGeom prst="rect">
            <a:avLst/>
          </a:prstGeom>
          <a:noFill/>
        </p:spPr>
        <p:txBody>
          <a:bodyPr wrap="square">
            <a:normAutofit/>
          </a:bodyPr>
          <a:lstStyle/>
          <a:p>
            <a:r>
              <a:rPr sz="919" b="0">
                <a:solidFill>
                  <a:srgbClr val="0F172A"/>
                </a:solidFill>
                <a:latin typeface="Arial"/>
              </a:rPr>
              <a:t>0.007</a:t>
            </a:r>
          </a:p>
        </p:txBody>
      </p:sp>
      <p:sp>
        <p:nvSpPr>
          <p:cNvPr id="38" name="TextBox 37"/>
          <p:cNvSpPr txBox="1"/>
          <p:nvPr/>
        </p:nvSpPr>
        <p:spPr>
          <a:xfrm>
            <a:off x="6492240" y="2350008"/>
            <a:ext cx="1325880" cy="480059"/>
          </a:xfrm>
          <a:prstGeom prst="rect">
            <a:avLst/>
          </a:prstGeom>
          <a:noFill/>
        </p:spPr>
        <p:txBody>
          <a:bodyPr wrap="square">
            <a:normAutofit/>
          </a:bodyPr>
          <a:lstStyle/>
          <a:p>
            <a:r>
              <a:rPr sz="950" b="0">
                <a:solidFill>
                  <a:srgbClr val="475569"/>
                </a:solidFill>
                <a:latin typeface="Arial"/>
              </a:rPr>
              <a:t>replacement</a:t>
            </a:r>
          </a:p>
        </p:txBody>
      </p:sp>
      <p:sp>
        <p:nvSpPr>
          <p:cNvPr id="39" name="Rectangle 38"/>
          <p:cNvSpPr/>
          <p:nvPr/>
        </p:nvSpPr>
        <p:spPr>
          <a:xfrm>
            <a:off x="7909560" y="2395727"/>
            <a:ext cx="2423160" cy="288036"/>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909560" y="2395727"/>
            <a:ext cx="2423160" cy="28803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405872" y="2331720"/>
            <a:ext cx="502920" cy="480059"/>
          </a:xfrm>
          <a:prstGeom prst="rect">
            <a:avLst/>
          </a:prstGeom>
          <a:noFill/>
        </p:spPr>
        <p:txBody>
          <a:bodyPr wrap="square">
            <a:normAutofit/>
          </a:bodyPr>
          <a:lstStyle/>
          <a:p>
            <a:r>
              <a:rPr sz="919" b="0">
                <a:solidFill>
                  <a:srgbClr val="0F172A"/>
                </a:solidFill>
                <a:latin typeface="Arial"/>
              </a:rPr>
              <a:t>0.077</a:t>
            </a:r>
          </a:p>
        </p:txBody>
      </p:sp>
      <p:sp>
        <p:nvSpPr>
          <p:cNvPr id="42" name="TextBox 41"/>
          <p:cNvSpPr txBox="1"/>
          <p:nvPr/>
        </p:nvSpPr>
        <p:spPr>
          <a:xfrm>
            <a:off x="6492240" y="3520440"/>
            <a:ext cx="4572000" cy="914400"/>
          </a:xfrm>
          <a:prstGeom prst="rect">
            <a:avLst/>
          </a:prstGeom>
          <a:noFill/>
        </p:spPr>
        <p:txBody>
          <a:bodyPr wrap="square">
            <a:normAutofit lnSpcReduction="10000"/>
          </a:bodyPr>
          <a:lstStyle/>
          <a:p>
            <a:r>
              <a:rPr sz="1500" b="0">
                <a:solidFill>
                  <a:srgbClr val="0F172A"/>
                </a:solidFill>
                <a:latin typeface="Arial"/>
              </a:rPr>
              <a:t>Closest: SMOTE and TabPFGen. Largest mismatch: CTGAN, mainly because replacement-mode performance is unstable and often much lower than the paper.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Main table comparison: augmentation</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Average AUC in the paper versus the current reproduced summary</a:t>
            </a:r>
          </a:p>
        </p:txBody>
      </p:sp>
      <p:sp>
        <p:nvSpPr>
          <p:cNvPr id="4" name="TextBox 3"/>
          <p:cNvSpPr txBox="1"/>
          <p:nvPr/>
        </p:nvSpPr>
        <p:spPr>
          <a:xfrm>
            <a:off x="502920" y="932688"/>
            <a:ext cx="5349240" cy="228600"/>
          </a:xfrm>
          <a:prstGeom prst="rect">
            <a:avLst/>
          </a:prstGeom>
          <a:noFill/>
        </p:spPr>
        <p:txBody>
          <a:bodyPr wrap="square">
            <a:normAutofit fontScale="92500" lnSpcReduction="20000"/>
          </a:bodyPr>
          <a:lstStyle/>
          <a:p>
            <a:r>
              <a:rPr sz="1220" b="1">
                <a:solidFill>
                  <a:srgbClr val="0F172A"/>
                </a:solidFill>
                <a:latin typeface="Arial"/>
              </a:rPr>
              <a:t>Paper</a:t>
            </a:r>
          </a:p>
        </p:txBody>
      </p:sp>
      <p:graphicFrame>
        <p:nvGraphicFramePr>
          <p:cNvPr id="5" name="Table 4"/>
          <p:cNvGraphicFramePr>
            <a:graphicFrameLocks noGrp="1"/>
          </p:cNvGraphicFramePr>
          <p:nvPr/>
        </p:nvGraphicFramePr>
        <p:xfrm>
          <a:off x="502920" y="1234440"/>
          <a:ext cx="5349240" cy="1783080"/>
        </p:xfrm>
        <a:graphic>
          <a:graphicData uri="http://schemas.openxmlformats.org/drawingml/2006/table">
            <a:tbl>
              <a:tblPr firstRow="1" bandRow="1">
                <a:tableStyleId>{5C22544A-7EE6-4342-B048-85BDC9FD1C3A}</a:tableStyleId>
              </a:tblPr>
              <a:tblGrid>
                <a:gridCol w="59436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gridCol w="594360">
                  <a:extLst>
                    <a:ext uri="{9D8B030D-6E8A-4147-A177-3AD203B41FA5}">
                      <a16:colId xmlns:a16="http://schemas.microsoft.com/office/drawing/2014/main" val="20008"/>
                    </a:ext>
                  </a:extLst>
                </a:gridCol>
              </a:tblGrid>
              <a:tr h="356616">
                <a:tc>
                  <a:txBody>
                    <a:bodyPr/>
                    <a:lstStyle/>
                    <a:p>
                      <a:r>
                        <a:rPr sz="720" b="1">
                          <a:solidFill>
                            <a:srgbClr val="FFFFFF"/>
                          </a:solidFill>
                          <a:latin typeface="Arial"/>
                        </a:rPr>
                        <a:t>Model</a:t>
                      </a:r>
                    </a:p>
                  </a:txBody>
                  <a:tcPr>
                    <a:solidFill>
                      <a:srgbClr val="0F172A"/>
                    </a:solidFill>
                  </a:tcPr>
                </a:tc>
                <a:tc>
                  <a:txBody>
                    <a:bodyPr/>
                    <a:lstStyle/>
                    <a:p>
                      <a:r>
                        <a:rPr sz="720" b="1">
                          <a:solidFill>
                            <a:srgbClr val="FFFFFF"/>
                          </a:solidFill>
                          <a:latin typeface="Arial"/>
                        </a:rPr>
                        <a:t>Original</a:t>
                      </a:r>
                    </a:p>
                  </a:txBody>
                  <a:tcPr>
                    <a:solidFill>
                      <a:srgbClr val="0F172A"/>
                    </a:solidFill>
                  </a:tcPr>
                </a:tc>
                <a:tc>
                  <a:txBody>
                    <a:bodyPr/>
                    <a:lstStyle/>
                    <a:p>
                      <a:r>
                        <a:rPr sz="720" b="1">
                          <a:solidFill>
                            <a:srgbClr val="FFFFFF"/>
                          </a:solidFill>
                          <a:latin typeface="Arial"/>
                        </a:rPr>
                        <a:t>SMOTE</a:t>
                      </a:r>
                    </a:p>
                  </a:txBody>
                  <a:tcPr>
                    <a:solidFill>
                      <a:srgbClr val="0F172A"/>
                    </a:solidFill>
                  </a:tcPr>
                </a:tc>
                <a:tc>
                  <a:txBody>
                    <a:bodyPr/>
                    <a:lstStyle/>
                    <a:p>
                      <a:r>
                        <a:rPr sz="720" b="1">
                          <a:solidFill>
                            <a:srgbClr val="FFFFFF"/>
                          </a:solidFill>
                          <a:latin typeface="Arial"/>
                        </a:rPr>
                        <a:t>CTGAN</a:t>
                      </a:r>
                    </a:p>
                  </a:txBody>
                  <a:tcPr>
                    <a:solidFill>
                      <a:srgbClr val="0F172A"/>
                    </a:solidFill>
                  </a:tcPr>
                </a:tc>
                <a:tc>
                  <a:txBody>
                    <a:bodyPr/>
                    <a:lstStyle/>
                    <a:p>
                      <a:r>
                        <a:rPr sz="720" b="1">
                          <a:solidFill>
                            <a:srgbClr val="FFFFFF"/>
                          </a:solidFill>
                          <a:latin typeface="Arial"/>
                        </a:rPr>
                        <a:t>TVAE</a:t>
                      </a:r>
                    </a:p>
                  </a:txBody>
                  <a:tcPr>
                    <a:solidFill>
                      <a:srgbClr val="0F172A"/>
                    </a:solidFill>
                  </a:tcPr>
                </a:tc>
                <a:tc>
                  <a:txBody>
                    <a:bodyPr/>
                    <a:lstStyle/>
                    <a:p>
                      <a:r>
                        <a:rPr sz="720" b="1">
                          <a:solidFill>
                            <a:srgbClr val="FFFFFF"/>
                          </a:solidFill>
                          <a:latin typeface="Arial"/>
                        </a:rPr>
                        <a:t>NF</a:t>
                      </a:r>
                    </a:p>
                  </a:txBody>
                  <a:tcPr>
                    <a:solidFill>
                      <a:srgbClr val="0F172A"/>
                    </a:solidFill>
                  </a:tcPr>
                </a:tc>
                <a:tc>
                  <a:txBody>
                    <a:bodyPr/>
                    <a:lstStyle/>
                    <a:p>
                      <a:r>
                        <a:rPr sz="720" b="1">
                          <a:solidFill>
                            <a:srgbClr val="FFFFFF"/>
                          </a:solidFill>
                          <a:latin typeface="Arial"/>
                        </a:rPr>
                        <a:t>RTVAE</a:t>
                      </a:r>
                    </a:p>
                  </a:txBody>
                  <a:tcPr>
                    <a:solidFill>
                      <a:srgbClr val="0F172A"/>
                    </a:solidFill>
                  </a:tcPr>
                </a:tc>
                <a:tc>
                  <a:txBody>
                    <a:bodyPr/>
                    <a:lstStyle/>
                    <a:p>
                      <a:r>
                        <a:rPr sz="720" b="1">
                          <a:solidFill>
                            <a:srgbClr val="FFFFFF"/>
                          </a:solidFill>
                          <a:latin typeface="Arial"/>
                        </a:rPr>
                        <a:t>TabDDPM</a:t>
                      </a:r>
                    </a:p>
                  </a:txBody>
                  <a:tcPr>
                    <a:solidFill>
                      <a:srgbClr val="0F172A"/>
                    </a:solidFill>
                  </a:tcPr>
                </a:tc>
                <a:tc>
                  <a:txBody>
                    <a:bodyPr/>
                    <a:lstStyle/>
                    <a:p>
                      <a:r>
                        <a:rPr sz="720" b="1">
                          <a:solidFill>
                            <a:srgbClr val="FFFFFF"/>
                          </a:solidFill>
                          <a:latin typeface="Arial"/>
                        </a:rPr>
                        <a:t>TabPFGen</a:t>
                      </a:r>
                    </a:p>
                  </a:txBody>
                  <a:tcPr>
                    <a:solidFill>
                      <a:srgbClr val="0F172A"/>
                    </a:solidFill>
                  </a:tcPr>
                </a:tc>
                <a:extLst>
                  <a:ext uri="{0D108BD9-81ED-4DB2-BD59-A6C34878D82A}">
                    <a16:rowId xmlns:a16="http://schemas.microsoft.com/office/drawing/2014/main" val="10000"/>
                  </a:ext>
                </a:extLst>
              </a:tr>
              <a:tr h="356616">
                <a:tc>
                  <a:txBody>
                    <a:bodyPr/>
                    <a:lstStyle/>
                    <a:p>
                      <a:r>
                        <a:rPr sz="720">
                          <a:solidFill>
                            <a:srgbClr val="0F172A"/>
                          </a:solidFill>
                          <a:latin typeface="Arial"/>
                        </a:rPr>
                        <a:t>XGB</a:t>
                      </a:r>
                    </a:p>
                  </a:txBody>
                  <a:tcPr/>
                </a:tc>
                <a:tc>
                  <a:txBody>
                    <a:bodyPr/>
                    <a:lstStyle/>
                    <a:p>
                      <a:r>
                        <a:rPr sz="720">
                          <a:solidFill>
                            <a:srgbClr val="0F172A"/>
                          </a:solidFill>
                          <a:latin typeface="Arial"/>
                        </a:rPr>
                        <a:t>0.924</a:t>
                      </a:r>
                    </a:p>
                  </a:txBody>
                  <a:tcPr/>
                </a:tc>
                <a:tc>
                  <a:txBody>
                    <a:bodyPr/>
                    <a:lstStyle/>
                    <a:p>
                      <a:r>
                        <a:rPr sz="720">
                          <a:solidFill>
                            <a:srgbClr val="0F172A"/>
                          </a:solidFill>
                          <a:latin typeface="Arial"/>
                        </a:rPr>
                        <a:t>0.926</a:t>
                      </a:r>
                    </a:p>
                  </a:txBody>
                  <a:tcPr/>
                </a:tc>
                <a:tc>
                  <a:txBody>
                    <a:bodyPr/>
                    <a:lstStyle/>
                    <a:p>
                      <a:r>
                        <a:rPr sz="720">
                          <a:solidFill>
                            <a:srgbClr val="0F172A"/>
                          </a:solidFill>
                          <a:latin typeface="Arial"/>
                        </a:rPr>
                        <a:t>0.912</a:t>
                      </a:r>
                    </a:p>
                  </a:txBody>
                  <a:tcPr/>
                </a:tc>
                <a:tc>
                  <a:txBody>
                    <a:bodyPr/>
                    <a:lstStyle/>
                    <a:p>
                      <a:r>
                        <a:rPr sz="720">
                          <a:solidFill>
                            <a:srgbClr val="0F172A"/>
                          </a:solidFill>
                          <a:latin typeface="Arial"/>
                        </a:rPr>
                        <a:t>0.914</a:t>
                      </a:r>
                    </a:p>
                  </a:txBody>
                  <a:tcPr/>
                </a:tc>
                <a:tc>
                  <a:txBody>
                    <a:bodyPr/>
                    <a:lstStyle/>
                    <a:p>
                      <a:r>
                        <a:rPr sz="720">
                          <a:solidFill>
                            <a:srgbClr val="0F172A"/>
                          </a:solidFill>
                          <a:latin typeface="Arial"/>
                        </a:rPr>
                        <a:t>0.912</a:t>
                      </a:r>
                    </a:p>
                  </a:txBody>
                  <a:tcPr/>
                </a:tc>
                <a:tc>
                  <a:txBody>
                    <a:bodyPr/>
                    <a:lstStyle/>
                    <a:p>
                      <a:r>
                        <a:rPr sz="720">
                          <a:solidFill>
                            <a:srgbClr val="0F172A"/>
                          </a:solidFill>
                          <a:latin typeface="Arial"/>
                        </a:rPr>
                        <a:t>0.917</a:t>
                      </a:r>
                    </a:p>
                  </a:txBody>
                  <a:tcPr/>
                </a:tc>
                <a:tc>
                  <a:txBody>
                    <a:bodyPr/>
                    <a:lstStyle/>
                    <a:p>
                      <a:r>
                        <a:rPr sz="720">
                          <a:solidFill>
                            <a:srgbClr val="0F172A"/>
                          </a:solidFill>
                          <a:latin typeface="Arial"/>
                        </a:rPr>
                        <a:t>0.927</a:t>
                      </a:r>
                    </a:p>
                  </a:txBody>
                  <a:tcPr/>
                </a:tc>
                <a:tc>
                  <a:txBody>
                    <a:bodyPr/>
                    <a:lstStyle/>
                    <a:p>
                      <a:r>
                        <a:rPr sz="720">
                          <a:solidFill>
                            <a:srgbClr val="0F172A"/>
                          </a:solidFill>
                          <a:latin typeface="Arial"/>
                        </a:rPr>
                        <a:t>0.934</a:t>
                      </a:r>
                    </a:p>
                  </a:txBody>
                  <a:tcPr/>
                </a:tc>
                <a:extLst>
                  <a:ext uri="{0D108BD9-81ED-4DB2-BD59-A6C34878D82A}">
                    <a16:rowId xmlns:a16="http://schemas.microsoft.com/office/drawing/2014/main" val="10001"/>
                  </a:ext>
                </a:extLst>
              </a:tr>
              <a:tr h="356616">
                <a:tc>
                  <a:txBody>
                    <a:bodyPr/>
                    <a:lstStyle/>
                    <a:p>
                      <a:r>
                        <a:rPr sz="720">
                          <a:solidFill>
                            <a:srgbClr val="0F172A"/>
                          </a:solidFill>
                          <a:latin typeface="Arial"/>
                        </a:rPr>
                        <a:t>RF</a:t>
                      </a:r>
                    </a:p>
                  </a:txBody>
                  <a:tcPr>
                    <a:solidFill>
                      <a:srgbClr val="F8FAFC"/>
                    </a:solidFill>
                  </a:tcPr>
                </a:tc>
                <a:tc>
                  <a:txBody>
                    <a:bodyPr/>
                    <a:lstStyle/>
                    <a:p>
                      <a:r>
                        <a:rPr sz="720">
                          <a:solidFill>
                            <a:srgbClr val="0F172A"/>
                          </a:solidFill>
                          <a:latin typeface="Arial"/>
                        </a:rPr>
                        <a:t>0.906</a:t>
                      </a:r>
                    </a:p>
                  </a:txBody>
                  <a:tcPr>
                    <a:solidFill>
                      <a:srgbClr val="F8FAFC"/>
                    </a:solidFill>
                  </a:tcPr>
                </a:tc>
                <a:tc>
                  <a:txBody>
                    <a:bodyPr/>
                    <a:lstStyle/>
                    <a:p>
                      <a:r>
                        <a:rPr sz="720">
                          <a:solidFill>
                            <a:srgbClr val="0F172A"/>
                          </a:solidFill>
                          <a:latin typeface="Arial"/>
                        </a:rPr>
                        <a:t>0.906</a:t>
                      </a:r>
                    </a:p>
                  </a:txBody>
                  <a:tcPr>
                    <a:solidFill>
                      <a:srgbClr val="F8FAFC"/>
                    </a:solidFill>
                  </a:tcPr>
                </a:tc>
                <a:tc>
                  <a:txBody>
                    <a:bodyPr/>
                    <a:lstStyle/>
                    <a:p>
                      <a:r>
                        <a:rPr sz="720">
                          <a:solidFill>
                            <a:srgbClr val="0F172A"/>
                          </a:solidFill>
                          <a:latin typeface="Arial"/>
                        </a:rPr>
                        <a:t>0.898</a:t>
                      </a:r>
                    </a:p>
                  </a:txBody>
                  <a:tcPr>
                    <a:solidFill>
                      <a:srgbClr val="F8FAFC"/>
                    </a:solidFill>
                  </a:tcPr>
                </a:tc>
                <a:tc>
                  <a:txBody>
                    <a:bodyPr/>
                    <a:lstStyle/>
                    <a:p>
                      <a:r>
                        <a:rPr sz="720">
                          <a:solidFill>
                            <a:srgbClr val="0F172A"/>
                          </a:solidFill>
                          <a:latin typeface="Arial"/>
                        </a:rPr>
                        <a:t>0.904</a:t>
                      </a:r>
                    </a:p>
                  </a:txBody>
                  <a:tcPr>
                    <a:solidFill>
                      <a:srgbClr val="F8FAFC"/>
                    </a:solidFill>
                  </a:tcPr>
                </a:tc>
                <a:tc>
                  <a:txBody>
                    <a:bodyPr/>
                    <a:lstStyle/>
                    <a:p>
                      <a:r>
                        <a:rPr sz="720">
                          <a:solidFill>
                            <a:srgbClr val="0F172A"/>
                          </a:solidFill>
                          <a:latin typeface="Arial"/>
                        </a:rPr>
                        <a:t>0.894</a:t>
                      </a:r>
                    </a:p>
                  </a:txBody>
                  <a:tcPr>
                    <a:solidFill>
                      <a:srgbClr val="F8FAFC"/>
                    </a:solidFill>
                  </a:tcPr>
                </a:tc>
                <a:tc>
                  <a:txBody>
                    <a:bodyPr/>
                    <a:lstStyle/>
                    <a:p>
                      <a:r>
                        <a:rPr sz="720">
                          <a:solidFill>
                            <a:srgbClr val="0F172A"/>
                          </a:solidFill>
                          <a:latin typeface="Arial"/>
                        </a:rPr>
                        <a:t>0.907</a:t>
                      </a:r>
                    </a:p>
                  </a:txBody>
                  <a:tcPr>
                    <a:solidFill>
                      <a:srgbClr val="F8FAFC"/>
                    </a:solidFill>
                  </a:tcPr>
                </a:tc>
                <a:tc>
                  <a:txBody>
                    <a:bodyPr/>
                    <a:lstStyle/>
                    <a:p>
                      <a:r>
                        <a:rPr sz="720">
                          <a:solidFill>
                            <a:srgbClr val="0F172A"/>
                          </a:solidFill>
                          <a:latin typeface="Arial"/>
                        </a:rPr>
                        <a:t>0.911</a:t>
                      </a:r>
                    </a:p>
                  </a:txBody>
                  <a:tcPr>
                    <a:solidFill>
                      <a:srgbClr val="F8FAFC"/>
                    </a:solidFill>
                  </a:tcPr>
                </a:tc>
                <a:tc>
                  <a:txBody>
                    <a:bodyPr/>
                    <a:lstStyle/>
                    <a:p>
                      <a:r>
                        <a:rPr sz="720">
                          <a:solidFill>
                            <a:srgbClr val="0F172A"/>
                          </a:solidFill>
                          <a:latin typeface="Arial"/>
                        </a:rPr>
                        <a:t>0.912</a:t>
                      </a:r>
                    </a:p>
                  </a:txBody>
                  <a:tcPr>
                    <a:solidFill>
                      <a:srgbClr val="F8FAFC"/>
                    </a:solidFill>
                  </a:tcPr>
                </a:tc>
                <a:extLst>
                  <a:ext uri="{0D108BD9-81ED-4DB2-BD59-A6C34878D82A}">
                    <a16:rowId xmlns:a16="http://schemas.microsoft.com/office/drawing/2014/main" val="10002"/>
                  </a:ext>
                </a:extLst>
              </a:tr>
              <a:tr h="356616">
                <a:tc>
                  <a:txBody>
                    <a:bodyPr/>
                    <a:lstStyle/>
                    <a:p>
                      <a:r>
                        <a:rPr sz="720">
                          <a:solidFill>
                            <a:srgbClr val="0F172A"/>
                          </a:solidFill>
                          <a:latin typeface="Arial"/>
                        </a:rPr>
                        <a:t>LR</a:t>
                      </a:r>
                    </a:p>
                  </a:txBody>
                  <a:tcPr/>
                </a:tc>
                <a:tc>
                  <a:txBody>
                    <a:bodyPr/>
                    <a:lstStyle/>
                    <a:p>
                      <a:r>
                        <a:rPr sz="720">
                          <a:solidFill>
                            <a:srgbClr val="0F172A"/>
                          </a:solidFill>
                          <a:latin typeface="Arial"/>
                        </a:rPr>
                        <a:t>0.920</a:t>
                      </a:r>
                    </a:p>
                  </a:txBody>
                  <a:tcPr/>
                </a:tc>
                <a:tc>
                  <a:txBody>
                    <a:bodyPr/>
                    <a:lstStyle/>
                    <a:p>
                      <a:r>
                        <a:rPr sz="720">
                          <a:solidFill>
                            <a:srgbClr val="0F172A"/>
                          </a:solidFill>
                          <a:latin typeface="Arial"/>
                        </a:rPr>
                        <a:t>0.914</a:t>
                      </a:r>
                    </a:p>
                  </a:txBody>
                  <a:tcPr/>
                </a:tc>
                <a:tc>
                  <a:txBody>
                    <a:bodyPr/>
                    <a:lstStyle/>
                    <a:p>
                      <a:r>
                        <a:rPr sz="720">
                          <a:solidFill>
                            <a:srgbClr val="0F172A"/>
                          </a:solidFill>
                          <a:latin typeface="Arial"/>
                        </a:rPr>
                        <a:t>0.904</a:t>
                      </a:r>
                    </a:p>
                  </a:txBody>
                  <a:tcPr/>
                </a:tc>
                <a:tc>
                  <a:txBody>
                    <a:bodyPr/>
                    <a:lstStyle/>
                    <a:p>
                      <a:r>
                        <a:rPr sz="720">
                          <a:solidFill>
                            <a:srgbClr val="0F172A"/>
                          </a:solidFill>
                          <a:latin typeface="Arial"/>
                        </a:rPr>
                        <a:t>0.909</a:t>
                      </a:r>
                    </a:p>
                  </a:txBody>
                  <a:tcPr/>
                </a:tc>
                <a:tc>
                  <a:txBody>
                    <a:bodyPr/>
                    <a:lstStyle/>
                    <a:p>
                      <a:r>
                        <a:rPr sz="720">
                          <a:solidFill>
                            <a:srgbClr val="0F172A"/>
                          </a:solidFill>
                          <a:latin typeface="Arial"/>
                        </a:rPr>
                        <a:t>0.901</a:t>
                      </a:r>
                    </a:p>
                  </a:txBody>
                  <a:tcPr/>
                </a:tc>
                <a:tc>
                  <a:txBody>
                    <a:bodyPr/>
                    <a:lstStyle/>
                    <a:p>
                      <a:r>
                        <a:rPr sz="720">
                          <a:solidFill>
                            <a:srgbClr val="0F172A"/>
                          </a:solidFill>
                          <a:latin typeface="Arial"/>
                        </a:rPr>
                        <a:t>0.906</a:t>
                      </a:r>
                    </a:p>
                  </a:txBody>
                  <a:tcPr/>
                </a:tc>
                <a:tc>
                  <a:txBody>
                    <a:bodyPr/>
                    <a:lstStyle/>
                    <a:p>
                      <a:r>
                        <a:rPr sz="720">
                          <a:solidFill>
                            <a:srgbClr val="0F172A"/>
                          </a:solidFill>
                          <a:latin typeface="Arial"/>
                        </a:rPr>
                        <a:t>0.885</a:t>
                      </a:r>
                    </a:p>
                  </a:txBody>
                  <a:tcPr/>
                </a:tc>
                <a:tc>
                  <a:txBody>
                    <a:bodyPr/>
                    <a:lstStyle/>
                    <a:p>
                      <a:r>
                        <a:rPr sz="720">
                          <a:solidFill>
                            <a:srgbClr val="0F172A"/>
                          </a:solidFill>
                          <a:latin typeface="Arial"/>
                        </a:rPr>
                        <a:t>0.921</a:t>
                      </a:r>
                    </a:p>
                  </a:txBody>
                  <a:tcPr/>
                </a:tc>
                <a:extLst>
                  <a:ext uri="{0D108BD9-81ED-4DB2-BD59-A6C34878D82A}">
                    <a16:rowId xmlns:a16="http://schemas.microsoft.com/office/drawing/2014/main" val="10003"/>
                  </a:ext>
                </a:extLst>
              </a:tr>
              <a:tr h="356616">
                <a:tc>
                  <a:txBody>
                    <a:bodyPr/>
                    <a:lstStyle/>
                    <a:p>
                      <a:r>
                        <a:rPr sz="720">
                          <a:solidFill>
                            <a:srgbClr val="0F172A"/>
                          </a:solidFill>
                          <a:latin typeface="Arial"/>
                        </a:rPr>
                        <a:t>TABPFN</a:t>
                      </a:r>
                    </a:p>
                  </a:txBody>
                  <a:tcPr>
                    <a:solidFill>
                      <a:srgbClr val="F8FAFC"/>
                    </a:solidFill>
                  </a:tcPr>
                </a:tc>
                <a:tc>
                  <a:txBody>
                    <a:bodyPr/>
                    <a:lstStyle/>
                    <a:p>
                      <a:r>
                        <a:rPr sz="720">
                          <a:solidFill>
                            <a:srgbClr val="0F172A"/>
                          </a:solidFill>
                          <a:latin typeface="Arial"/>
                        </a:rPr>
                        <a:t>0.934</a:t>
                      </a:r>
                    </a:p>
                  </a:txBody>
                  <a:tcPr>
                    <a:solidFill>
                      <a:srgbClr val="F8FAFC"/>
                    </a:solidFill>
                  </a:tcPr>
                </a:tc>
                <a:tc>
                  <a:txBody>
                    <a:bodyPr/>
                    <a:lstStyle/>
                    <a:p>
                      <a:r>
                        <a:rPr sz="720">
                          <a:solidFill>
                            <a:srgbClr val="0F172A"/>
                          </a:solidFill>
                          <a:latin typeface="Arial"/>
                        </a:rPr>
                        <a:t>0.927</a:t>
                      </a:r>
                    </a:p>
                  </a:txBody>
                  <a:tcPr>
                    <a:solidFill>
                      <a:srgbClr val="F8FAFC"/>
                    </a:solidFill>
                  </a:tcPr>
                </a:tc>
                <a:tc>
                  <a:txBody>
                    <a:bodyPr/>
                    <a:lstStyle/>
                    <a:p>
                      <a:r>
                        <a:rPr sz="720">
                          <a:solidFill>
                            <a:srgbClr val="0F172A"/>
                          </a:solidFill>
                          <a:latin typeface="Arial"/>
                        </a:rPr>
                        <a:t>0.930</a:t>
                      </a:r>
                    </a:p>
                  </a:txBody>
                  <a:tcPr>
                    <a:solidFill>
                      <a:srgbClr val="F8FAFC"/>
                    </a:solidFill>
                  </a:tcPr>
                </a:tc>
                <a:tc>
                  <a:txBody>
                    <a:bodyPr/>
                    <a:lstStyle/>
                    <a:p>
                      <a:r>
                        <a:rPr sz="720">
                          <a:solidFill>
                            <a:srgbClr val="0F172A"/>
                          </a:solidFill>
                          <a:latin typeface="Arial"/>
                        </a:rPr>
                        <a:t>0.931</a:t>
                      </a:r>
                    </a:p>
                  </a:txBody>
                  <a:tcPr>
                    <a:solidFill>
                      <a:srgbClr val="F8FAFC"/>
                    </a:solidFill>
                  </a:tcPr>
                </a:tc>
                <a:tc>
                  <a:txBody>
                    <a:bodyPr/>
                    <a:lstStyle/>
                    <a:p>
                      <a:r>
                        <a:rPr sz="720">
                          <a:solidFill>
                            <a:srgbClr val="0F172A"/>
                          </a:solidFill>
                          <a:latin typeface="Arial"/>
                        </a:rPr>
                        <a:t>0.928</a:t>
                      </a:r>
                    </a:p>
                  </a:txBody>
                  <a:tcPr>
                    <a:solidFill>
                      <a:srgbClr val="F8FAFC"/>
                    </a:solidFill>
                  </a:tcPr>
                </a:tc>
                <a:tc>
                  <a:txBody>
                    <a:bodyPr/>
                    <a:lstStyle/>
                    <a:p>
                      <a:r>
                        <a:rPr sz="720">
                          <a:solidFill>
                            <a:srgbClr val="0F172A"/>
                          </a:solidFill>
                          <a:latin typeface="Arial"/>
                        </a:rPr>
                        <a:t>0.932</a:t>
                      </a:r>
                    </a:p>
                  </a:txBody>
                  <a:tcPr>
                    <a:solidFill>
                      <a:srgbClr val="F8FAFC"/>
                    </a:solidFill>
                  </a:tcPr>
                </a:tc>
                <a:tc>
                  <a:txBody>
                    <a:bodyPr/>
                    <a:lstStyle/>
                    <a:p>
                      <a:r>
                        <a:rPr sz="720">
                          <a:solidFill>
                            <a:srgbClr val="0F172A"/>
                          </a:solidFill>
                          <a:latin typeface="Arial"/>
                        </a:rPr>
                        <a:t>0.929</a:t>
                      </a:r>
                    </a:p>
                  </a:txBody>
                  <a:tcPr>
                    <a:solidFill>
                      <a:srgbClr val="F8FAFC"/>
                    </a:solidFill>
                  </a:tcPr>
                </a:tc>
                <a:tc>
                  <a:txBody>
                    <a:bodyPr/>
                    <a:lstStyle/>
                    <a:p>
                      <a:r>
                        <a:rPr sz="720">
                          <a:solidFill>
                            <a:srgbClr val="0F172A"/>
                          </a:solidFill>
                          <a:latin typeface="Arial"/>
                        </a:rPr>
                        <a:t>0.935</a:t>
                      </a:r>
                    </a:p>
                  </a:txBody>
                  <a:tcPr>
                    <a:solidFill>
                      <a:srgbClr val="F8FAFC"/>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263640" y="932688"/>
            <a:ext cx="5349240" cy="228600"/>
          </a:xfrm>
          <a:prstGeom prst="rect">
            <a:avLst/>
          </a:prstGeom>
          <a:noFill/>
        </p:spPr>
        <p:txBody>
          <a:bodyPr wrap="square">
            <a:normAutofit fontScale="92500" lnSpcReduction="20000"/>
          </a:bodyPr>
          <a:lstStyle/>
          <a:p>
            <a:r>
              <a:rPr sz="1220" b="1">
                <a:solidFill>
                  <a:srgbClr val="0F172A"/>
                </a:solidFill>
                <a:latin typeface="Arial"/>
              </a:rPr>
              <a:t>My results</a:t>
            </a:r>
          </a:p>
        </p:txBody>
      </p:sp>
      <p:graphicFrame>
        <p:nvGraphicFramePr>
          <p:cNvPr id="7" name="Table 6"/>
          <p:cNvGraphicFramePr>
            <a:graphicFrameLocks noGrp="1"/>
          </p:cNvGraphicFramePr>
          <p:nvPr/>
        </p:nvGraphicFramePr>
        <p:xfrm>
          <a:off x="6263640" y="1234440"/>
          <a:ext cx="5349240" cy="1783080"/>
        </p:xfrm>
        <a:graphic>
          <a:graphicData uri="http://schemas.openxmlformats.org/drawingml/2006/table">
            <a:tbl>
              <a:tblPr firstRow="1" bandRow="1">
                <a:tableStyleId>{5C22544A-7EE6-4342-B048-85BDC9FD1C3A}</a:tableStyleId>
              </a:tblPr>
              <a:tblGrid>
                <a:gridCol w="59436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gridCol w="594360">
                  <a:extLst>
                    <a:ext uri="{9D8B030D-6E8A-4147-A177-3AD203B41FA5}">
                      <a16:colId xmlns:a16="http://schemas.microsoft.com/office/drawing/2014/main" val="20008"/>
                    </a:ext>
                  </a:extLst>
                </a:gridCol>
              </a:tblGrid>
              <a:tr h="356616">
                <a:tc>
                  <a:txBody>
                    <a:bodyPr/>
                    <a:lstStyle/>
                    <a:p>
                      <a:r>
                        <a:rPr sz="720" b="1">
                          <a:solidFill>
                            <a:srgbClr val="FFFFFF"/>
                          </a:solidFill>
                          <a:latin typeface="Arial"/>
                        </a:rPr>
                        <a:t>Model</a:t>
                      </a:r>
                    </a:p>
                  </a:txBody>
                  <a:tcPr>
                    <a:solidFill>
                      <a:srgbClr val="0F172A"/>
                    </a:solidFill>
                  </a:tcPr>
                </a:tc>
                <a:tc>
                  <a:txBody>
                    <a:bodyPr/>
                    <a:lstStyle/>
                    <a:p>
                      <a:r>
                        <a:rPr sz="720" b="1">
                          <a:solidFill>
                            <a:srgbClr val="FFFFFF"/>
                          </a:solidFill>
                          <a:latin typeface="Arial"/>
                        </a:rPr>
                        <a:t>Original</a:t>
                      </a:r>
                    </a:p>
                  </a:txBody>
                  <a:tcPr>
                    <a:solidFill>
                      <a:srgbClr val="0F172A"/>
                    </a:solidFill>
                  </a:tcPr>
                </a:tc>
                <a:tc>
                  <a:txBody>
                    <a:bodyPr/>
                    <a:lstStyle/>
                    <a:p>
                      <a:r>
                        <a:rPr sz="720" b="1">
                          <a:solidFill>
                            <a:srgbClr val="FFFFFF"/>
                          </a:solidFill>
                          <a:latin typeface="Arial"/>
                        </a:rPr>
                        <a:t>SMOTE</a:t>
                      </a:r>
                    </a:p>
                  </a:txBody>
                  <a:tcPr>
                    <a:solidFill>
                      <a:srgbClr val="0F172A"/>
                    </a:solidFill>
                  </a:tcPr>
                </a:tc>
                <a:tc>
                  <a:txBody>
                    <a:bodyPr/>
                    <a:lstStyle/>
                    <a:p>
                      <a:r>
                        <a:rPr sz="720" b="1">
                          <a:solidFill>
                            <a:srgbClr val="FFFFFF"/>
                          </a:solidFill>
                          <a:latin typeface="Arial"/>
                        </a:rPr>
                        <a:t>CTGAN</a:t>
                      </a:r>
                    </a:p>
                  </a:txBody>
                  <a:tcPr>
                    <a:solidFill>
                      <a:srgbClr val="0F172A"/>
                    </a:solidFill>
                  </a:tcPr>
                </a:tc>
                <a:tc>
                  <a:txBody>
                    <a:bodyPr/>
                    <a:lstStyle/>
                    <a:p>
                      <a:r>
                        <a:rPr sz="720" b="1">
                          <a:solidFill>
                            <a:srgbClr val="FFFFFF"/>
                          </a:solidFill>
                          <a:latin typeface="Arial"/>
                        </a:rPr>
                        <a:t>TVAE</a:t>
                      </a:r>
                    </a:p>
                  </a:txBody>
                  <a:tcPr>
                    <a:solidFill>
                      <a:srgbClr val="0F172A"/>
                    </a:solidFill>
                  </a:tcPr>
                </a:tc>
                <a:tc>
                  <a:txBody>
                    <a:bodyPr/>
                    <a:lstStyle/>
                    <a:p>
                      <a:r>
                        <a:rPr sz="720" b="1">
                          <a:solidFill>
                            <a:srgbClr val="FFFFFF"/>
                          </a:solidFill>
                          <a:latin typeface="Arial"/>
                        </a:rPr>
                        <a:t>NF</a:t>
                      </a:r>
                    </a:p>
                  </a:txBody>
                  <a:tcPr>
                    <a:solidFill>
                      <a:srgbClr val="0F172A"/>
                    </a:solidFill>
                  </a:tcPr>
                </a:tc>
                <a:tc>
                  <a:txBody>
                    <a:bodyPr/>
                    <a:lstStyle/>
                    <a:p>
                      <a:r>
                        <a:rPr sz="720" b="1">
                          <a:solidFill>
                            <a:srgbClr val="FFFFFF"/>
                          </a:solidFill>
                          <a:latin typeface="Arial"/>
                        </a:rPr>
                        <a:t>RTVAE</a:t>
                      </a:r>
                    </a:p>
                  </a:txBody>
                  <a:tcPr>
                    <a:solidFill>
                      <a:srgbClr val="0F172A"/>
                    </a:solidFill>
                  </a:tcPr>
                </a:tc>
                <a:tc>
                  <a:txBody>
                    <a:bodyPr/>
                    <a:lstStyle/>
                    <a:p>
                      <a:r>
                        <a:rPr sz="720" b="1">
                          <a:solidFill>
                            <a:srgbClr val="FFFFFF"/>
                          </a:solidFill>
                          <a:latin typeface="Arial"/>
                        </a:rPr>
                        <a:t>TabDDPM</a:t>
                      </a:r>
                    </a:p>
                  </a:txBody>
                  <a:tcPr>
                    <a:solidFill>
                      <a:srgbClr val="0F172A"/>
                    </a:solidFill>
                  </a:tcPr>
                </a:tc>
                <a:tc>
                  <a:txBody>
                    <a:bodyPr/>
                    <a:lstStyle/>
                    <a:p>
                      <a:r>
                        <a:rPr sz="720" b="1">
                          <a:solidFill>
                            <a:srgbClr val="FFFFFF"/>
                          </a:solidFill>
                          <a:latin typeface="Arial"/>
                        </a:rPr>
                        <a:t>TabPFGen</a:t>
                      </a:r>
                    </a:p>
                  </a:txBody>
                  <a:tcPr>
                    <a:solidFill>
                      <a:srgbClr val="0F172A"/>
                    </a:solidFill>
                  </a:tcPr>
                </a:tc>
                <a:extLst>
                  <a:ext uri="{0D108BD9-81ED-4DB2-BD59-A6C34878D82A}">
                    <a16:rowId xmlns:a16="http://schemas.microsoft.com/office/drawing/2014/main" val="10000"/>
                  </a:ext>
                </a:extLst>
              </a:tr>
              <a:tr h="356616">
                <a:tc>
                  <a:txBody>
                    <a:bodyPr/>
                    <a:lstStyle/>
                    <a:p>
                      <a:r>
                        <a:rPr sz="720">
                          <a:solidFill>
                            <a:srgbClr val="0F172A"/>
                          </a:solidFill>
                          <a:latin typeface="Arial"/>
                        </a:rPr>
                        <a:t>XGB</a:t>
                      </a:r>
                    </a:p>
                  </a:txBody>
                  <a:tcPr/>
                </a:tc>
                <a:tc>
                  <a:txBody>
                    <a:bodyPr/>
                    <a:lstStyle/>
                    <a:p>
                      <a:r>
                        <a:rPr sz="720">
                          <a:solidFill>
                            <a:srgbClr val="0F172A"/>
                          </a:solidFill>
                          <a:latin typeface="Arial"/>
                        </a:rPr>
                        <a:t>NA</a:t>
                      </a:r>
                    </a:p>
                  </a:txBody>
                  <a:tcPr/>
                </a:tc>
                <a:tc>
                  <a:txBody>
                    <a:bodyPr/>
                    <a:lstStyle/>
                    <a:p>
                      <a:r>
                        <a:rPr sz="720">
                          <a:solidFill>
                            <a:srgbClr val="0F172A"/>
                          </a:solidFill>
                          <a:latin typeface="Arial"/>
                        </a:rPr>
                        <a:t>0.911</a:t>
                      </a:r>
                    </a:p>
                  </a:txBody>
                  <a:tcPr/>
                </a:tc>
                <a:tc>
                  <a:txBody>
                    <a:bodyPr/>
                    <a:lstStyle/>
                    <a:p>
                      <a:r>
                        <a:rPr sz="720">
                          <a:solidFill>
                            <a:srgbClr val="0F172A"/>
                          </a:solidFill>
                          <a:latin typeface="Arial"/>
                        </a:rPr>
                        <a:t>0.905</a:t>
                      </a:r>
                    </a:p>
                  </a:txBody>
                  <a:tcPr/>
                </a:tc>
                <a:tc>
                  <a:txBody>
                    <a:bodyPr/>
                    <a:lstStyle/>
                    <a:p>
                      <a:r>
                        <a:rPr sz="720">
                          <a:solidFill>
                            <a:srgbClr val="0F172A"/>
                          </a:solidFill>
                          <a:latin typeface="Arial"/>
                        </a:rPr>
                        <a:t>0.903</a:t>
                      </a:r>
                    </a:p>
                  </a:txBody>
                  <a:tcPr/>
                </a:tc>
                <a:tc>
                  <a:txBody>
                    <a:bodyPr/>
                    <a:lstStyle/>
                    <a:p>
                      <a:r>
                        <a:rPr sz="720">
                          <a:solidFill>
                            <a:srgbClr val="0F172A"/>
                          </a:solidFill>
                          <a:latin typeface="Arial"/>
                        </a:rPr>
                        <a:t>0.900</a:t>
                      </a:r>
                    </a:p>
                  </a:txBody>
                  <a:tcPr/>
                </a:tc>
                <a:tc>
                  <a:txBody>
                    <a:bodyPr/>
                    <a:lstStyle/>
                    <a:p>
                      <a:r>
                        <a:rPr sz="720">
                          <a:solidFill>
                            <a:srgbClr val="0F172A"/>
                          </a:solidFill>
                          <a:latin typeface="Arial"/>
                        </a:rPr>
                        <a:t>0.906</a:t>
                      </a:r>
                    </a:p>
                  </a:txBody>
                  <a:tcPr/>
                </a:tc>
                <a:tc>
                  <a:txBody>
                    <a:bodyPr/>
                    <a:lstStyle/>
                    <a:p>
                      <a:r>
                        <a:rPr sz="720">
                          <a:solidFill>
                            <a:srgbClr val="0F172A"/>
                          </a:solidFill>
                          <a:latin typeface="Arial"/>
                        </a:rPr>
                        <a:t>0.909</a:t>
                      </a:r>
                    </a:p>
                  </a:txBody>
                  <a:tcPr/>
                </a:tc>
                <a:tc>
                  <a:txBody>
                    <a:bodyPr/>
                    <a:lstStyle/>
                    <a:p>
                      <a:r>
                        <a:rPr sz="720">
                          <a:solidFill>
                            <a:srgbClr val="0F172A"/>
                          </a:solidFill>
                          <a:latin typeface="Arial"/>
                        </a:rPr>
                        <a:t>0.912</a:t>
                      </a:r>
                    </a:p>
                  </a:txBody>
                  <a:tcPr/>
                </a:tc>
                <a:extLst>
                  <a:ext uri="{0D108BD9-81ED-4DB2-BD59-A6C34878D82A}">
                    <a16:rowId xmlns:a16="http://schemas.microsoft.com/office/drawing/2014/main" val="10001"/>
                  </a:ext>
                </a:extLst>
              </a:tr>
              <a:tr h="356616">
                <a:tc>
                  <a:txBody>
                    <a:bodyPr/>
                    <a:lstStyle/>
                    <a:p>
                      <a:r>
                        <a:rPr sz="720">
                          <a:solidFill>
                            <a:srgbClr val="0F172A"/>
                          </a:solidFill>
                          <a:latin typeface="Arial"/>
                        </a:rPr>
                        <a:t>RF</a:t>
                      </a:r>
                    </a:p>
                  </a:txBody>
                  <a:tcPr>
                    <a:solidFill>
                      <a:srgbClr val="F8FAFC"/>
                    </a:solidFill>
                  </a:tcPr>
                </a:tc>
                <a:tc>
                  <a:txBody>
                    <a:bodyPr/>
                    <a:lstStyle/>
                    <a:p>
                      <a:r>
                        <a:rPr sz="720">
                          <a:solidFill>
                            <a:srgbClr val="0F172A"/>
                          </a:solidFill>
                          <a:latin typeface="Arial"/>
                        </a:rPr>
                        <a:t>NA</a:t>
                      </a:r>
                    </a:p>
                  </a:txBody>
                  <a:tcPr>
                    <a:solidFill>
                      <a:srgbClr val="F8FAFC"/>
                    </a:solidFill>
                  </a:tcPr>
                </a:tc>
                <a:tc>
                  <a:txBody>
                    <a:bodyPr/>
                    <a:lstStyle/>
                    <a:p>
                      <a:r>
                        <a:rPr sz="720">
                          <a:solidFill>
                            <a:srgbClr val="0F172A"/>
                          </a:solidFill>
                          <a:latin typeface="Arial"/>
                        </a:rPr>
                        <a:t>0.905</a:t>
                      </a:r>
                    </a:p>
                  </a:txBody>
                  <a:tcPr>
                    <a:solidFill>
                      <a:srgbClr val="F8FAFC"/>
                    </a:solidFill>
                  </a:tcPr>
                </a:tc>
                <a:tc>
                  <a:txBody>
                    <a:bodyPr/>
                    <a:lstStyle/>
                    <a:p>
                      <a:r>
                        <a:rPr sz="720">
                          <a:solidFill>
                            <a:srgbClr val="0F172A"/>
                          </a:solidFill>
                          <a:latin typeface="Arial"/>
                        </a:rPr>
                        <a:t>0.899</a:t>
                      </a:r>
                    </a:p>
                  </a:txBody>
                  <a:tcPr>
                    <a:solidFill>
                      <a:srgbClr val="F8FAFC"/>
                    </a:solidFill>
                  </a:tcPr>
                </a:tc>
                <a:tc>
                  <a:txBody>
                    <a:bodyPr/>
                    <a:lstStyle/>
                    <a:p>
                      <a:r>
                        <a:rPr sz="720">
                          <a:solidFill>
                            <a:srgbClr val="0F172A"/>
                          </a:solidFill>
                          <a:latin typeface="Arial"/>
                        </a:rPr>
                        <a:t>0.897</a:t>
                      </a:r>
                    </a:p>
                  </a:txBody>
                  <a:tcPr>
                    <a:solidFill>
                      <a:srgbClr val="F8FAFC"/>
                    </a:solidFill>
                  </a:tcPr>
                </a:tc>
                <a:tc>
                  <a:txBody>
                    <a:bodyPr/>
                    <a:lstStyle/>
                    <a:p>
                      <a:r>
                        <a:rPr sz="720">
                          <a:solidFill>
                            <a:srgbClr val="0F172A"/>
                          </a:solidFill>
                          <a:latin typeface="Arial"/>
                        </a:rPr>
                        <a:t>0.894</a:t>
                      </a:r>
                    </a:p>
                  </a:txBody>
                  <a:tcPr>
                    <a:solidFill>
                      <a:srgbClr val="F8FAFC"/>
                    </a:solidFill>
                  </a:tcPr>
                </a:tc>
                <a:tc>
                  <a:txBody>
                    <a:bodyPr/>
                    <a:lstStyle/>
                    <a:p>
                      <a:r>
                        <a:rPr sz="720">
                          <a:solidFill>
                            <a:srgbClr val="0F172A"/>
                          </a:solidFill>
                          <a:latin typeface="Arial"/>
                        </a:rPr>
                        <a:t>0.899</a:t>
                      </a:r>
                    </a:p>
                  </a:txBody>
                  <a:tcPr>
                    <a:solidFill>
                      <a:srgbClr val="F8FAFC"/>
                    </a:solidFill>
                  </a:tcPr>
                </a:tc>
                <a:tc>
                  <a:txBody>
                    <a:bodyPr/>
                    <a:lstStyle/>
                    <a:p>
                      <a:r>
                        <a:rPr sz="720">
                          <a:solidFill>
                            <a:srgbClr val="0F172A"/>
                          </a:solidFill>
                          <a:latin typeface="Arial"/>
                        </a:rPr>
                        <a:t>0.907</a:t>
                      </a:r>
                    </a:p>
                  </a:txBody>
                  <a:tcPr>
                    <a:solidFill>
                      <a:srgbClr val="F8FAFC"/>
                    </a:solidFill>
                  </a:tcPr>
                </a:tc>
                <a:tc>
                  <a:txBody>
                    <a:bodyPr/>
                    <a:lstStyle/>
                    <a:p>
                      <a:r>
                        <a:rPr sz="720">
                          <a:solidFill>
                            <a:srgbClr val="0F172A"/>
                          </a:solidFill>
                          <a:latin typeface="Arial"/>
                        </a:rPr>
                        <a:t>0.908</a:t>
                      </a:r>
                    </a:p>
                  </a:txBody>
                  <a:tcPr>
                    <a:solidFill>
                      <a:srgbClr val="F8FAFC"/>
                    </a:solidFill>
                  </a:tcPr>
                </a:tc>
                <a:extLst>
                  <a:ext uri="{0D108BD9-81ED-4DB2-BD59-A6C34878D82A}">
                    <a16:rowId xmlns:a16="http://schemas.microsoft.com/office/drawing/2014/main" val="10002"/>
                  </a:ext>
                </a:extLst>
              </a:tr>
              <a:tr h="356616">
                <a:tc>
                  <a:txBody>
                    <a:bodyPr/>
                    <a:lstStyle/>
                    <a:p>
                      <a:r>
                        <a:rPr sz="720">
                          <a:solidFill>
                            <a:srgbClr val="0F172A"/>
                          </a:solidFill>
                          <a:latin typeface="Arial"/>
                        </a:rPr>
                        <a:t>LR</a:t>
                      </a:r>
                    </a:p>
                  </a:txBody>
                  <a:tcPr/>
                </a:tc>
                <a:tc>
                  <a:txBody>
                    <a:bodyPr/>
                    <a:lstStyle/>
                    <a:p>
                      <a:r>
                        <a:rPr sz="720">
                          <a:solidFill>
                            <a:srgbClr val="0F172A"/>
                          </a:solidFill>
                          <a:latin typeface="Arial"/>
                        </a:rPr>
                        <a:t>NA</a:t>
                      </a:r>
                    </a:p>
                  </a:txBody>
                  <a:tcPr/>
                </a:tc>
                <a:tc>
                  <a:txBody>
                    <a:bodyPr/>
                    <a:lstStyle/>
                    <a:p>
                      <a:r>
                        <a:rPr sz="720">
                          <a:solidFill>
                            <a:srgbClr val="0F172A"/>
                          </a:solidFill>
                          <a:latin typeface="Arial"/>
                        </a:rPr>
                        <a:t>0.916</a:t>
                      </a:r>
                    </a:p>
                  </a:txBody>
                  <a:tcPr/>
                </a:tc>
                <a:tc>
                  <a:txBody>
                    <a:bodyPr/>
                    <a:lstStyle/>
                    <a:p>
                      <a:r>
                        <a:rPr sz="720">
                          <a:solidFill>
                            <a:srgbClr val="0F172A"/>
                          </a:solidFill>
                          <a:latin typeface="Arial"/>
                        </a:rPr>
                        <a:t>0.892</a:t>
                      </a:r>
                    </a:p>
                  </a:txBody>
                  <a:tcPr/>
                </a:tc>
                <a:tc>
                  <a:txBody>
                    <a:bodyPr/>
                    <a:lstStyle/>
                    <a:p>
                      <a:r>
                        <a:rPr sz="720">
                          <a:solidFill>
                            <a:srgbClr val="0F172A"/>
                          </a:solidFill>
                          <a:latin typeface="Arial"/>
                        </a:rPr>
                        <a:t>0.907</a:t>
                      </a:r>
                    </a:p>
                  </a:txBody>
                  <a:tcPr/>
                </a:tc>
                <a:tc>
                  <a:txBody>
                    <a:bodyPr/>
                    <a:lstStyle/>
                    <a:p>
                      <a:r>
                        <a:rPr sz="720">
                          <a:solidFill>
                            <a:srgbClr val="0F172A"/>
                          </a:solidFill>
                          <a:latin typeface="Arial"/>
                        </a:rPr>
                        <a:t>0.894</a:t>
                      </a:r>
                    </a:p>
                  </a:txBody>
                  <a:tcPr/>
                </a:tc>
                <a:tc>
                  <a:txBody>
                    <a:bodyPr/>
                    <a:lstStyle/>
                    <a:p>
                      <a:r>
                        <a:rPr sz="720">
                          <a:solidFill>
                            <a:srgbClr val="0F172A"/>
                          </a:solidFill>
                          <a:latin typeface="Arial"/>
                        </a:rPr>
                        <a:t>0.904</a:t>
                      </a:r>
                    </a:p>
                  </a:txBody>
                  <a:tcPr/>
                </a:tc>
                <a:tc>
                  <a:txBody>
                    <a:bodyPr/>
                    <a:lstStyle/>
                    <a:p>
                      <a:r>
                        <a:rPr sz="720">
                          <a:solidFill>
                            <a:srgbClr val="0F172A"/>
                          </a:solidFill>
                          <a:latin typeface="Arial"/>
                        </a:rPr>
                        <a:t>0.897</a:t>
                      </a:r>
                    </a:p>
                  </a:txBody>
                  <a:tcPr/>
                </a:tc>
                <a:tc>
                  <a:txBody>
                    <a:bodyPr/>
                    <a:lstStyle/>
                    <a:p>
                      <a:r>
                        <a:rPr sz="720">
                          <a:solidFill>
                            <a:srgbClr val="0F172A"/>
                          </a:solidFill>
                          <a:latin typeface="Arial"/>
                        </a:rPr>
                        <a:t>0.923</a:t>
                      </a:r>
                    </a:p>
                  </a:txBody>
                  <a:tcPr/>
                </a:tc>
                <a:extLst>
                  <a:ext uri="{0D108BD9-81ED-4DB2-BD59-A6C34878D82A}">
                    <a16:rowId xmlns:a16="http://schemas.microsoft.com/office/drawing/2014/main" val="10003"/>
                  </a:ext>
                </a:extLst>
              </a:tr>
              <a:tr h="356616">
                <a:tc>
                  <a:txBody>
                    <a:bodyPr/>
                    <a:lstStyle/>
                    <a:p>
                      <a:r>
                        <a:rPr sz="720">
                          <a:solidFill>
                            <a:srgbClr val="0F172A"/>
                          </a:solidFill>
                          <a:latin typeface="Arial"/>
                        </a:rPr>
                        <a:t>TABPFN</a:t>
                      </a:r>
                    </a:p>
                  </a:txBody>
                  <a:tcPr>
                    <a:solidFill>
                      <a:srgbClr val="F8FAFC"/>
                    </a:solidFill>
                  </a:tcPr>
                </a:tc>
                <a:tc>
                  <a:txBody>
                    <a:bodyPr/>
                    <a:lstStyle/>
                    <a:p>
                      <a:r>
                        <a:rPr sz="720">
                          <a:solidFill>
                            <a:srgbClr val="0F172A"/>
                          </a:solidFill>
                          <a:latin typeface="Arial"/>
                        </a:rPr>
                        <a:t>NA</a:t>
                      </a:r>
                    </a:p>
                  </a:txBody>
                  <a:tcPr>
                    <a:solidFill>
                      <a:srgbClr val="F8FAFC"/>
                    </a:solidFill>
                  </a:tcPr>
                </a:tc>
                <a:tc>
                  <a:txBody>
                    <a:bodyPr/>
                    <a:lstStyle/>
                    <a:p>
                      <a:r>
                        <a:rPr sz="720">
                          <a:solidFill>
                            <a:srgbClr val="0F172A"/>
                          </a:solidFill>
                          <a:latin typeface="Arial"/>
                        </a:rPr>
                        <a:t>0.923</a:t>
                      </a:r>
                    </a:p>
                  </a:txBody>
                  <a:tcPr>
                    <a:solidFill>
                      <a:srgbClr val="F8FAFC"/>
                    </a:solidFill>
                  </a:tcPr>
                </a:tc>
                <a:tc>
                  <a:txBody>
                    <a:bodyPr/>
                    <a:lstStyle/>
                    <a:p>
                      <a:r>
                        <a:rPr sz="720">
                          <a:solidFill>
                            <a:srgbClr val="0F172A"/>
                          </a:solidFill>
                          <a:latin typeface="Arial"/>
                        </a:rPr>
                        <a:t>0.930</a:t>
                      </a:r>
                    </a:p>
                  </a:txBody>
                  <a:tcPr>
                    <a:solidFill>
                      <a:srgbClr val="F8FAFC"/>
                    </a:solidFill>
                  </a:tcPr>
                </a:tc>
                <a:tc>
                  <a:txBody>
                    <a:bodyPr/>
                    <a:lstStyle/>
                    <a:p>
                      <a:r>
                        <a:rPr sz="720">
                          <a:solidFill>
                            <a:srgbClr val="0F172A"/>
                          </a:solidFill>
                          <a:latin typeface="Arial"/>
                        </a:rPr>
                        <a:t>0.928</a:t>
                      </a:r>
                    </a:p>
                  </a:txBody>
                  <a:tcPr>
                    <a:solidFill>
                      <a:srgbClr val="F8FAFC"/>
                    </a:solidFill>
                  </a:tcPr>
                </a:tc>
                <a:tc>
                  <a:txBody>
                    <a:bodyPr/>
                    <a:lstStyle/>
                    <a:p>
                      <a:r>
                        <a:rPr sz="720">
                          <a:solidFill>
                            <a:srgbClr val="0F172A"/>
                          </a:solidFill>
                          <a:latin typeface="Arial"/>
                        </a:rPr>
                        <a:t>0.926</a:t>
                      </a:r>
                    </a:p>
                  </a:txBody>
                  <a:tcPr>
                    <a:solidFill>
                      <a:srgbClr val="F8FAFC"/>
                    </a:solidFill>
                  </a:tcPr>
                </a:tc>
                <a:tc>
                  <a:txBody>
                    <a:bodyPr/>
                    <a:lstStyle/>
                    <a:p>
                      <a:r>
                        <a:rPr sz="720">
                          <a:solidFill>
                            <a:srgbClr val="0F172A"/>
                          </a:solidFill>
                          <a:latin typeface="Arial"/>
                        </a:rPr>
                        <a:t>0.929</a:t>
                      </a:r>
                    </a:p>
                  </a:txBody>
                  <a:tcPr>
                    <a:solidFill>
                      <a:srgbClr val="F8FAFC"/>
                    </a:solidFill>
                  </a:tcPr>
                </a:tc>
                <a:tc>
                  <a:txBody>
                    <a:bodyPr/>
                    <a:lstStyle/>
                    <a:p>
                      <a:r>
                        <a:rPr sz="720">
                          <a:solidFill>
                            <a:srgbClr val="0F172A"/>
                          </a:solidFill>
                          <a:latin typeface="Arial"/>
                        </a:rPr>
                        <a:t>0.931</a:t>
                      </a:r>
                    </a:p>
                  </a:txBody>
                  <a:tcPr>
                    <a:solidFill>
                      <a:srgbClr val="F8FAFC"/>
                    </a:solidFill>
                  </a:tcPr>
                </a:tc>
                <a:tc>
                  <a:txBody>
                    <a:bodyPr/>
                    <a:lstStyle/>
                    <a:p>
                      <a:r>
                        <a:rPr sz="720">
                          <a:solidFill>
                            <a:srgbClr val="0F172A"/>
                          </a:solidFill>
                          <a:latin typeface="Arial"/>
                        </a:rPr>
                        <a:t>0.926</a:t>
                      </a:r>
                    </a:p>
                  </a:txBody>
                  <a:tcPr>
                    <a:solidFill>
                      <a:srgbClr val="F8FAFC"/>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502920" y="3584448"/>
            <a:ext cx="11109960" cy="228600"/>
          </a:xfrm>
          <a:prstGeom prst="rect">
            <a:avLst/>
          </a:prstGeom>
          <a:noFill/>
        </p:spPr>
        <p:txBody>
          <a:bodyPr wrap="square">
            <a:normAutofit fontScale="92500" lnSpcReduction="20000"/>
          </a:bodyPr>
          <a:lstStyle/>
          <a:p>
            <a:r>
              <a:rPr sz="1220" b="1">
                <a:solidFill>
                  <a:srgbClr val="0F172A"/>
                </a:solidFill>
                <a:latin typeface="Arial"/>
              </a:rPr>
              <a:t>Delta: my result minus paper</a:t>
            </a:r>
          </a:p>
        </p:txBody>
      </p:sp>
      <p:graphicFrame>
        <p:nvGraphicFramePr>
          <p:cNvPr id="9" name="Table 8"/>
          <p:cNvGraphicFramePr>
            <a:graphicFrameLocks noGrp="1"/>
          </p:cNvGraphicFramePr>
          <p:nvPr/>
        </p:nvGraphicFramePr>
        <p:xfrm>
          <a:off x="502920" y="3886200"/>
          <a:ext cx="11109960" cy="1783080"/>
        </p:xfrm>
        <a:graphic>
          <a:graphicData uri="http://schemas.openxmlformats.org/drawingml/2006/table">
            <a:tbl>
              <a:tblPr firstRow="1" bandRow="1">
                <a:tableStyleId>{5C22544A-7EE6-4342-B048-85BDC9FD1C3A}</a:tableStyleId>
              </a:tblPr>
              <a:tblGrid>
                <a:gridCol w="1388745">
                  <a:extLst>
                    <a:ext uri="{9D8B030D-6E8A-4147-A177-3AD203B41FA5}">
                      <a16:colId xmlns:a16="http://schemas.microsoft.com/office/drawing/2014/main" val="20000"/>
                    </a:ext>
                  </a:extLst>
                </a:gridCol>
                <a:gridCol w="1388745">
                  <a:extLst>
                    <a:ext uri="{9D8B030D-6E8A-4147-A177-3AD203B41FA5}">
                      <a16:colId xmlns:a16="http://schemas.microsoft.com/office/drawing/2014/main" val="20001"/>
                    </a:ext>
                  </a:extLst>
                </a:gridCol>
                <a:gridCol w="1388745">
                  <a:extLst>
                    <a:ext uri="{9D8B030D-6E8A-4147-A177-3AD203B41FA5}">
                      <a16:colId xmlns:a16="http://schemas.microsoft.com/office/drawing/2014/main" val="20002"/>
                    </a:ext>
                  </a:extLst>
                </a:gridCol>
                <a:gridCol w="1388745">
                  <a:extLst>
                    <a:ext uri="{9D8B030D-6E8A-4147-A177-3AD203B41FA5}">
                      <a16:colId xmlns:a16="http://schemas.microsoft.com/office/drawing/2014/main" val="20003"/>
                    </a:ext>
                  </a:extLst>
                </a:gridCol>
                <a:gridCol w="1388745">
                  <a:extLst>
                    <a:ext uri="{9D8B030D-6E8A-4147-A177-3AD203B41FA5}">
                      <a16:colId xmlns:a16="http://schemas.microsoft.com/office/drawing/2014/main" val="20004"/>
                    </a:ext>
                  </a:extLst>
                </a:gridCol>
                <a:gridCol w="1388745">
                  <a:extLst>
                    <a:ext uri="{9D8B030D-6E8A-4147-A177-3AD203B41FA5}">
                      <a16:colId xmlns:a16="http://schemas.microsoft.com/office/drawing/2014/main" val="20005"/>
                    </a:ext>
                  </a:extLst>
                </a:gridCol>
                <a:gridCol w="1388745">
                  <a:extLst>
                    <a:ext uri="{9D8B030D-6E8A-4147-A177-3AD203B41FA5}">
                      <a16:colId xmlns:a16="http://schemas.microsoft.com/office/drawing/2014/main" val="20006"/>
                    </a:ext>
                  </a:extLst>
                </a:gridCol>
                <a:gridCol w="1388745">
                  <a:extLst>
                    <a:ext uri="{9D8B030D-6E8A-4147-A177-3AD203B41FA5}">
                      <a16:colId xmlns:a16="http://schemas.microsoft.com/office/drawing/2014/main" val="20007"/>
                    </a:ext>
                  </a:extLst>
                </a:gridCol>
              </a:tblGrid>
              <a:tr h="356616">
                <a:tc>
                  <a:txBody>
                    <a:bodyPr/>
                    <a:lstStyle/>
                    <a:p>
                      <a:r>
                        <a:rPr sz="700" b="1">
                          <a:solidFill>
                            <a:srgbClr val="FFFFFF"/>
                          </a:solidFill>
                          <a:latin typeface="Arial"/>
                        </a:rPr>
                        <a:t>Model</a:t>
                      </a:r>
                    </a:p>
                  </a:txBody>
                  <a:tcPr>
                    <a:solidFill>
                      <a:srgbClr val="0EA5A6"/>
                    </a:solidFill>
                  </a:tcPr>
                </a:tc>
                <a:tc>
                  <a:txBody>
                    <a:bodyPr/>
                    <a:lstStyle/>
                    <a:p>
                      <a:r>
                        <a:rPr sz="700" b="1">
                          <a:solidFill>
                            <a:srgbClr val="FFFFFF"/>
                          </a:solidFill>
                          <a:latin typeface="Arial"/>
                        </a:rPr>
                        <a:t>SMOTE</a:t>
                      </a:r>
                    </a:p>
                  </a:txBody>
                  <a:tcPr>
                    <a:solidFill>
                      <a:srgbClr val="0EA5A6"/>
                    </a:solidFill>
                  </a:tcPr>
                </a:tc>
                <a:tc>
                  <a:txBody>
                    <a:bodyPr/>
                    <a:lstStyle/>
                    <a:p>
                      <a:r>
                        <a:rPr sz="700" b="1">
                          <a:solidFill>
                            <a:srgbClr val="FFFFFF"/>
                          </a:solidFill>
                          <a:latin typeface="Arial"/>
                        </a:rPr>
                        <a:t>CTGAN</a:t>
                      </a:r>
                    </a:p>
                  </a:txBody>
                  <a:tcPr>
                    <a:solidFill>
                      <a:srgbClr val="0EA5A6"/>
                    </a:solidFill>
                  </a:tcPr>
                </a:tc>
                <a:tc>
                  <a:txBody>
                    <a:bodyPr/>
                    <a:lstStyle/>
                    <a:p>
                      <a:r>
                        <a:rPr sz="700" b="1">
                          <a:solidFill>
                            <a:srgbClr val="FFFFFF"/>
                          </a:solidFill>
                          <a:latin typeface="Arial"/>
                        </a:rPr>
                        <a:t>TVAE</a:t>
                      </a:r>
                    </a:p>
                  </a:txBody>
                  <a:tcPr>
                    <a:solidFill>
                      <a:srgbClr val="0EA5A6"/>
                    </a:solidFill>
                  </a:tcPr>
                </a:tc>
                <a:tc>
                  <a:txBody>
                    <a:bodyPr/>
                    <a:lstStyle/>
                    <a:p>
                      <a:r>
                        <a:rPr sz="700" b="1">
                          <a:solidFill>
                            <a:srgbClr val="FFFFFF"/>
                          </a:solidFill>
                          <a:latin typeface="Arial"/>
                        </a:rPr>
                        <a:t>NF</a:t>
                      </a:r>
                    </a:p>
                  </a:txBody>
                  <a:tcPr>
                    <a:solidFill>
                      <a:srgbClr val="0EA5A6"/>
                    </a:solidFill>
                  </a:tcPr>
                </a:tc>
                <a:tc>
                  <a:txBody>
                    <a:bodyPr/>
                    <a:lstStyle/>
                    <a:p>
                      <a:r>
                        <a:rPr sz="700" b="1">
                          <a:solidFill>
                            <a:srgbClr val="FFFFFF"/>
                          </a:solidFill>
                          <a:latin typeface="Arial"/>
                        </a:rPr>
                        <a:t>RTVAE</a:t>
                      </a:r>
                    </a:p>
                  </a:txBody>
                  <a:tcPr>
                    <a:solidFill>
                      <a:srgbClr val="0EA5A6"/>
                    </a:solidFill>
                  </a:tcPr>
                </a:tc>
                <a:tc>
                  <a:txBody>
                    <a:bodyPr/>
                    <a:lstStyle/>
                    <a:p>
                      <a:r>
                        <a:rPr sz="700" b="1">
                          <a:solidFill>
                            <a:srgbClr val="FFFFFF"/>
                          </a:solidFill>
                          <a:latin typeface="Arial"/>
                        </a:rPr>
                        <a:t>TabDDPM</a:t>
                      </a:r>
                    </a:p>
                  </a:txBody>
                  <a:tcPr>
                    <a:solidFill>
                      <a:srgbClr val="0EA5A6"/>
                    </a:solidFill>
                  </a:tcPr>
                </a:tc>
                <a:tc>
                  <a:txBody>
                    <a:bodyPr/>
                    <a:lstStyle/>
                    <a:p>
                      <a:r>
                        <a:rPr sz="700" b="1">
                          <a:solidFill>
                            <a:srgbClr val="FFFFFF"/>
                          </a:solidFill>
                          <a:latin typeface="Arial"/>
                        </a:rPr>
                        <a:t>TabPFGen</a:t>
                      </a:r>
                    </a:p>
                  </a:txBody>
                  <a:tcPr>
                    <a:solidFill>
                      <a:srgbClr val="0EA5A6"/>
                    </a:solidFill>
                  </a:tcPr>
                </a:tc>
                <a:extLst>
                  <a:ext uri="{0D108BD9-81ED-4DB2-BD59-A6C34878D82A}">
                    <a16:rowId xmlns:a16="http://schemas.microsoft.com/office/drawing/2014/main" val="10000"/>
                  </a:ext>
                </a:extLst>
              </a:tr>
              <a:tr h="356616">
                <a:tc>
                  <a:txBody>
                    <a:bodyPr/>
                    <a:lstStyle/>
                    <a:p>
                      <a:r>
                        <a:rPr sz="700">
                          <a:solidFill>
                            <a:srgbClr val="0F172A"/>
                          </a:solidFill>
                          <a:latin typeface="Arial"/>
                        </a:rPr>
                        <a:t>XGB</a:t>
                      </a:r>
                    </a:p>
                  </a:txBody>
                  <a:tcPr/>
                </a:tc>
                <a:tc>
                  <a:txBody>
                    <a:bodyPr/>
                    <a:lstStyle/>
                    <a:p>
                      <a:r>
                        <a:rPr sz="700">
                          <a:solidFill>
                            <a:srgbClr val="0F172A"/>
                          </a:solidFill>
                          <a:latin typeface="Arial"/>
                        </a:rPr>
                        <a:t>-0.015</a:t>
                      </a:r>
                    </a:p>
                  </a:txBody>
                  <a:tcPr/>
                </a:tc>
                <a:tc>
                  <a:txBody>
                    <a:bodyPr/>
                    <a:lstStyle/>
                    <a:p>
                      <a:r>
                        <a:rPr sz="700">
                          <a:solidFill>
                            <a:srgbClr val="0F172A"/>
                          </a:solidFill>
                          <a:latin typeface="Arial"/>
                        </a:rPr>
                        <a:t>-0.007</a:t>
                      </a:r>
                    </a:p>
                  </a:txBody>
                  <a:tcPr/>
                </a:tc>
                <a:tc>
                  <a:txBody>
                    <a:bodyPr/>
                    <a:lstStyle/>
                    <a:p>
                      <a:r>
                        <a:rPr sz="700">
                          <a:solidFill>
                            <a:srgbClr val="0F172A"/>
                          </a:solidFill>
                          <a:latin typeface="Arial"/>
                        </a:rPr>
                        <a:t>-0.011</a:t>
                      </a:r>
                    </a:p>
                  </a:txBody>
                  <a:tcPr/>
                </a:tc>
                <a:tc>
                  <a:txBody>
                    <a:bodyPr/>
                    <a:lstStyle/>
                    <a:p>
                      <a:r>
                        <a:rPr sz="700">
                          <a:solidFill>
                            <a:srgbClr val="0F172A"/>
                          </a:solidFill>
                          <a:latin typeface="Arial"/>
                        </a:rPr>
                        <a:t>-0.012</a:t>
                      </a:r>
                    </a:p>
                  </a:txBody>
                  <a:tcPr/>
                </a:tc>
                <a:tc>
                  <a:txBody>
                    <a:bodyPr/>
                    <a:lstStyle/>
                    <a:p>
                      <a:r>
                        <a:rPr sz="700">
                          <a:solidFill>
                            <a:srgbClr val="0F172A"/>
                          </a:solidFill>
                          <a:latin typeface="Arial"/>
                        </a:rPr>
                        <a:t>-0.011</a:t>
                      </a:r>
                    </a:p>
                  </a:txBody>
                  <a:tcPr/>
                </a:tc>
                <a:tc>
                  <a:txBody>
                    <a:bodyPr/>
                    <a:lstStyle/>
                    <a:p>
                      <a:r>
                        <a:rPr sz="700">
                          <a:solidFill>
                            <a:srgbClr val="0F172A"/>
                          </a:solidFill>
                          <a:latin typeface="Arial"/>
                        </a:rPr>
                        <a:t>-0.018</a:t>
                      </a:r>
                    </a:p>
                  </a:txBody>
                  <a:tcPr/>
                </a:tc>
                <a:tc>
                  <a:txBody>
                    <a:bodyPr/>
                    <a:lstStyle/>
                    <a:p>
                      <a:r>
                        <a:rPr sz="700">
                          <a:solidFill>
                            <a:srgbClr val="0F172A"/>
                          </a:solidFill>
                          <a:latin typeface="Arial"/>
                        </a:rPr>
                        <a:t>-0.022</a:t>
                      </a:r>
                    </a:p>
                  </a:txBody>
                  <a:tcPr/>
                </a:tc>
                <a:extLst>
                  <a:ext uri="{0D108BD9-81ED-4DB2-BD59-A6C34878D82A}">
                    <a16:rowId xmlns:a16="http://schemas.microsoft.com/office/drawing/2014/main" val="10001"/>
                  </a:ext>
                </a:extLst>
              </a:tr>
              <a:tr h="356616">
                <a:tc>
                  <a:txBody>
                    <a:bodyPr/>
                    <a:lstStyle/>
                    <a:p>
                      <a:r>
                        <a:rPr sz="700">
                          <a:solidFill>
                            <a:srgbClr val="0F172A"/>
                          </a:solidFill>
                          <a:latin typeface="Arial"/>
                        </a:rPr>
                        <a:t>RF</a:t>
                      </a:r>
                    </a:p>
                  </a:txBody>
                  <a:tcPr>
                    <a:solidFill>
                      <a:srgbClr val="F8FAFC"/>
                    </a:solidFill>
                  </a:tcPr>
                </a:tc>
                <a:tc>
                  <a:txBody>
                    <a:bodyPr/>
                    <a:lstStyle/>
                    <a:p>
                      <a:r>
                        <a:rPr sz="700">
                          <a:solidFill>
                            <a:srgbClr val="0F172A"/>
                          </a:solidFill>
                          <a:latin typeface="Arial"/>
                        </a:rPr>
                        <a:t>-0.001</a:t>
                      </a:r>
                    </a:p>
                  </a:txBody>
                  <a:tcPr>
                    <a:solidFill>
                      <a:srgbClr val="F8FAFC"/>
                    </a:solidFill>
                  </a:tcPr>
                </a:tc>
                <a:tc>
                  <a:txBody>
                    <a:bodyPr/>
                    <a:lstStyle/>
                    <a:p>
                      <a:r>
                        <a:rPr sz="700">
                          <a:solidFill>
                            <a:srgbClr val="0F172A"/>
                          </a:solidFill>
                          <a:latin typeface="Arial"/>
                        </a:rPr>
                        <a:t>+0.001</a:t>
                      </a:r>
                    </a:p>
                  </a:txBody>
                  <a:tcPr>
                    <a:solidFill>
                      <a:srgbClr val="F8FAFC"/>
                    </a:solidFill>
                  </a:tcPr>
                </a:tc>
                <a:tc>
                  <a:txBody>
                    <a:bodyPr/>
                    <a:lstStyle/>
                    <a:p>
                      <a:r>
                        <a:rPr sz="700">
                          <a:solidFill>
                            <a:srgbClr val="0F172A"/>
                          </a:solidFill>
                          <a:latin typeface="Arial"/>
                        </a:rPr>
                        <a:t>-0.007</a:t>
                      </a:r>
                    </a:p>
                  </a:txBody>
                  <a:tcPr>
                    <a:solidFill>
                      <a:srgbClr val="F8FAFC"/>
                    </a:solidFill>
                  </a:tcPr>
                </a:tc>
                <a:tc>
                  <a:txBody>
                    <a:bodyPr/>
                    <a:lstStyle/>
                    <a:p>
                      <a:r>
                        <a:rPr sz="700">
                          <a:solidFill>
                            <a:srgbClr val="0F172A"/>
                          </a:solidFill>
                          <a:latin typeface="Arial"/>
                        </a:rPr>
                        <a:t>+0.000</a:t>
                      </a:r>
                    </a:p>
                  </a:txBody>
                  <a:tcPr>
                    <a:solidFill>
                      <a:srgbClr val="F8FAFC"/>
                    </a:solidFill>
                  </a:tcPr>
                </a:tc>
                <a:tc>
                  <a:txBody>
                    <a:bodyPr/>
                    <a:lstStyle/>
                    <a:p>
                      <a:r>
                        <a:rPr sz="700">
                          <a:solidFill>
                            <a:srgbClr val="0F172A"/>
                          </a:solidFill>
                          <a:latin typeface="Arial"/>
                        </a:rPr>
                        <a:t>-0.008</a:t>
                      </a:r>
                    </a:p>
                  </a:txBody>
                  <a:tcPr>
                    <a:solidFill>
                      <a:srgbClr val="F8FAFC"/>
                    </a:solidFill>
                  </a:tcPr>
                </a:tc>
                <a:tc>
                  <a:txBody>
                    <a:bodyPr/>
                    <a:lstStyle/>
                    <a:p>
                      <a:r>
                        <a:rPr sz="700">
                          <a:solidFill>
                            <a:srgbClr val="0F172A"/>
                          </a:solidFill>
                          <a:latin typeface="Arial"/>
                        </a:rPr>
                        <a:t>-0.004</a:t>
                      </a:r>
                    </a:p>
                  </a:txBody>
                  <a:tcPr>
                    <a:solidFill>
                      <a:srgbClr val="F8FAFC"/>
                    </a:solidFill>
                  </a:tcPr>
                </a:tc>
                <a:tc>
                  <a:txBody>
                    <a:bodyPr/>
                    <a:lstStyle/>
                    <a:p>
                      <a:r>
                        <a:rPr sz="700">
                          <a:solidFill>
                            <a:srgbClr val="0F172A"/>
                          </a:solidFill>
                          <a:latin typeface="Arial"/>
                        </a:rPr>
                        <a:t>-0.004</a:t>
                      </a:r>
                    </a:p>
                  </a:txBody>
                  <a:tcPr>
                    <a:solidFill>
                      <a:srgbClr val="F8FAFC"/>
                    </a:solidFill>
                  </a:tcPr>
                </a:tc>
                <a:extLst>
                  <a:ext uri="{0D108BD9-81ED-4DB2-BD59-A6C34878D82A}">
                    <a16:rowId xmlns:a16="http://schemas.microsoft.com/office/drawing/2014/main" val="10002"/>
                  </a:ext>
                </a:extLst>
              </a:tr>
              <a:tr h="356616">
                <a:tc>
                  <a:txBody>
                    <a:bodyPr/>
                    <a:lstStyle/>
                    <a:p>
                      <a:r>
                        <a:rPr sz="700">
                          <a:solidFill>
                            <a:srgbClr val="0F172A"/>
                          </a:solidFill>
                          <a:latin typeface="Arial"/>
                        </a:rPr>
                        <a:t>LR</a:t>
                      </a:r>
                    </a:p>
                  </a:txBody>
                  <a:tcPr/>
                </a:tc>
                <a:tc>
                  <a:txBody>
                    <a:bodyPr/>
                    <a:lstStyle/>
                    <a:p>
                      <a:r>
                        <a:rPr sz="700">
                          <a:solidFill>
                            <a:srgbClr val="0F172A"/>
                          </a:solidFill>
                          <a:latin typeface="Arial"/>
                        </a:rPr>
                        <a:t>+0.002</a:t>
                      </a:r>
                    </a:p>
                  </a:txBody>
                  <a:tcPr/>
                </a:tc>
                <a:tc>
                  <a:txBody>
                    <a:bodyPr/>
                    <a:lstStyle/>
                    <a:p>
                      <a:r>
                        <a:rPr sz="700">
                          <a:solidFill>
                            <a:srgbClr val="0F172A"/>
                          </a:solidFill>
                          <a:latin typeface="Arial"/>
                        </a:rPr>
                        <a:t>-0.012</a:t>
                      </a:r>
                    </a:p>
                  </a:txBody>
                  <a:tcPr/>
                </a:tc>
                <a:tc>
                  <a:txBody>
                    <a:bodyPr/>
                    <a:lstStyle/>
                    <a:p>
                      <a:r>
                        <a:rPr sz="700">
                          <a:solidFill>
                            <a:srgbClr val="0F172A"/>
                          </a:solidFill>
                          <a:latin typeface="Arial"/>
                        </a:rPr>
                        <a:t>-0.002</a:t>
                      </a:r>
                    </a:p>
                  </a:txBody>
                  <a:tcPr/>
                </a:tc>
                <a:tc>
                  <a:txBody>
                    <a:bodyPr/>
                    <a:lstStyle/>
                    <a:p>
                      <a:r>
                        <a:rPr sz="700">
                          <a:solidFill>
                            <a:srgbClr val="0F172A"/>
                          </a:solidFill>
                          <a:latin typeface="Arial"/>
                        </a:rPr>
                        <a:t>-0.007</a:t>
                      </a:r>
                    </a:p>
                  </a:txBody>
                  <a:tcPr/>
                </a:tc>
                <a:tc>
                  <a:txBody>
                    <a:bodyPr/>
                    <a:lstStyle/>
                    <a:p>
                      <a:r>
                        <a:rPr sz="700">
                          <a:solidFill>
                            <a:srgbClr val="0F172A"/>
                          </a:solidFill>
                          <a:latin typeface="Arial"/>
                        </a:rPr>
                        <a:t>-0.002</a:t>
                      </a:r>
                    </a:p>
                  </a:txBody>
                  <a:tcPr/>
                </a:tc>
                <a:tc>
                  <a:txBody>
                    <a:bodyPr/>
                    <a:lstStyle/>
                    <a:p>
                      <a:r>
                        <a:rPr sz="700">
                          <a:solidFill>
                            <a:srgbClr val="0F172A"/>
                          </a:solidFill>
                          <a:latin typeface="Arial"/>
                        </a:rPr>
                        <a:t>+0.012</a:t>
                      </a:r>
                    </a:p>
                  </a:txBody>
                  <a:tcPr/>
                </a:tc>
                <a:tc>
                  <a:txBody>
                    <a:bodyPr/>
                    <a:lstStyle/>
                    <a:p>
                      <a:r>
                        <a:rPr sz="700">
                          <a:solidFill>
                            <a:srgbClr val="0F172A"/>
                          </a:solidFill>
                          <a:latin typeface="Arial"/>
                        </a:rPr>
                        <a:t>+0.002</a:t>
                      </a:r>
                    </a:p>
                  </a:txBody>
                  <a:tcPr/>
                </a:tc>
                <a:extLst>
                  <a:ext uri="{0D108BD9-81ED-4DB2-BD59-A6C34878D82A}">
                    <a16:rowId xmlns:a16="http://schemas.microsoft.com/office/drawing/2014/main" val="10003"/>
                  </a:ext>
                </a:extLst>
              </a:tr>
              <a:tr h="356616">
                <a:tc>
                  <a:txBody>
                    <a:bodyPr/>
                    <a:lstStyle/>
                    <a:p>
                      <a:r>
                        <a:rPr sz="700">
                          <a:solidFill>
                            <a:srgbClr val="0F172A"/>
                          </a:solidFill>
                          <a:latin typeface="Arial"/>
                        </a:rPr>
                        <a:t>TABPFN</a:t>
                      </a:r>
                    </a:p>
                  </a:txBody>
                  <a:tcPr>
                    <a:solidFill>
                      <a:srgbClr val="F8FAFC"/>
                    </a:solidFill>
                  </a:tcPr>
                </a:tc>
                <a:tc>
                  <a:txBody>
                    <a:bodyPr/>
                    <a:lstStyle/>
                    <a:p>
                      <a:r>
                        <a:rPr sz="700">
                          <a:solidFill>
                            <a:srgbClr val="0F172A"/>
                          </a:solidFill>
                          <a:latin typeface="Arial"/>
                        </a:rPr>
                        <a:t>-0.004</a:t>
                      </a:r>
                    </a:p>
                  </a:txBody>
                  <a:tcPr>
                    <a:solidFill>
                      <a:srgbClr val="F8FAFC"/>
                    </a:solidFill>
                  </a:tcPr>
                </a:tc>
                <a:tc>
                  <a:txBody>
                    <a:bodyPr/>
                    <a:lstStyle/>
                    <a:p>
                      <a:r>
                        <a:rPr sz="700">
                          <a:solidFill>
                            <a:srgbClr val="0F172A"/>
                          </a:solidFill>
                          <a:latin typeface="Arial"/>
                        </a:rPr>
                        <a:t>-0.000</a:t>
                      </a:r>
                    </a:p>
                  </a:txBody>
                  <a:tcPr>
                    <a:solidFill>
                      <a:srgbClr val="F8FAFC"/>
                    </a:solidFill>
                  </a:tcPr>
                </a:tc>
                <a:tc>
                  <a:txBody>
                    <a:bodyPr/>
                    <a:lstStyle/>
                    <a:p>
                      <a:r>
                        <a:rPr sz="700">
                          <a:solidFill>
                            <a:srgbClr val="0F172A"/>
                          </a:solidFill>
                          <a:latin typeface="Arial"/>
                        </a:rPr>
                        <a:t>-0.003</a:t>
                      </a:r>
                    </a:p>
                  </a:txBody>
                  <a:tcPr>
                    <a:solidFill>
                      <a:srgbClr val="F8FAFC"/>
                    </a:solidFill>
                  </a:tcPr>
                </a:tc>
                <a:tc>
                  <a:txBody>
                    <a:bodyPr/>
                    <a:lstStyle/>
                    <a:p>
                      <a:r>
                        <a:rPr sz="700">
                          <a:solidFill>
                            <a:srgbClr val="0F172A"/>
                          </a:solidFill>
                          <a:latin typeface="Arial"/>
                        </a:rPr>
                        <a:t>-0.002</a:t>
                      </a:r>
                    </a:p>
                  </a:txBody>
                  <a:tcPr>
                    <a:solidFill>
                      <a:srgbClr val="F8FAFC"/>
                    </a:solidFill>
                  </a:tcPr>
                </a:tc>
                <a:tc>
                  <a:txBody>
                    <a:bodyPr/>
                    <a:lstStyle/>
                    <a:p>
                      <a:r>
                        <a:rPr sz="700">
                          <a:solidFill>
                            <a:srgbClr val="0F172A"/>
                          </a:solidFill>
                          <a:latin typeface="Arial"/>
                        </a:rPr>
                        <a:t>-0.003</a:t>
                      </a:r>
                    </a:p>
                  </a:txBody>
                  <a:tcPr>
                    <a:solidFill>
                      <a:srgbClr val="F8FAFC"/>
                    </a:solidFill>
                  </a:tcPr>
                </a:tc>
                <a:tc>
                  <a:txBody>
                    <a:bodyPr/>
                    <a:lstStyle/>
                    <a:p>
                      <a:r>
                        <a:rPr sz="700">
                          <a:solidFill>
                            <a:srgbClr val="0F172A"/>
                          </a:solidFill>
                          <a:latin typeface="Arial"/>
                        </a:rPr>
                        <a:t>+0.002</a:t>
                      </a:r>
                    </a:p>
                  </a:txBody>
                  <a:tcPr>
                    <a:solidFill>
                      <a:srgbClr val="F8FAFC"/>
                    </a:solidFill>
                  </a:tcPr>
                </a:tc>
                <a:tc>
                  <a:txBody>
                    <a:bodyPr/>
                    <a:lstStyle/>
                    <a:p>
                      <a:r>
                        <a:rPr sz="700">
                          <a:solidFill>
                            <a:srgbClr val="0F172A"/>
                          </a:solidFill>
                          <a:latin typeface="Arial"/>
                        </a:rPr>
                        <a:t>-0.009</a:t>
                      </a:r>
                    </a:p>
                  </a:txBody>
                  <a:tcPr>
                    <a:solidFill>
                      <a:srgbClr val="F8FAFC"/>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85800" y="5989320"/>
            <a:ext cx="10607040" cy="310896"/>
          </a:xfrm>
          <a:prstGeom prst="rect">
            <a:avLst/>
          </a:prstGeom>
          <a:noFill/>
        </p:spPr>
        <p:txBody>
          <a:bodyPr wrap="square">
            <a:normAutofit/>
          </a:bodyPr>
          <a:lstStyle/>
          <a:p>
            <a:r>
              <a:rPr sz="1180" b="0">
                <a:solidFill>
                  <a:srgbClr val="475569"/>
                </a:solidFill>
                <a:latin typeface="Arial"/>
              </a:rPr>
              <a:t>Positive delta means my reproduced AUC is higher than the paper. NA marks a cell that is not present in the current summary file.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Main table comparison: replacement</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Average AUC when classifiers train only on synthetic data</a:t>
            </a:r>
          </a:p>
        </p:txBody>
      </p:sp>
      <p:sp>
        <p:nvSpPr>
          <p:cNvPr id="4" name="TextBox 3"/>
          <p:cNvSpPr txBox="1"/>
          <p:nvPr/>
        </p:nvSpPr>
        <p:spPr>
          <a:xfrm>
            <a:off x="502920" y="932688"/>
            <a:ext cx="5349240" cy="228600"/>
          </a:xfrm>
          <a:prstGeom prst="rect">
            <a:avLst/>
          </a:prstGeom>
          <a:noFill/>
        </p:spPr>
        <p:txBody>
          <a:bodyPr wrap="square">
            <a:normAutofit fontScale="92500" lnSpcReduction="20000"/>
          </a:bodyPr>
          <a:lstStyle/>
          <a:p>
            <a:r>
              <a:rPr sz="1220" b="1">
                <a:solidFill>
                  <a:srgbClr val="0F172A"/>
                </a:solidFill>
                <a:latin typeface="Arial"/>
              </a:rPr>
              <a:t>Paper</a:t>
            </a:r>
          </a:p>
        </p:txBody>
      </p:sp>
      <p:graphicFrame>
        <p:nvGraphicFramePr>
          <p:cNvPr id="5" name="Table 4"/>
          <p:cNvGraphicFramePr>
            <a:graphicFrameLocks noGrp="1"/>
          </p:cNvGraphicFramePr>
          <p:nvPr/>
        </p:nvGraphicFramePr>
        <p:xfrm>
          <a:off x="502920" y="1234440"/>
          <a:ext cx="5349240" cy="1783080"/>
        </p:xfrm>
        <a:graphic>
          <a:graphicData uri="http://schemas.openxmlformats.org/drawingml/2006/table">
            <a:tbl>
              <a:tblPr firstRow="1" bandRow="1">
                <a:tableStyleId>{5C22544A-7EE6-4342-B048-85BDC9FD1C3A}</a:tableStyleId>
              </a:tblPr>
              <a:tblGrid>
                <a:gridCol w="59436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gridCol w="594360">
                  <a:extLst>
                    <a:ext uri="{9D8B030D-6E8A-4147-A177-3AD203B41FA5}">
                      <a16:colId xmlns:a16="http://schemas.microsoft.com/office/drawing/2014/main" val="20008"/>
                    </a:ext>
                  </a:extLst>
                </a:gridCol>
              </a:tblGrid>
              <a:tr h="356616">
                <a:tc>
                  <a:txBody>
                    <a:bodyPr/>
                    <a:lstStyle/>
                    <a:p>
                      <a:r>
                        <a:rPr sz="720" b="1">
                          <a:solidFill>
                            <a:srgbClr val="FFFFFF"/>
                          </a:solidFill>
                          <a:latin typeface="Arial"/>
                        </a:rPr>
                        <a:t>Model</a:t>
                      </a:r>
                    </a:p>
                  </a:txBody>
                  <a:tcPr>
                    <a:solidFill>
                      <a:srgbClr val="0F172A"/>
                    </a:solidFill>
                  </a:tcPr>
                </a:tc>
                <a:tc>
                  <a:txBody>
                    <a:bodyPr/>
                    <a:lstStyle/>
                    <a:p>
                      <a:r>
                        <a:rPr sz="720" b="1">
                          <a:solidFill>
                            <a:srgbClr val="FFFFFF"/>
                          </a:solidFill>
                          <a:latin typeface="Arial"/>
                        </a:rPr>
                        <a:t>Original</a:t>
                      </a:r>
                    </a:p>
                  </a:txBody>
                  <a:tcPr>
                    <a:solidFill>
                      <a:srgbClr val="0F172A"/>
                    </a:solidFill>
                  </a:tcPr>
                </a:tc>
                <a:tc>
                  <a:txBody>
                    <a:bodyPr/>
                    <a:lstStyle/>
                    <a:p>
                      <a:r>
                        <a:rPr sz="720" b="1">
                          <a:solidFill>
                            <a:srgbClr val="FFFFFF"/>
                          </a:solidFill>
                          <a:latin typeface="Arial"/>
                        </a:rPr>
                        <a:t>SMOTE</a:t>
                      </a:r>
                    </a:p>
                  </a:txBody>
                  <a:tcPr>
                    <a:solidFill>
                      <a:srgbClr val="0F172A"/>
                    </a:solidFill>
                  </a:tcPr>
                </a:tc>
                <a:tc>
                  <a:txBody>
                    <a:bodyPr/>
                    <a:lstStyle/>
                    <a:p>
                      <a:r>
                        <a:rPr sz="720" b="1">
                          <a:solidFill>
                            <a:srgbClr val="FFFFFF"/>
                          </a:solidFill>
                          <a:latin typeface="Arial"/>
                        </a:rPr>
                        <a:t>CTGAN</a:t>
                      </a:r>
                    </a:p>
                  </a:txBody>
                  <a:tcPr>
                    <a:solidFill>
                      <a:srgbClr val="0F172A"/>
                    </a:solidFill>
                  </a:tcPr>
                </a:tc>
                <a:tc>
                  <a:txBody>
                    <a:bodyPr/>
                    <a:lstStyle/>
                    <a:p>
                      <a:r>
                        <a:rPr sz="720" b="1">
                          <a:solidFill>
                            <a:srgbClr val="FFFFFF"/>
                          </a:solidFill>
                          <a:latin typeface="Arial"/>
                        </a:rPr>
                        <a:t>TVAE</a:t>
                      </a:r>
                    </a:p>
                  </a:txBody>
                  <a:tcPr>
                    <a:solidFill>
                      <a:srgbClr val="0F172A"/>
                    </a:solidFill>
                  </a:tcPr>
                </a:tc>
                <a:tc>
                  <a:txBody>
                    <a:bodyPr/>
                    <a:lstStyle/>
                    <a:p>
                      <a:r>
                        <a:rPr sz="720" b="1">
                          <a:solidFill>
                            <a:srgbClr val="FFFFFF"/>
                          </a:solidFill>
                          <a:latin typeface="Arial"/>
                        </a:rPr>
                        <a:t>NF</a:t>
                      </a:r>
                    </a:p>
                  </a:txBody>
                  <a:tcPr>
                    <a:solidFill>
                      <a:srgbClr val="0F172A"/>
                    </a:solidFill>
                  </a:tcPr>
                </a:tc>
                <a:tc>
                  <a:txBody>
                    <a:bodyPr/>
                    <a:lstStyle/>
                    <a:p>
                      <a:r>
                        <a:rPr sz="720" b="1">
                          <a:solidFill>
                            <a:srgbClr val="FFFFFF"/>
                          </a:solidFill>
                          <a:latin typeface="Arial"/>
                        </a:rPr>
                        <a:t>RTVAE</a:t>
                      </a:r>
                    </a:p>
                  </a:txBody>
                  <a:tcPr>
                    <a:solidFill>
                      <a:srgbClr val="0F172A"/>
                    </a:solidFill>
                  </a:tcPr>
                </a:tc>
                <a:tc>
                  <a:txBody>
                    <a:bodyPr/>
                    <a:lstStyle/>
                    <a:p>
                      <a:r>
                        <a:rPr sz="720" b="1">
                          <a:solidFill>
                            <a:srgbClr val="FFFFFF"/>
                          </a:solidFill>
                          <a:latin typeface="Arial"/>
                        </a:rPr>
                        <a:t>TabDDPM</a:t>
                      </a:r>
                    </a:p>
                  </a:txBody>
                  <a:tcPr>
                    <a:solidFill>
                      <a:srgbClr val="0F172A"/>
                    </a:solidFill>
                  </a:tcPr>
                </a:tc>
                <a:tc>
                  <a:txBody>
                    <a:bodyPr/>
                    <a:lstStyle/>
                    <a:p>
                      <a:r>
                        <a:rPr sz="720" b="1">
                          <a:solidFill>
                            <a:srgbClr val="FFFFFF"/>
                          </a:solidFill>
                          <a:latin typeface="Arial"/>
                        </a:rPr>
                        <a:t>TabPFGen</a:t>
                      </a:r>
                    </a:p>
                  </a:txBody>
                  <a:tcPr>
                    <a:solidFill>
                      <a:srgbClr val="0F172A"/>
                    </a:solidFill>
                  </a:tcPr>
                </a:tc>
                <a:extLst>
                  <a:ext uri="{0D108BD9-81ED-4DB2-BD59-A6C34878D82A}">
                    <a16:rowId xmlns:a16="http://schemas.microsoft.com/office/drawing/2014/main" val="10000"/>
                  </a:ext>
                </a:extLst>
              </a:tr>
              <a:tr h="356616">
                <a:tc>
                  <a:txBody>
                    <a:bodyPr/>
                    <a:lstStyle/>
                    <a:p>
                      <a:r>
                        <a:rPr sz="720">
                          <a:solidFill>
                            <a:srgbClr val="0F172A"/>
                          </a:solidFill>
                          <a:latin typeface="Arial"/>
                        </a:rPr>
                        <a:t>XGB</a:t>
                      </a:r>
                    </a:p>
                  </a:txBody>
                  <a:tcPr/>
                </a:tc>
                <a:tc>
                  <a:txBody>
                    <a:bodyPr/>
                    <a:lstStyle/>
                    <a:p>
                      <a:r>
                        <a:rPr sz="720">
                          <a:solidFill>
                            <a:srgbClr val="0F172A"/>
                          </a:solidFill>
                          <a:latin typeface="Arial"/>
                        </a:rPr>
                        <a:t>NA</a:t>
                      </a:r>
                    </a:p>
                  </a:txBody>
                  <a:tcPr/>
                </a:tc>
                <a:tc>
                  <a:txBody>
                    <a:bodyPr/>
                    <a:lstStyle/>
                    <a:p>
                      <a:r>
                        <a:rPr sz="720">
                          <a:solidFill>
                            <a:srgbClr val="0F172A"/>
                          </a:solidFill>
                          <a:latin typeface="Arial"/>
                        </a:rPr>
                        <a:t>0.907</a:t>
                      </a:r>
                    </a:p>
                  </a:txBody>
                  <a:tcPr/>
                </a:tc>
                <a:tc>
                  <a:txBody>
                    <a:bodyPr/>
                    <a:lstStyle/>
                    <a:p>
                      <a:r>
                        <a:rPr sz="720">
                          <a:solidFill>
                            <a:srgbClr val="0F172A"/>
                          </a:solidFill>
                          <a:latin typeface="Arial"/>
                        </a:rPr>
                        <a:t>0.842</a:t>
                      </a:r>
                    </a:p>
                  </a:txBody>
                  <a:tcPr/>
                </a:tc>
                <a:tc>
                  <a:txBody>
                    <a:bodyPr/>
                    <a:lstStyle/>
                    <a:p>
                      <a:r>
                        <a:rPr sz="720">
                          <a:solidFill>
                            <a:srgbClr val="0F172A"/>
                          </a:solidFill>
                          <a:latin typeface="Arial"/>
                        </a:rPr>
                        <a:t>0.858</a:t>
                      </a:r>
                    </a:p>
                  </a:txBody>
                  <a:tcPr/>
                </a:tc>
                <a:tc>
                  <a:txBody>
                    <a:bodyPr/>
                    <a:lstStyle/>
                    <a:p>
                      <a:r>
                        <a:rPr sz="720">
                          <a:solidFill>
                            <a:srgbClr val="0F172A"/>
                          </a:solidFill>
                          <a:latin typeface="Arial"/>
                        </a:rPr>
                        <a:t>0.700</a:t>
                      </a:r>
                    </a:p>
                  </a:txBody>
                  <a:tcPr/>
                </a:tc>
                <a:tc>
                  <a:txBody>
                    <a:bodyPr/>
                    <a:lstStyle/>
                    <a:p>
                      <a:r>
                        <a:rPr sz="720">
                          <a:solidFill>
                            <a:srgbClr val="0F172A"/>
                          </a:solidFill>
                          <a:latin typeface="Arial"/>
                        </a:rPr>
                        <a:t>0.795</a:t>
                      </a:r>
                    </a:p>
                  </a:txBody>
                  <a:tcPr/>
                </a:tc>
                <a:tc>
                  <a:txBody>
                    <a:bodyPr/>
                    <a:lstStyle/>
                    <a:p>
                      <a:r>
                        <a:rPr sz="720">
                          <a:solidFill>
                            <a:srgbClr val="0F172A"/>
                          </a:solidFill>
                          <a:latin typeface="Arial"/>
                        </a:rPr>
                        <a:t>0.812</a:t>
                      </a:r>
                    </a:p>
                  </a:txBody>
                  <a:tcPr/>
                </a:tc>
                <a:tc>
                  <a:txBody>
                    <a:bodyPr/>
                    <a:lstStyle/>
                    <a:p>
                      <a:r>
                        <a:rPr sz="720" dirty="0">
                          <a:solidFill>
                            <a:srgbClr val="0F172A"/>
                          </a:solidFill>
                          <a:latin typeface="Arial"/>
                        </a:rPr>
                        <a:t>0.927</a:t>
                      </a:r>
                    </a:p>
                  </a:txBody>
                  <a:tcPr/>
                </a:tc>
                <a:extLst>
                  <a:ext uri="{0D108BD9-81ED-4DB2-BD59-A6C34878D82A}">
                    <a16:rowId xmlns:a16="http://schemas.microsoft.com/office/drawing/2014/main" val="10001"/>
                  </a:ext>
                </a:extLst>
              </a:tr>
              <a:tr h="356616">
                <a:tc>
                  <a:txBody>
                    <a:bodyPr/>
                    <a:lstStyle/>
                    <a:p>
                      <a:r>
                        <a:rPr sz="720">
                          <a:solidFill>
                            <a:srgbClr val="0F172A"/>
                          </a:solidFill>
                          <a:latin typeface="Arial"/>
                        </a:rPr>
                        <a:t>RF</a:t>
                      </a:r>
                    </a:p>
                  </a:txBody>
                  <a:tcPr>
                    <a:solidFill>
                      <a:srgbClr val="F8FAFC"/>
                    </a:solidFill>
                  </a:tcPr>
                </a:tc>
                <a:tc>
                  <a:txBody>
                    <a:bodyPr/>
                    <a:lstStyle/>
                    <a:p>
                      <a:r>
                        <a:rPr sz="720">
                          <a:solidFill>
                            <a:srgbClr val="0F172A"/>
                          </a:solidFill>
                          <a:latin typeface="Arial"/>
                        </a:rPr>
                        <a:t>NA</a:t>
                      </a:r>
                    </a:p>
                  </a:txBody>
                  <a:tcPr>
                    <a:solidFill>
                      <a:srgbClr val="F8FAFC"/>
                    </a:solidFill>
                  </a:tcPr>
                </a:tc>
                <a:tc>
                  <a:txBody>
                    <a:bodyPr/>
                    <a:lstStyle/>
                    <a:p>
                      <a:r>
                        <a:rPr sz="720">
                          <a:solidFill>
                            <a:srgbClr val="0F172A"/>
                          </a:solidFill>
                          <a:latin typeface="Arial"/>
                        </a:rPr>
                        <a:t>0.894</a:t>
                      </a:r>
                    </a:p>
                  </a:txBody>
                  <a:tcPr>
                    <a:solidFill>
                      <a:srgbClr val="F8FAFC"/>
                    </a:solidFill>
                  </a:tcPr>
                </a:tc>
                <a:tc>
                  <a:txBody>
                    <a:bodyPr/>
                    <a:lstStyle/>
                    <a:p>
                      <a:r>
                        <a:rPr sz="720">
                          <a:solidFill>
                            <a:srgbClr val="0F172A"/>
                          </a:solidFill>
                          <a:latin typeface="Arial"/>
                        </a:rPr>
                        <a:t>0.837</a:t>
                      </a:r>
                    </a:p>
                  </a:txBody>
                  <a:tcPr>
                    <a:solidFill>
                      <a:srgbClr val="F8FAFC"/>
                    </a:solidFill>
                  </a:tcPr>
                </a:tc>
                <a:tc>
                  <a:txBody>
                    <a:bodyPr/>
                    <a:lstStyle/>
                    <a:p>
                      <a:r>
                        <a:rPr sz="720">
                          <a:solidFill>
                            <a:srgbClr val="0F172A"/>
                          </a:solidFill>
                          <a:latin typeface="Arial"/>
                        </a:rPr>
                        <a:t>0.844</a:t>
                      </a:r>
                    </a:p>
                  </a:txBody>
                  <a:tcPr>
                    <a:solidFill>
                      <a:srgbClr val="F8FAFC"/>
                    </a:solidFill>
                  </a:tcPr>
                </a:tc>
                <a:tc>
                  <a:txBody>
                    <a:bodyPr/>
                    <a:lstStyle/>
                    <a:p>
                      <a:r>
                        <a:rPr sz="720">
                          <a:solidFill>
                            <a:srgbClr val="0F172A"/>
                          </a:solidFill>
                          <a:latin typeface="Arial"/>
                        </a:rPr>
                        <a:t>0.676</a:t>
                      </a:r>
                    </a:p>
                  </a:txBody>
                  <a:tcPr>
                    <a:solidFill>
                      <a:srgbClr val="F8FAFC"/>
                    </a:solidFill>
                  </a:tcPr>
                </a:tc>
                <a:tc>
                  <a:txBody>
                    <a:bodyPr/>
                    <a:lstStyle/>
                    <a:p>
                      <a:r>
                        <a:rPr sz="720">
                          <a:solidFill>
                            <a:srgbClr val="0F172A"/>
                          </a:solidFill>
                          <a:latin typeface="Arial"/>
                        </a:rPr>
                        <a:t>0.774</a:t>
                      </a:r>
                    </a:p>
                  </a:txBody>
                  <a:tcPr>
                    <a:solidFill>
                      <a:srgbClr val="F8FAFC"/>
                    </a:solidFill>
                  </a:tcPr>
                </a:tc>
                <a:tc>
                  <a:txBody>
                    <a:bodyPr/>
                    <a:lstStyle/>
                    <a:p>
                      <a:r>
                        <a:rPr sz="720">
                          <a:solidFill>
                            <a:srgbClr val="0F172A"/>
                          </a:solidFill>
                          <a:latin typeface="Arial"/>
                        </a:rPr>
                        <a:t>0.814</a:t>
                      </a:r>
                    </a:p>
                  </a:txBody>
                  <a:tcPr>
                    <a:solidFill>
                      <a:srgbClr val="F8FAFC"/>
                    </a:solidFill>
                  </a:tcPr>
                </a:tc>
                <a:tc>
                  <a:txBody>
                    <a:bodyPr/>
                    <a:lstStyle/>
                    <a:p>
                      <a:r>
                        <a:rPr sz="720">
                          <a:solidFill>
                            <a:srgbClr val="0F172A"/>
                          </a:solidFill>
                          <a:latin typeface="Arial"/>
                        </a:rPr>
                        <a:t>0.906</a:t>
                      </a:r>
                    </a:p>
                  </a:txBody>
                  <a:tcPr>
                    <a:solidFill>
                      <a:srgbClr val="F8FAFC"/>
                    </a:solidFill>
                  </a:tcPr>
                </a:tc>
                <a:extLst>
                  <a:ext uri="{0D108BD9-81ED-4DB2-BD59-A6C34878D82A}">
                    <a16:rowId xmlns:a16="http://schemas.microsoft.com/office/drawing/2014/main" val="10002"/>
                  </a:ext>
                </a:extLst>
              </a:tr>
              <a:tr h="356616">
                <a:tc>
                  <a:txBody>
                    <a:bodyPr/>
                    <a:lstStyle/>
                    <a:p>
                      <a:r>
                        <a:rPr sz="720">
                          <a:solidFill>
                            <a:srgbClr val="0F172A"/>
                          </a:solidFill>
                          <a:latin typeface="Arial"/>
                        </a:rPr>
                        <a:t>LR</a:t>
                      </a:r>
                    </a:p>
                  </a:txBody>
                  <a:tcPr/>
                </a:tc>
                <a:tc>
                  <a:txBody>
                    <a:bodyPr/>
                    <a:lstStyle/>
                    <a:p>
                      <a:r>
                        <a:rPr sz="720">
                          <a:solidFill>
                            <a:srgbClr val="0F172A"/>
                          </a:solidFill>
                          <a:latin typeface="Arial"/>
                        </a:rPr>
                        <a:t>NA</a:t>
                      </a:r>
                    </a:p>
                  </a:txBody>
                  <a:tcPr/>
                </a:tc>
                <a:tc>
                  <a:txBody>
                    <a:bodyPr/>
                    <a:lstStyle/>
                    <a:p>
                      <a:r>
                        <a:rPr sz="720">
                          <a:solidFill>
                            <a:srgbClr val="0F172A"/>
                          </a:solidFill>
                          <a:latin typeface="Arial"/>
                        </a:rPr>
                        <a:t>0.893</a:t>
                      </a:r>
                    </a:p>
                  </a:txBody>
                  <a:tcPr/>
                </a:tc>
                <a:tc>
                  <a:txBody>
                    <a:bodyPr/>
                    <a:lstStyle/>
                    <a:p>
                      <a:r>
                        <a:rPr sz="720">
                          <a:solidFill>
                            <a:srgbClr val="0F172A"/>
                          </a:solidFill>
                          <a:latin typeface="Arial"/>
                        </a:rPr>
                        <a:t>0.843</a:t>
                      </a:r>
                    </a:p>
                  </a:txBody>
                  <a:tcPr/>
                </a:tc>
                <a:tc>
                  <a:txBody>
                    <a:bodyPr/>
                    <a:lstStyle/>
                    <a:p>
                      <a:r>
                        <a:rPr sz="720">
                          <a:solidFill>
                            <a:srgbClr val="0F172A"/>
                          </a:solidFill>
                          <a:latin typeface="Arial"/>
                        </a:rPr>
                        <a:t>0.873</a:t>
                      </a:r>
                    </a:p>
                  </a:txBody>
                  <a:tcPr/>
                </a:tc>
                <a:tc>
                  <a:txBody>
                    <a:bodyPr/>
                    <a:lstStyle/>
                    <a:p>
                      <a:r>
                        <a:rPr sz="720">
                          <a:solidFill>
                            <a:srgbClr val="0F172A"/>
                          </a:solidFill>
                          <a:latin typeface="Arial"/>
                        </a:rPr>
                        <a:t>0.722</a:t>
                      </a:r>
                    </a:p>
                  </a:txBody>
                  <a:tcPr/>
                </a:tc>
                <a:tc>
                  <a:txBody>
                    <a:bodyPr/>
                    <a:lstStyle/>
                    <a:p>
                      <a:r>
                        <a:rPr sz="720">
                          <a:solidFill>
                            <a:srgbClr val="0F172A"/>
                          </a:solidFill>
                          <a:latin typeface="Arial"/>
                        </a:rPr>
                        <a:t>0.854</a:t>
                      </a:r>
                    </a:p>
                  </a:txBody>
                  <a:tcPr/>
                </a:tc>
                <a:tc>
                  <a:txBody>
                    <a:bodyPr/>
                    <a:lstStyle/>
                    <a:p>
                      <a:r>
                        <a:rPr sz="720">
                          <a:solidFill>
                            <a:srgbClr val="0F172A"/>
                          </a:solidFill>
                          <a:latin typeface="Arial"/>
                        </a:rPr>
                        <a:t>0.876</a:t>
                      </a:r>
                    </a:p>
                  </a:txBody>
                  <a:tcPr/>
                </a:tc>
                <a:tc>
                  <a:txBody>
                    <a:bodyPr/>
                    <a:lstStyle/>
                    <a:p>
                      <a:r>
                        <a:rPr sz="720">
                          <a:solidFill>
                            <a:srgbClr val="0F172A"/>
                          </a:solidFill>
                          <a:latin typeface="Arial"/>
                        </a:rPr>
                        <a:t>0.920</a:t>
                      </a:r>
                    </a:p>
                  </a:txBody>
                  <a:tcPr/>
                </a:tc>
                <a:extLst>
                  <a:ext uri="{0D108BD9-81ED-4DB2-BD59-A6C34878D82A}">
                    <a16:rowId xmlns:a16="http://schemas.microsoft.com/office/drawing/2014/main" val="10003"/>
                  </a:ext>
                </a:extLst>
              </a:tr>
              <a:tr h="356616">
                <a:tc>
                  <a:txBody>
                    <a:bodyPr/>
                    <a:lstStyle/>
                    <a:p>
                      <a:r>
                        <a:rPr sz="720">
                          <a:solidFill>
                            <a:srgbClr val="0F172A"/>
                          </a:solidFill>
                          <a:latin typeface="Arial"/>
                        </a:rPr>
                        <a:t>TABPFN</a:t>
                      </a:r>
                    </a:p>
                  </a:txBody>
                  <a:tcPr>
                    <a:solidFill>
                      <a:srgbClr val="F8FAFC"/>
                    </a:solidFill>
                  </a:tcPr>
                </a:tc>
                <a:tc>
                  <a:txBody>
                    <a:bodyPr/>
                    <a:lstStyle/>
                    <a:p>
                      <a:r>
                        <a:rPr sz="720">
                          <a:solidFill>
                            <a:srgbClr val="0F172A"/>
                          </a:solidFill>
                          <a:latin typeface="Arial"/>
                        </a:rPr>
                        <a:t>NA</a:t>
                      </a:r>
                    </a:p>
                  </a:txBody>
                  <a:tcPr>
                    <a:solidFill>
                      <a:srgbClr val="F8FAFC"/>
                    </a:solidFill>
                  </a:tcPr>
                </a:tc>
                <a:tc>
                  <a:txBody>
                    <a:bodyPr/>
                    <a:lstStyle/>
                    <a:p>
                      <a:r>
                        <a:rPr sz="720">
                          <a:solidFill>
                            <a:srgbClr val="0F172A"/>
                          </a:solidFill>
                          <a:latin typeface="Arial"/>
                        </a:rPr>
                        <a:t>0.920</a:t>
                      </a:r>
                    </a:p>
                  </a:txBody>
                  <a:tcPr>
                    <a:solidFill>
                      <a:srgbClr val="F8FAFC"/>
                    </a:solidFill>
                  </a:tcPr>
                </a:tc>
                <a:tc>
                  <a:txBody>
                    <a:bodyPr/>
                    <a:lstStyle/>
                    <a:p>
                      <a:r>
                        <a:rPr sz="720">
                          <a:solidFill>
                            <a:srgbClr val="0F172A"/>
                          </a:solidFill>
                          <a:latin typeface="Arial"/>
                        </a:rPr>
                        <a:t>0.888</a:t>
                      </a:r>
                    </a:p>
                  </a:txBody>
                  <a:tcPr>
                    <a:solidFill>
                      <a:srgbClr val="F8FAFC"/>
                    </a:solidFill>
                  </a:tcPr>
                </a:tc>
                <a:tc>
                  <a:txBody>
                    <a:bodyPr/>
                    <a:lstStyle/>
                    <a:p>
                      <a:r>
                        <a:rPr sz="720">
                          <a:solidFill>
                            <a:srgbClr val="0F172A"/>
                          </a:solidFill>
                          <a:latin typeface="Arial"/>
                        </a:rPr>
                        <a:t>0.887</a:t>
                      </a:r>
                    </a:p>
                  </a:txBody>
                  <a:tcPr>
                    <a:solidFill>
                      <a:srgbClr val="F8FAFC"/>
                    </a:solidFill>
                  </a:tcPr>
                </a:tc>
                <a:tc>
                  <a:txBody>
                    <a:bodyPr/>
                    <a:lstStyle/>
                    <a:p>
                      <a:r>
                        <a:rPr sz="720">
                          <a:solidFill>
                            <a:srgbClr val="0F172A"/>
                          </a:solidFill>
                          <a:latin typeface="Arial"/>
                        </a:rPr>
                        <a:t>0.705</a:t>
                      </a:r>
                    </a:p>
                  </a:txBody>
                  <a:tcPr>
                    <a:solidFill>
                      <a:srgbClr val="F8FAFC"/>
                    </a:solidFill>
                  </a:tcPr>
                </a:tc>
                <a:tc>
                  <a:txBody>
                    <a:bodyPr/>
                    <a:lstStyle/>
                    <a:p>
                      <a:r>
                        <a:rPr sz="720">
                          <a:solidFill>
                            <a:srgbClr val="0F172A"/>
                          </a:solidFill>
                          <a:latin typeface="Arial"/>
                        </a:rPr>
                        <a:t>0.862</a:t>
                      </a:r>
                    </a:p>
                  </a:txBody>
                  <a:tcPr>
                    <a:solidFill>
                      <a:srgbClr val="F8FAFC"/>
                    </a:solidFill>
                  </a:tcPr>
                </a:tc>
                <a:tc>
                  <a:txBody>
                    <a:bodyPr/>
                    <a:lstStyle/>
                    <a:p>
                      <a:r>
                        <a:rPr sz="720">
                          <a:solidFill>
                            <a:srgbClr val="0F172A"/>
                          </a:solidFill>
                          <a:latin typeface="Arial"/>
                        </a:rPr>
                        <a:t>0.894</a:t>
                      </a:r>
                    </a:p>
                  </a:txBody>
                  <a:tcPr>
                    <a:solidFill>
                      <a:srgbClr val="F8FAFC"/>
                    </a:solidFill>
                  </a:tcPr>
                </a:tc>
                <a:tc>
                  <a:txBody>
                    <a:bodyPr/>
                    <a:lstStyle/>
                    <a:p>
                      <a:r>
                        <a:rPr sz="720" dirty="0">
                          <a:solidFill>
                            <a:srgbClr val="0F172A"/>
                          </a:solidFill>
                          <a:latin typeface="Arial"/>
                        </a:rPr>
                        <a:t>0.934</a:t>
                      </a:r>
                    </a:p>
                  </a:txBody>
                  <a:tcPr>
                    <a:solidFill>
                      <a:srgbClr val="F8FAFC"/>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263640" y="932688"/>
            <a:ext cx="5349240" cy="228600"/>
          </a:xfrm>
          <a:prstGeom prst="rect">
            <a:avLst/>
          </a:prstGeom>
          <a:noFill/>
        </p:spPr>
        <p:txBody>
          <a:bodyPr wrap="square">
            <a:normAutofit fontScale="92500" lnSpcReduction="20000"/>
          </a:bodyPr>
          <a:lstStyle/>
          <a:p>
            <a:r>
              <a:rPr sz="1220" b="1">
                <a:solidFill>
                  <a:srgbClr val="0F172A"/>
                </a:solidFill>
                <a:latin typeface="Arial"/>
              </a:rPr>
              <a:t>My results</a:t>
            </a:r>
          </a:p>
        </p:txBody>
      </p:sp>
      <p:graphicFrame>
        <p:nvGraphicFramePr>
          <p:cNvPr id="7" name="Table 6"/>
          <p:cNvGraphicFramePr>
            <a:graphicFrameLocks noGrp="1"/>
          </p:cNvGraphicFramePr>
          <p:nvPr/>
        </p:nvGraphicFramePr>
        <p:xfrm>
          <a:off x="6263640" y="1234440"/>
          <a:ext cx="5349240" cy="1783080"/>
        </p:xfrm>
        <a:graphic>
          <a:graphicData uri="http://schemas.openxmlformats.org/drawingml/2006/table">
            <a:tbl>
              <a:tblPr firstRow="1" bandRow="1">
                <a:tableStyleId>{5C22544A-7EE6-4342-B048-85BDC9FD1C3A}</a:tableStyleId>
              </a:tblPr>
              <a:tblGrid>
                <a:gridCol w="59436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94360">
                  <a:extLst>
                    <a:ext uri="{9D8B030D-6E8A-4147-A177-3AD203B41FA5}">
                      <a16:colId xmlns:a16="http://schemas.microsoft.com/office/drawing/2014/main" val="20007"/>
                    </a:ext>
                  </a:extLst>
                </a:gridCol>
                <a:gridCol w="594360">
                  <a:extLst>
                    <a:ext uri="{9D8B030D-6E8A-4147-A177-3AD203B41FA5}">
                      <a16:colId xmlns:a16="http://schemas.microsoft.com/office/drawing/2014/main" val="20008"/>
                    </a:ext>
                  </a:extLst>
                </a:gridCol>
              </a:tblGrid>
              <a:tr h="356616">
                <a:tc>
                  <a:txBody>
                    <a:bodyPr/>
                    <a:lstStyle/>
                    <a:p>
                      <a:r>
                        <a:rPr sz="720" b="1">
                          <a:solidFill>
                            <a:srgbClr val="FFFFFF"/>
                          </a:solidFill>
                          <a:latin typeface="Arial"/>
                        </a:rPr>
                        <a:t>Model</a:t>
                      </a:r>
                    </a:p>
                  </a:txBody>
                  <a:tcPr>
                    <a:solidFill>
                      <a:srgbClr val="0F172A"/>
                    </a:solidFill>
                  </a:tcPr>
                </a:tc>
                <a:tc>
                  <a:txBody>
                    <a:bodyPr/>
                    <a:lstStyle/>
                    <a:p>
                      <a:r>
                        <a:rPr sz="720" b="1">
                          <a:solidFill>
                            <a:srgbClr val="FFFFFF"/>
                          </a:solidFill>
                          <a:latin typeface="Arial"/>
                        </a:rPr>
                        <a:t>Original</a:t>
                      </a:r>
                    </a:p>
                  </a:txBody>
                  <a:tcPr>
                    <a:solidFill>
                      <a:srgbClr val="0F172A"/>
                    </a:solidFill>
                  </a:tcPr>
                </a:tc>
                <a:tc>
                  <a:txBody>
                    <a:bodyPr/>
                    <a:lstStyle/>
                    <a:p>
                      <a:r>
                        <a:rPr sz="720" b="1">
                          <a:solidFill>
                            <a:srgbClr val="FFFFFF"/>
                          </a:solidFill>
                          <a:latin typeface="Arial"/>
                        </a:rPr>
                        <a:t>SMOTE</a:t>
                      </a:r>
                    </a:p>
                  </a:txBody>
                  <a:tcPr>
                    <a:solidFill>
                      <a:srgbClr val="0F172A"/>
                    </a:solidFill>
                  </a:tcPr>
                </a:tc>
                <a:tc>
                  <a:txBody>
                    <a:bodyPr/>
                    <a:lstStyle/>
                    <a:p>
                      <a:r>
                        <a:rPr sz="720" b="1">
                          <a:solidFill>
                            <a:srgbClr val="FFFFFF"/>
                          </a:solidFill>
                          <a:latin typeface="Arial"/>
                        </a:rPr>
                        <a:t>CTGAN</a:t>
                      </a:r>
                    </a:p>
                  </a:txBody>
                  <a:tcPr>
                    <a:solidFill>
                      <a:srgbClr val="0F172A"/>
                    </a:solidFill>
                  </a:tcPr>
                </a:tc>
                <a:tc>
                  <a:txBody>
                    <a:bodyPr/>
                    <a:lstStyle/>
                    <a:p>
                      <a:r>
                        <a:rPr sz="720" b="1">
                          <a:solidFill>
                            <a:srgbClr val="FFFFFF"/>
                          </a:solidFill>
                          <a:latin typeface="Arial"/>
                        </a:rPr>
                        <a:t>TVAE</a:t>
                      </a:r>
                    </a:p>
                  </a:txBody>
                  <a:tcPr>
                    <a:solidFill>
                      <a:srgbClr val="0F172A"/>
                    </a:solidFill>
                  </a:tcPr>
                </a:tc>
                <a:tc>
                  <a:txBody>
                    <a:bodyPr/>
                    <a:lstStyle/>
                    <a:p>
                      <a:r>
                        <a:rPr sz="720" b="1">
                          <a:solidFill>
                            <a:srgbClr val="FFFFFF"/>
                          </a:solidFill>
                          <a:latin typeface="Arial"/>
                        </a:rPr>
                        <a:t>NF</a:t>
                      </a:r>
                    </a:p>
                  </a:txBody>
                  <a:tcPr>
                    <a:solidFill>
                      <a:srgbClr val="0F172A"/>
                    </a:solidFill>
                  </a:tcPr>
                </a:tc>
                <a:tc>
                  <a:txBody>
                    <a:bodyPr/>
                    <a:lstStyle/>
                    <a:p>
                      <a:r>
                        <a:rPr sz="720" b="1">
                          <a:solidFill>
                            <a:srgbClr val="FFFFFF"/>
                          </a:solidFill>
                          <a:latin typeface="Arial"/>
                        </a:rPr>
                        <a:t>RTVAE</a:t>
                      </a:r>
                    </a:p>
                  </a:txBody>
                  <a:tcPr>
                    <a:solidFill>
                      <a:srgbClr val="0F172A"/>
                    </a:solidFill>
                  </a:tcPr>
                </a:tc>
                <a:tc>
                  <a:txBody>
                    <a:bodyPr/>
                    <a:lstStyle/>
                    <a:p>
                      <a:r>
                        <a:rPr sz="720" b="1">
                          <a:solidFill>
                            <a:srgbClr val="FFFFFF"/>
                          </a:solidFill>
                          <a:latin typeface="Arial"/>
                        </a:rPr>
                        <a:t>TabDDPM</a:t>
                      </a:r>
                    </a:p>
                  </a:txBody>
                  <a:tcPr>
                    <a:solidFill>
                      <a:srgbClr val="0F172A"/>
                    </a:solidFill>
                  </a:tcPr>
                </a:tc>
                <a:tc>
                  <a:txBody>
                    <a:bodyPr/>
                    <a:lstStyle/>
                    <a:p>
                      <a:r>
                        <a:rPr sz="720" b="1">
                          <a:solidFill>
                            <a:srgbClr val="FFFFFF"/>
                          </a:solidFill>
                          <a:latin typeface="Arial"/>
                        </a:rPr>
                        <a:t>TabPFGen</a:t>
                      </a:r>
                    </a:p>
                  </a:txBody>
                  <a:tcPr>
                    <a:solidFill>
                      <a:srgbClr val="0F172A"/>
                    </a:solidFill>
                  </a:tcPr>
                </a:tc>
                <a:extLst>
                  <a:ext uri="{0D108BD9-81ED-4DB2-BD59-A6C34878D82A}">
                    <a16:rowId xmlns:a16="http://schemas.microsoft.com/office/drawing/2014/main" val="10000"/>
                  </a:ext>
                </a:extLst>
              </a:tr>
              <a:tr h="356616">
                <a:tc>
                  <a:txBody>
                    <a:bodyPr/>
                    <a:lstStyle/>
                    <a:p>
                      <a:r>
                        <a:rPr sz="720">
                          <a:solidFill>
                            <a:srgbClr val="0F172A"/>
                          </a:solidFill>
                          <a:latin typeface="Arial"/>
                        </a:rPr>
                        <a:t>XGB</a:t>
                      </a:r>
                    </a:p>
                  </a:txBody>
                  <a:tcPr/>
                </a:tc>
                <a:tc>
                  <a:txBody>
                    <a:bodyPr/>
                    <a:lstStyle/>
                    <a:p>
                      <a:r>
                        <a:rPr sz="720">
                          <a:solidFill>
                            <a:srgbClr val="0F172A"/>
                          </a:solidFill>
                          <a:latin typeface="Arial"/>
                        </a:rPr>
                        <a:t>NA</a:t>
                      </a:r>
                    </a:p>
                  </a:txBody>
                  <a:tcPr/>
                </a:tc>
                <a:tc>
                  <a:txBody>
                    <a:bodyPr/>
                    <a:lstStyle/>
                    <a:p>
                      <a:r>
                        <a:rPr sz="720">
                          <a:solidFill>
                            <a:srgbClr val="0F172A"/>
                          </a:solidFill>
                          <a:latin typeface="Arial"/>
                        </a:rPr>
                        <a:t>0.899</a:t>
                      </a:r>
                    </a:p>
                  </a:txBody>
                  <a:tcPr/>
                </a:tc>
                <a:tc>
                  <a:txBody>
                    <a:bodyPr/>
                    <a:lstStyle/>
                    <a:p>
                      <a:r>
                        <a:rPr sz="720">
                          <a:solidFill>
                            <a:srgbClr val="0F172A"/>
                          </a:solidFill>
                          <a:latin typeface="Arial"/>
                        </a:rPr>
                        <a:t>0.594</a:t>
                      </a:r>
                    </a:p>
                  </a:txBody>
                  <a:tcPr/>
                </a:tc>
                <a:tc>
                  <a:txBody>
                    <a:bodyPr/>
                    <a:lstStyle/>
                    <a:p>
                      <a:r>
                        <a:rPr sz="720">
                          <a:solidFill>
                            <a:srgbClr val="0F172A"/>
                          </a:solidFill>
                          <a:latin typeface="Arial"/>
                        </a:rPr>
                        <a:t>0.805</a:t>
                      </a:r>
                    </a:p>
                  </a:txBody>
                  <a:tcPr/>
                </a:tc>
                <a:tc>
                  <a:txBody>
                    <a:bodyPr/>
                    <a:lstStyle/>
                    <a:p>
                      <a:r>
                        <a:rPr sz="720">
                          <a:solidFill>
                            <a:srgbClr val="0F172A"/>
                          </a:solidFill>
                          <a:latin typeface="Arial"/>
                        </a:rPr>
                        <a:t>0.725</a:t>
                      </a:r>
                    </a:p>
                  </a:txBody>
                  <a:tcPr/>
                </a:tc>
                <a:tc>
                  <a:txBody>
                    <a:bodyPr/>
                    <a:lstStyle/>
                    <a:p>
                      <a:r>
                        <a:rPr sz="720">
                          <a:solidFill>
                            <a:srgbClr val="0F172A"/>
                          </a:solidFill>
                          <a:latin typeface="Arial"/>
                        </a:rPr>
                        <a:t>0.737</a:t>
                      </a:r>
                    </a:p>
                  </a:txBody>
                  <a:tcPr/>
                </a:tc>
                <a:tc>
                  <a:txBody>
                    <a:bodyPr/>
                    <a:lstStyle/>
                    <a:p>
                      <a:r>
                        <a:rPr sz="720">
                          <a:solidFill>
                            <a:srgbClr val="0F172A"/>
                          </a:solidFill>
                          <a:latin typeface="Arial"/>
                        </a:rPr>
                        <a:t>0.676</a:t>
                      </a:r>
                    </a:p>
                  </a:txBody>
                  <a:tcPr/>
                </a:tc>
                <a:tc>
                  <a:txBody>
                    <a:bodyPr/>
                    <a:lstStyle/>
                    <a:p>
                      <a:r>
                        <a:rPr sz="720" dirty="0">
                          <a:solidFill>
                            <a:srgbClr val="0F172A"/>
                          </a:solidFill>
                          <a:latin typeface="Arial"/>
                        </a:rPr>
                        <a:t>0.878</a:t>
                      </a:r>
                    </a:p>
                  </a:txBody>
                  <a:tcPr/>
                </a:tc>
                <a:extLst>
                  <a:ext uri="{0D108BD9-81ED-4DB2-BD59-A6C34878D82A}">
                    <a16:rowId xmlns:a16="http://schemas.microsoft.com/office/drawing/2014/main" val="10001"/>
                  </a:ext>
                </a:extLst>
              </a:tr>
              <a:tr h="356616">
                <a:tc>
                  <a:txBody>
                    <a:bodyPr/>
                    <a:lstStyle/>
                    <a:p>
                      <a:r>
                        <a:rPr sz="720">
                          <a:solidFill>
                            <a:srgbClr val="0F172A"/>
                          </a:solidFill>
                          <a:latin typeface="Arial"/>
                        </a:rPr>
                        <a:t>RF</a:t>
                      </a:r>
                    </a:p>
                  </a:txBody>
                  <a:tcPr>
                    <a:solidFill>
                      <a:srgbClr val="F8FAFC"/>
                    </a:solidFill>
                  </a:tcPr>
                </a:tc>
                <a:tc>
                  <a:txBody>
                    <a:bodyPr/>
                    <a:lstStyle/>
                    <a:p>
                      <a:r>
                        <a:rPr sz="720">
                          <a:solidFill>
                            <a:srgbClr val="0F172A"/>
                          </a:solidFill>
                          <a:latin typeface="Arial"/>
                        </a:rPr>
                        <a:t>NA</a:t>
                      </a:r>
                    </a:p>
                  </a:txBody>
                  <a:tcPr>
                    <a:solidFill>
                      <a:srgbClr val="F8FAFC"/>
                    </a:solidFill>
                  </a:tcPr>
                </a:tc>
                <a:tc>
                  <a:txBody>
                    <a:bodyPr/>
                    <a:lstStyle/>
                    <a:p>
                      <a:r>
                        <a:rPr sz="720">
                          <a:solidFill>
                            <a:srgbClr val="0F172A"/>
                          </a:solidFill>
                          <a:latin typeface="Arial"/>
                        </a:rPr>
                        <a:t>0.897</a:t>
                      </a:r>
                    </a:p>
                  </a:txBody>
                  <a:tcPr>
                    <a:solidFill>
                      <a:srgbClr val="F8FAFC"/>
                    </a:solidFill>
                  </a:tcPr>
                </a:tc>
                <a:tc>
                  <a:txBody>
                    <a:bodyPr/>
                    <a:lstStyle/>
                    <a:p>
                      <a:r>
                        <a:rPr sz="720">
                          <a:solidFill>
                            <a:srgbClr val="0F172A"/>
                          </a:solidFill>
                          <a:latin typeface="Arial"/>
                        </a:rPr>
                        <a:t>0.600</a:t>
                      </a:r>
                    </a:p>
                  </a:txBody>
                  <a:tcPr>
                    <a:solidFill>
                      <a:srgbClr val="F8FAFC"/>
                    </a:solidFill>
                  </a:tcPr>
                </a:tc>
                <a:tc>
                  <a:txBody>
                    <a:bodyPr/>
                    <a:lstStyle/>
                    <a:p>
                      <a:r>
                        <a:rPr sz="720">
                          <a:solidFill>
                            <a:srgbClr val="0F172A"/>
                          </a:solidFill>
                          <a:latin typeface="Arial"/>
                        </a:rPr>
                        <a:t>0.796</a:t>
                      </a:r>
                    </a:p>
                  </a:txBody>
                  <a:tcPr>
                    <a:solidFill>
                      <a:srgbClr val="F8FAFC"/>
                    </a:solidFill>
                  </a:tcPr>
                </a:tc>
                <a:tc>
                  <a:txBody>
                    <a:bodyPr/>
                    <a:lstStyle/>
                    <a:p>
                      <a:r>
                        <a:rPr sz="720">
                          <a:solidFill>
                            <a:srgbClr val="0F172A"/>
                          </a:solidFill>
                          <a:latin typeface="Arial"/>
                        </a:rPr>
                        <a:t>0.725</a:t>
                      </a:r>
                    </a:p>
                  </a:txBody>
                  <a:tcPr>
                    <a:solidFill>
                      <a:srgbClr val="F8FAFC"/>
                    </a:solidFill>
                  </a:tcPr>
                </a:tc>
                <a:tc>
                  <a:txBody>
                    <a:bodyPr/>
                    <a:lstStyle/>
                    <a:p>
                      <a:r>
                        <a:rPr sz="720">
                          <a:solidFill>
                            <a:srgbClr val="0F172A"/>
                          </a:solidFill>
                          <a:latin typeface="Arial"/>
                        </a:rPr>
                        <a:t>0.756</a:t>
                      </a:r>
                    </a:p>
                  </a:txBody>
                  <a:tcPr>
                    <a:solidFill>
                      <a:srgbClr val="F8FAFC"/>
                    </a:solidFill>
                  </a:tcPr>
                </a:tc>
                <a:tc>
                  <a:txBody>
                    <a:bodyPr/>
                    <a:lstStyle/>
                    <a:p>
                      <a:r>
                        <a:rPr sz="720">
                          <a:solidFill>
                            <a:srgbClr val="0F172A"/>
                          </a:solidFill>
                          <a:latin typeface="Arial"/>
                        </a:rPr>
                        <a:t>0.710</a:t>
                      </a:r>
                    </a:p>
                  </a:txBody>
                  <a:tcPr>
                    <a:solidFill>
                      <a:srgbClr val="F8FAFC"/>
                    </a:solidFill>
                  </a:tcPr>
                </a:tc>
                <a:tc>
                  <a:txBody>
                    <a:bodyPr/>
                    <a:lstStyle/>
                    <a:p>
                      <a:r>
                        <a:rPr sz="720" dirty="0">
                          <a:solidFill>
                            <a:srgbClr val="0F172A"/>
                          </a:solidFill>
                          <a:latin typeface="Arial"/>
                        </a:rPr>
                        <a:t>0.876</a:t>
                      </a:r>
                    </a:p>
                  </a:txBody>
                  <a:tcPr>
                    <a:solidFill>
                      <a:srgbClr val="F8FAFC"/>
                    </a:solidFill>
                  </a:tcPr>
                </a:tc>
                <a:extLst>
                  <a:ext uri="{0D108BD9-81ED-4DB2-BD59-A6C34878D82A}">
                    <a16:rowId xmlns:a16="http://schemas.microsoft.com/office/drawing/2014/main" val="10002"/>
                  </a:ext>
                </a:extLst>
              </a:tr>
              <a:tr h="356616">
                <a:tc>
                  <a:txBody>
                    <a:bodyPr/>
                    <a:lstStyle/>
                    <a:p>
                      <a:r>
                        <a:rPr sz="720">
                          <a:solidFill>
                            <a:srgbClr val="0F172A"/>
                          </a:solidFill>
                          <a:latin typeface="Arial"/>
                        </a:rPr>
                        <a:t>LR</a:t>
                      </a:r>
                    </a:p>
                  </a:txBody>
                  <a:tcPr/>
                </a:tc>
                <a:tc>
                  <a:txBody>
                    <a:bodyPr/>
                    <a:lstStyle/>
                    <a:p>
                      <a:r>
                        <a:rPr sz="720">
                          <a:solidFill>
                            <a:srgbClr val="0F172A"/>
                          </a:solidFill>
                          <a:latin typeface="Arial"/>
                        </a:rPr>
                        <a:t>NA</a:t>
                      </a:r>
                    </a:p>
                  </a:txBody>
                  <a:tcPr/>
                </a:tc>
                <a:tc>
                  <a:txBody>
                    <a:bodyPr/>
                    <a:lstStyle/>
                    <a:p>
                      <a:r>
                        <a:rPr sz="720">
                          <a:solidFill>
                            <a:srgbClr val="0F172A"/>
                          </a:solidFill>
                          <a:latin typeface="Arial"/>
                        </a:rPr>
                        <a:t>0.908</a:t>
                      </a:r>
                    </a:p>
                  </a:txBody>
                  <a:tcPr/>
                </a:tc>
                <a:tc>
                  <a:txBody>
                    <a:bodyPr/>
                    <a:lstStyle/>
                    <a:p>
                      <a:r>
                        <a:rPr sz="720">
                          <a:solidFill>
                            <a:srgbClr val="0F172A"/>
                          </a:solidFill>
                          <a:latin typeface="Arial"/>
                        </a:rPr>
                        <a:t>0.621</a:t>
                      </a:r>
                    </a:p>
                  </a:txBody>
                  <a:tcPr/>
                </a:tc>
                <a:tc>
                  <a:txBody>
                    <a:bodyPr/>
                    <a:lstStyle/>
                    <a:p>
                      <a:r>
                        <a:rPr sz="720">
                          <a:solidFill>
                            <a:srgbClr val="0F172A"/>
                          </a:solidFill>
                          <a:latin typeface="Arial"/>
                        </a:rPr>
                        <a:t>0.839</a:t>
                      </a:r>
                    </a:p>
                  </a:txBody>
                  <a:tcPr/>
                </a:tc>
                <a:tc>
                  <a:txBody>
                    <a:bodyPr/>
                    <a:lstStyle/>
                    <a:p>
                      <a:r>
                        <a:rPr sz="720">
                          <a:solidFill>
                            <a:srgbClr val="0F172A"/>
                          </a:solidFill>
                          <a:latin typeface="Arial"/>
                        </a:rPr>
                        <a:t>0.748</a:t>
                      </a:r>
                    </a:p>
                  </a:txBody>
                  <a:tcPr/>
                </a:tc>
                <a:tc>
                  <a:txBody>
                    <a:bodyPr/>
                    <a:lstStyle/>
                    <a:p>
                      <a:r>
                        <a:rPr sz="720">
                          <a:solidFill>
                            <a:srgbClr val="0F172A"/>
                          </a:solidFill>
                          <a:latin typeface="Arial"/>
                        </a:rPr>
                        <a:t>0.747</a:t>
                      </a:r>
                    </a:p>
                  </a:txBody>
                  <a:tcPr/>
                </a:tc>
                <a:tc>
                  <a:txBody>
                    <a:bodyPr/>
                    <a:lstStyle/>
                    <a:p>
                      <a:r>
                        <a:rPr sz="720">
                          <a:solidFill>
                            <a:srgbClr val="0F172A"/>
                          </a:solidFill>
                          <a:latin typeface="Arial"/>
                        </a:rPr>
                        <a:t>0.741</a:t>
                      </a:r>
                    </a:p>
                  </a:txBody>
                  <a:tcPr/>
                </a:tc>
                <a:tc>
                  <a:txBody>
                    <a:bodyPr/>
                    <a:lstStyle/>
                    <a:p>
                      <a:r>
                        <a:rPr sz="720" dirty="0">
                          <a:solidFill>
                            <a:srgbClr val="0F172A"/>
                          </a:solidFill>
                          <a:latin typeface="Arial"/>
                        </a:rPr>
                        <a:t>0.913</a:t>
                      </a:r>
                    </a:p>
                  </a:txBody>
                  <a:tcPr/>
                </a:tc>
                <a:extLst>
                  <a:ext uri="{0D108BD9-81ED-4DB2-BD59-A6C34878D82A}">
                    <a16:rowId xmlns:a16="http://schemas.microsoft.com/office/drawing/2014/main" val="10003"/>
                  </a:ext>
                </a:extLst>
              </a:tr>
              <a:tr h="356616">
                <a:tc>
                  <a:txBody>
                    <a:bodyPr/>
                    <a:lstStyle/>
                    <a:p>
                      <a:r>
                        <a:rPr sz="720" dirty="0">
                          <a:solidFill>
                            <a:srgbClr val="0F172A"/>
                          </a:solidFill>
                          <a:latin typeface="Arial"/>
                        </a:rPr>
                        <a:t>TABPFN</a:t>
                      </a:r>
                    </a:p>
                  </a:txBody>
                  <a:tcPr>
                    <a:solidFill>
                      <a:srgbClr val="F8FAFC"/>
                    </a:solidFill>
                  </a:tcPr>
                </a:tc>
                <a:tc>
                  <a:txBody>
                    <a:bodyPr/>
                    <a:lstStyle/>
                    <a:p>
                      <a:r>
                        <a:rPr sz="720">
                          <a:solidFill>
                            <a:srgbClr val="0F172A"/>
                          </a:solidFill>
                          <a:latin typeface="Arial"/>
                        </a:rPr>
                        <a:t>NA</a:t>
                      </a:r>
                    </a:p>
                  </a:txBody>
                  <a:tcPr>
                    <a:solidFill>
                      <a:srgbClr val="F8FAFC"/>
                    </a:solidFill>
                  </a:tcPr>
                </a:tc>
                <a:tc>
                  <a:txBody>
                    <a:bodyPr/>
                    <a:lstStyle/>
                    <a:p>
                      <a:r>
                        <a:rPr sz="720">
                          <a:solidFill>
                            <a:srgbClr val="0F172A"/>
                          </a:solidFill>
                          <a:latin typeface="Arial"/>
                        </a:rPr>
                        <a:t>0.917</a:t>
                      </a:r>
                    </a:p>
                  </a:txBody>
                  <a:tcPr>
                    <a:solidFill>
                      <a:srgbClr val="F8FAFC"/>
                    </a:solidFill>
                  </a:tcPr>
                </a:tc>
                <a:tc>
                  <a:txBody>
                    <a:bodyPr/>
                    <a:lstStyle/>
                    <a:p>
                      <a:r>
                        <a:rPr sz="720">
                          <a:solidFill>
                            <a:srgbClr val="0F172A"/>
                          </a:solidFill>
                          <a:latin typeface="Arial"/>
                        </a:rPr>
                        <a:t>0.645</a:t>
                      </a:r>
                    </a:p>
                  </a:txBody>
                  <a:tcPr>
                    <a:solidFill>
                      <a:srgbClr val="F8FAFC"/>
                    </a:solidFill>
                  </a:tcPr>
                </a:tc>
                <a:tc>
                  <a:txBody>
                    <a:bodyPr/>
                    <a:lstStyle/>
                    <a:p>
                      <a:r>
                        <a:rPr sz="720">
                          <a:solidFill>
                            <a:srgbClr val="0F172A"/>
                          </a:solidFill>
                          <a:latin typeface="Arial"/>
                        </a:rPr>
                        <a:t>0.854</a:t>
                      </a:r>
                    </a:p>
                  </a:txBody>
                  <a:tcPr>
                    <a:solidFill>
                      <a:srgbClr val="F8FAFC"/>
                    </a:solidFill>
                  </a:tcPr>
                </a:tc>
                <a:tc>
                  <a:txBody>
                    <a:bodyPr/>
                    <a:lstStyle/>
                    <a:p>
                      <a:r>
                        <a:rPr sz="720">
                          <a:solidFill>
                            <a:srgbClr val="0F172A"/>
                          </a:solidFill>
                          <a:latin typeface="Arial"/>
                        </a:rPr>
                        <a:t>0.760</a:t>
                      </a:r>
                    </a:p>
                  </a:txBody>
                  <a:tcPr>
                    <a:solidFill>
                      <a:srgbClr val="F8FAFC"/>
                    </a:solidFill>
                  </a:tcPr>
                </a:tc>
                <a:tc>
                  <a:txBody>
                    <a:bodyPr/>
                    <a:lstStyle/>
                    <a:p>
                      <a:r>
                        <a:rPr sz="720">
                          <a:solidFill>
                            <a:srgbClr val="0F172A"/>
                          </a:solidFill>
                          <a:latin typeface="Arial"/>
                        </a:rPr>
                        <a:t>0.790</a:t>
                      </a:r>
                    </a:p>
                  </a:txBody>
                  <a:tcPr>
                    <a:solidFill>
                      <a:srgbClr val="F8FAFC"/>
                    </a:solidFill>
                  </a:tcPr>
                </a:tc>
                <a:tc>
                  <a:txBody>
                    <a:bodyPr/>
                    <a:lstStyle/>
                    <a:p>
                      <a:r>
                        <a:rPr sz="720">
                          <a:solidFill>
                            <a:srgbClr val="0F172A"/>
                          </a:solidFill>
                          <a:latin typeface="Arial"/>
                        </a:rPr>
                        <a:t>0.764</a:t>
                      </a:r>
                    </a:p>
                  </a:txBody>
                  <a:tcPr>
                    <a:solidFill>
                      <a:srgbClr val="F8FAFC"/>
                    </a:solidFill>
                  </a:tcPr>
                </a:tc>
                <a:tc>
                  <a:txBody>
                    <a:bodyPr/>
                    <a:lstStyle/>
                    <a:p>
                      <a:r>
                        <a:rPr sz="720" dirty="0">
                          <a:solidFill>
                            <a:srgbClr val="0F172A"/>
                          </a:solidFill>
                          <a:latin typeface="Arial"/>
                        </a:rPr>
                        <a:t>0.924</a:t>
                      </a:r>
                    </a:p>
                  </a:txBody>
                  <a:tcPr>
                    <a:solidFill>
                      <a:srgbClr val="F8FAFC"/>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502920" y="3584448"/>
            <a:ext cx="11109960" cy="228600"/>
          </a:xfrm>
          <a:prstGeom prst="rect">
            <a:avLst/>
          </a:prstGeom>
          <a:noFill/>
        </p:spPr>
        <p:txBody>
          <a:bodyPr wrap="square">
            <a:normAutofit fontScale="92500" lnSpcReduction="20000"/>
          </a:bodyPr>
          <a:lstStyle/>
          <a:p>
            <a:r>
              <a:rPr sz="1220" b="1">
                <a:solidFill>
                  <a:srgbClr val="0F172A"/>
                </a:solidFill>
                <a:latin typeface="Arial"/>
              </a:rPr>
              <a:t>Delta: my result minus paper</a:t>
            </a:r>
          </a:p>
        </p:txBody>
      </p:sp>
      <p:graphicFrame>
        <p:nvGraphicFramePr>
          <p:cNvPr id="9" name="Table 8"/>
          <p:cNvGraphicFramePr>
            <a:graphicFrameLocks noGrp="1"/>
          </p:cNvGraphicFramePr>
          <p:nvPr/>
        </p:nvGraphicFramePr>
        <p:xfrm>
          <a:off x="502920" y="3886200"/>
          <a:ext cx="11109960" cy="1783080"/>
        </p:xfrm>
        <a:graphic>
          <a:graphicData uri="http://schemas.openxmlformats.org/drawingml/2006/table">
            <a:tbl>
              <a:tblPr firstRow="1" bandRow="1">
                <a:tableStyleId>{5C22544A-7EE6-4342-B048-85BDC9FD1C3A}</a:tableStyleId>
              </a:tblPr>
              <a:tblGrid>
                <a:gridCol w="1388745">
                  <a:extLst>
                    <a:ext uri="{9D8B030D-6E8A-4147-A177-3AD203B41FA5}">
                      <a16:colId xmlns:a16="http://schemas.microsoft.com/office/drawing/2014/main" val="20000"/>
                    </a:ext>
                  </a:extLst>
                </a:gridCol>
                <a:gridCol w="1388745">
                  <a:extLst>
                    <a:ext uri="{9D8B030D-6E8A-4147-A177-3AD203B41FA5}">
                      <a16:colId xmlns:a16="http://schemas.microsoft.com/office/drawing/2014/main" val="20001"/>
                    </a:ext>
                  </a:extLst>
                </a:gridCol>
                <a:gridCol w="1388745">
                  <a:extLst>
                    <a:ext uri="{9D8B030D-6E8A-4147-A177-3AD203B41FA5}">
                      <a16:colId xmlns:a16="http://schemas.microsoft.com/office/drawing/2014/main" val="20002"/>
                    </a:ext>
                  </a:extLst>
                </a:gridCol>
                <a:gridCol w="1388745">
                  <a:extLst>
                    <a:ext uri="{9D8B030D-6E8A-4147-A177-3AD203B41FA5}">
                      <a16:colId xmlns:a16="http://schemas.microsoft.com/office/drawing/2014/main" val="20003"/>
                    </a:ext>
                  </a:extLst>
                </a:gridCol>
                <a:gridCol w="1388745">
                  <a:extLst>
                    <a:ext uri="{9D8B030D-6E8A-4147-A177-3AD203B41FA5}">
                      <a16:colId xmlns:a16="http://schemas.microsoft.com/office/drawing/2014/main" val="20004"/>
                    </a:ext>
                  </a:extLst>
                </a:gridCol>
                <a:gridCol w="1388745">
                  <a:extLst>
                    <a:ext uri="{9D8B030D-6E8A-4147-A177-3AD203B41FA5}">
                      <a16:colId xmlns:a16="http://schemas.microsoft.com/office/drawing/2014/main" val="20005"/>
                    </a:ext>
                  </a:extLst>
                </a:gridCol>
                <a:gridCol w="1388745">
                  <a:extLst>
                    <a:ext uri="{9D8B030D-6E8A-4147-A177-3AD203B41FA5}">
                      <a16:colId xmlns:a16="http://schemas.microsoft.com/office/drawing/2014/main" val="20006"/>
                    </a:ext>
                  </a:extLst>
                </a:gridCol>
                <a:gridCol w="1388745">
                  <a:extLst>
                    <a:ext uri="{9D8B030D-6E8A-4147-A177-3AD203B41FA5}">
                      <a16:colId xmlns:a16="http://schemas.microsoft.com/office/drawing/2014/main" val="20007"/>
                    </a:ext>
                  </a:extLst>
                </a:gridCol>
              </a:tblGrid>
              <a:tr h="356616">
                <a:tc>
                  <a:txBody>
                    <a:bodyPr/>
                    <a:lstStyle/>
                    <a:p>
                      <a:r>
                        <a:rPr sz="700" b="1">
                          <a:solidFill>
                            <a:srgbClr val="FFFFFF"/>
                          </a:solidFill>
                          <a:latin typeface="Arial"/>
                        </a:rPr>
                        <a:t>Model</a:t>
                      </a:r>
                    </a:p>
                  </a:txBody>
                  <a:tcPr>
                    <a:solidFill>
                      <a:srgbClr val="0EA5A6"/>
                    </a:solidFill>
                  </a:tcPr>
                </a:tc>
                <a:tc>
                  <a:txBody>
                    <a:bodyPr/>
                    <a:lstStyle/>
                    <a:p>
                      <a:r>
                        <a:rPr sz="700" b="1">
                          <a:solidFill>
                            <a:srgbClr val="FFFFFF"/>
                          </a:solidFill>
                          <a:latin typeface="Arial"/>
                        </a:rPr>
                        <a:t>SMOTE</a:t>
                      </a:r>
                    </a:p>
                  </a:txBody>
                  <a:tcPr>
                    <a:solidFill>
                      <a:srgbClr val="0EA5A6"/>
                    </a:solidFill>
                  </a:tcPr>
                </a:tc>
                <a:tc>
                  <a:txBody>
                    <a:bodyPr/>
                    <a:lstStyle/>
                    <a:p>
                      <a:r>
                        <a:rPr sz="700" b="1">
                          <a:solidFill>
                            <a:srgbClr val="FFFFFF"/>
                          </a:solidFill>
                          <a:latin typeface="Arial"/>
                        </a:rPr>
                        <a:t>CTGAN</a:t>
                      </a:r>
                    </a:p>
                  </a:txBody>
                  <a:tcPr>
                    <a:solidFill>
                      <a:srgbClr val="0EA5A6"/>
                    </a:solidFill>
                  </a:tcPr>
                </a:tc>
                <a:tc>
                  <a:txBody>
                    <a:bodyPr/>
                    <a:lstStyle/>
                    <a:p>
                      <a:r>
                        <a:rPr sz="700" b="1">
                          <a:solidFill>
                            <a:srgbClr val="FFFFFF"/>
                          </a:solidFill>
                          <a:latin typeface="Arial"/>
                        </a:rPr>
                        <a:t>TVAE</a:t>
                      </a:r>
                    </a:p>
                  </a:txBody>
                  <a:tcPr>
                    <a:solidFill>
                      <a:srgbClr val="0EA5A6"/>
                    </a:solidFill>
                  </a:tcPr>
                </a:tc>
                <a:tc>
                  <a:txBody>
                    <a:bodyPr/>
                    <a:lstStyle/>
                    <a:p>
                      <a:r>
                        <a:rPr sz="700" b="1">
                          <a:solidFill>
                            <a:srgbClr val="FFFFFF"/>
                          </a:solidFill>
                          <a:latin typeface="Arial"/>
                        </a:rPr>
                        <a:t>NF</a:t>
                      </a:r>
                    </a:p>
                  </a:txBody>
                  <a:tcPr>
                    <a:solidFill>
                      <a:srgbClr val="0EA5A6"/>
                    </a:solidFill>
                  </a:tcPr>
                </a:tc>
                <a:tc>
                  <a:txBody>
                    <a:bodyPr/>
                    <a:lstStyle/>
                    <a:p>
                      <a:r>
                        <a:rPr sz="700" b="1">
                          <a:solidFill>
                            <a:srgbClr val="FFFFFF"/>
                          </a:solidFill>
                          <a:latin typeface="Arial"/>
                        </a:rPr>
                        <a:t>RTVAE</a:t>
                      </a:r>
                    </a:p>
                  </a:txBody>
                  <a:tcPr>
                    <a:solidFill>
                      <a:srgbClr val="0EA5A6"/>
                    </a:solidFill>
                  </a:tcPr>
                </a:tc>
                <a:tc>
                  <a:txBody>
                    <a:bodyPr/>
                    <a:lstStyle/>
                    <a:p>
                      <a:r>
                        <a:rPr sz="700" b="1">
                          <a:solidFill>
                            <a:srgbClr val="FFFFFF"/>
                          </a:solidFill>
                          <a:latin typeface="Arial"/>
                        </a:rPr>
                        <a:t>TabDDPM</a:t>
                      </a:r>
                    </a:p>
                  </a:txBody>
                  <a:tcPr>
                    <a:solidFill>
                      <a:srgbClr val="0EA5A6"/>
                    </a:solidFill>
                  </a:tcPr>
                </a:tc>
                <a:tc>
                  <a:txBody>
                    <a:bodyPr/>
                    <a:lstStyle/>
                    <a:p>
                      <a:r>
                        <a:rPr sz="700" b="1">
                          <a:solidFill>
                            <a:srgbClr val="FFFFFF"/>
                          </a:solidFill>
                          <a:latin typeface="Arial"/>
                        </a:rPr>
                        <a:t>TabPFGen</a:t>
                      </a:r>
                    </a:p>
                  </a:txBody>
                  <a:tcPr>
                    <a:solidFill>
                      <a:srgbClr val="0EA5A6"/>
                    </a:solidFill>
                  </a:tcPr>
                </a:tc>
                <a:extLst>
                  <a:ext uri="{0D108BD9-81ED-4DB2-BD59-A6C34878D82A}">
                    <a16:rowId xmlns:a16="http://schemas.microsoft.com/office/drawing/2014/main" val="10000"/>
                  </a:ext>
                </a:extLst>
              </a:tr>
              <a:tr h="356616">
                <a:tc>
                  <a:txBody>
                    <a:bodyPr/>
                    <a:lstStyle/>
                    <a:p>
                      <a:r>
                        <a:rPr sz="700">
                          <a:solidFill>
                            <a:srgbClr val="0F172A"/>
                          </a:solidFill>
                          <a:latin typeface="Arial"/>
                        </a:rPr>
                        <a:t>XGB</a:t>
                      </a:r>
                    </a:p>
                  </a:txBody>
                  <a:tcPr/>
                </a:tc>
                <a:tc>
                  <a:txBody>
                    <a:bodyPr/>
                    <a:lstStyle/>
                    <a:p>
                      <a:r>
                        <a:rPr sz="700">
                          <a:solidFill>
                            <a:srgbClr val="0F172A"/>
                          </a:solidFill>
                          <a:latin typeface="Arial"/>
                        </a:rPr>
                        <a:t>-0.008</a:t>
                      </a:r>
                    </a:p>
                  </a:txBody>
                  <a:tcPr/>
                </a:tc>
                <a:tc>
                  <a:txBody>
                    <a:bodyPr/>
                    <a:lstStyle/>
                    <a:p>
                      <a:r>
                        <a:rPr sz="700">
                          <a:solidFill>
                            <a:srgbClr val="0F172A"/>
                          </a:solidFill>
                          <a:latin typeface="Arial"/>
                        </a:rPr>
                        <a:t>-0.248</a:t>
                      </a:r>
                    </a:p>
                  </a:txBody>
                  <a:tcPr/>
                </a:tc>
                <a:tc>
                  <a:txBody>
                    <a:bodyPr/>
                    <a:lstStyle/>
                    <a:p>
                      <a:r>
                        <a:rPr sz="700">
                          <a:solidFill>
                            <a:srgbClr val="0F172A"/>
                          </a:solidFill>
                          <a:latin typeface="Arial"/>
                        </a:rPr>
                        <a:t>-0.053</a:t>
                      </a:r>
                    </a:p>
                  </a:txBody>
                  <a:tcPr/>
                </a:tc>
                <a:tc>
                  <a:txBody>
                    <a:bodyPr/>
                    <a:lstStyle/>
                    <a:p>
                      <a:r>
                        <a:rPr sz="700">
                          <a:solidFill>
                            <a:srgbClr val="0F172A"/>
                          </a:solidFill>
                          <a:latin typeface="Arial"/>
                        </a:rPr>
                        <a:t>+0.025</a:t>
                      </a:r>
                    </a:p>
                  </a:txBody>
                  <a:tcPr/>
                </a:tc>
                <a:tc>
                  <a:txBody>
                    <a:bodyPr/>
                    <a:lstStyle/>
                    <a:p>
                      <a:r>
                        <a:rPr sz="700">
                          <a:solidFill>
                            <a:srgbClr val="0F172A"/>
                          </a:solidFill>
                          <a:latin typeface="Arial"/>
                        </a:rPr>
                        <a:t>-0.058</a:t>
                      </a:r>
                    </a:p>
                  </a:txBody>
                  <a:tcPr/>
                </a:tc>
                <a:tc>
                  <a:txBody>
                    <a:bodyPr/>
                    <a:lstStyle/>
                    <a:p>
                      <a:r>
                        <a:rPr sz="700">
                          <a:solidFill>
                            <a:srgbClr val="0F172A"/>
                          </a:solidFill>
                          <a:latin typeface="Arial"/>
                        </a:rPr>
                        <a:t>-0.136</a:t>
                      </a:r>
                    </a:p>
                  </a:txBody>
                  <a:tcPr/>
                </a:tc>
                <a:tc>
                  <a:txBody>
                    <a:bodyPr/>
                    <a:lstStyle/>
                    <a:p>
                      <a:r>
                        <a:rPr sz="700">
                          <a:solidFill>
                            <a:srgbClr val="0F172A"/>
                          </a:solidFill>
                          <a:latin typeface="Arial"/>
                        </a:rPr>
                        <a:t>-0.049</a:t>
                      </a:r>
                    </a:p>
                  </a:txBody>
                  <a:tcPr/>
                </a:tc>
                <a:extLst>
                  <a:ext uri="{0D108BD9-81ED-4DB2-BD59-A6C34878D82A}">
                    <a16:rowId xmlns:a16="http://schemas.microsoft.com/office/drawing/2014/main" val="10001"/>
                  </a:ext>
                </a:extLst>
              </a:tr>
              <a:tr h="356616">
                <a:tc>
                  <a:txBody>
                    <a:bodyPr/>
                    <a:lstStyle/>
                    <a:p>
                      <a:r>
                        <a:rPr sz="700">
                          <a:solidFill>
                            <a:srgbClr val="0F172A"/>
                          </a:solidFill>
                          <a:latin typeface="Arial"/>
                        </a:rPr>
                        <a:t>RF</a:t>
                      </a:r>
                    </a:p>
                  </a:txBody>
                  <a:tcPr>
                    <a:solidFill>
                      <a:srgbClr val="F8FAFC"/>
                    </a:solidFill>
                  </a:tcPr>
                </a:tc>
                <a:tc>
                  <a:txBody>
                    <a:bodyPr/>
                    <a:lstStyle/>
                    <a:p>
                      <a:r>
                        <a:rPr sz="700">
                          <a:solidFill>
                            <a:srgbClr val="0F172A"/>
                          </a:solidFill>
                          <a:latin typeface="Arial"/>
                        </a:rPr>
                        <a:t>+0.003</a:t>
                      </a:r>
                    </a:p>
                  </a:txBody>
                  <a:tcPr>
                    <a:solidFill>
                      <a:srgbClr val="F8FAFC"/>
                    </a:solidFill>
                  </a:tcPr>
                </a:tc>
                <a:tc>
                  <a:txBody>
                    <a:bodyPr/>
                    <a:lstStyle/>
                    <a:p>
                      <a:r>
                        <a:rPr sz="700">
                          <a:solidFill>
                            <a:srgbClr val="0F172A"/>
                          </a:solidFill>
                          <a:latin typeface="Arial"/>
                        </a:rPr>
                        <a:t>-0.237</a:t>
                      </a:r>
                    </a:p>
                  </a:txBody>
                  <a:tcPr>
                    <a:solidFill>
                      <a:srgbClr val="F8FAFC"/>
                    </a:solidFill>
                  </a:tcPr>
                </a:tc>
                <a:tc>
                  <a:txBody>
                    <a:bodyPr/>
                    <a:lstStyle/>
                    <a:p>
                      <a:r>
                        <a:rPr sz="700">
                          <a:solidFill>
                            <a:srgbClr val="0F172A"/>
                          </a:solidFill>
                          <a:latin typeface="Arial"/>
                        </a:rPr>
                        <a:t>-0.048</a:t>
                      </a:r>
                    </a:p>
                  </a:txBody>
                  <a:tcPr>
                    <a:solidFill>
                      <a:srgbClr val="F8FAFC"/>
                    </a:solidFill>
                  </a:tcPr>
                </a:tc>
                <a:tc>
                  <a:txBody>
                    <a:bodyPr/>
                    <a:lstStyle/>
                    <a:p>
                      <a:r>
                        <a:rPr sz="700">
                          <a:solidFill>
                            <a:srgbClr val="0F172A"/>
                          </a:solidFill>
                          <a:latin typeface="Arial"/>
                        </a:rPr>
                        <a:t>+0.049</a:t>
                      </a:r>
                    </a:p>
                  </a:txBody>
                  <a:tcPr>
                    <a:solidFill>
                      <a:srgbClr val="F8FAFC"/>
                    </a:solidFill>
                  </a:tcPr>
                </a:tc>
                <a:tc>
                  <a:txBody>
                    <a:bodyPr/>
                    <a:lstStyle/>
                    <a:p>
                      <a:r>
                        <a:rPr sz="700">
                          <a:solidFill>
                            <a:srgbClr val="0F172A"/>
                          </a:solidFill>
                          <a:latin typeface="Arial"/>
                        </a:rPr>
                        <a:t>-0.018</a:t>
                      </a:r>
                    </a:p>
                  </a:txBody>
                  <a:tcPr>
                    <a:solidFill>
                      <a:srgbClr val="F8FAFC"/>
                    </a:solidFill>
                  </a:tcPr>
                </a:tc>
                <a:tc>
                  <a:txBody>
                    <a:bodyPr/>
                    <a:lstStyle/>
                    <a:p>
                      <a:r>
                        <a:rPr sz="700">
                          <a:solidFill>
                            <a:srgbClr val="0F172A"/>
                          </a:solidFill>
                          <a:latin typeface="Arial"/>
                        </a:rPr>
                        <a:t>-0.104</a:t>
                      </a:r>
                    </a:p>
                  </a:txBody>
                  <a:tcPr>
                    <a:solidFill>
                      <a:srgbClr val="F8FAFC"/>
                    </a:solidFill>
                  </a:tcPr>
                </a:tc>
                <a:tc>
                  <a:txBody>
                    <a:bodyPr/>
                    <a:lstStyle/>
                    <a:p>
                      <a:r>
                        <a:rPr sz="700">
                          <a:solidFill>
                            <a:srgbClr val="0F172A"/>
                          </a:solidFill>
                          <a:latin typeface="Arial"/>
                        </a:rPr>
                        <a:t>-0.030</a:t>
                      </a:r>
                    </a:p>
                  </a:txBody>
                  <a:tcPr>
                    <a:solidFill>
                      <a:srgbClr val="F8FAFC"/>
                    </a:solidFill>
                  </a:tcPr>
                </a:tc>
                <a:extLst>
                  <a:ext uri="{0D108BD9-81ED-4DB2-BD59-A6C34878D82A}">
                    <a16:rowId xmlns:a16="http://schemas.microsoft.com/office/drawing/2014/main" val="10002"/>
                  </a:ext>
                </a:extLst>
              </a:tr>
              <a:tr h="356616">
                <a:tc>
                  <a:txBody>
                    <a:bodyPr/>
                    <a:lstStyle/>
                    <a:p>
                      <a:r>
                        <a:rPr sz="700">
                          <a:solidFill>
                            <a:srgbClr val="0F172A"/>
                          </a:solidFill>
                          <a:latin typeface="Arial"/>
                        </a:rPr>
                        <a:t>LR</a:t>
                      </a:r>
                    </a:p>
                  </a:txBody>
                  <a:tcPr/>
                </a:tc>
                <a:tc>
                  <a:txBody>
                    <a:bodyPr/>
                    <a:lstStyle/>
                    <a:p>
                      <a:r>
                        <a:rPr sz="700">
                          <a:solidFill>
                            <a:srgbClr val="0F172A"/>
                          </a:solidFill>
                          <a:latin typeface="Arial"/>
                        </a:rPr>
                        <a:t>+0.015</a:t>
                      </a:r>
                    </a:p>
                  </a:txBody>
                  <a:tcPr/>
                </a:tc>
                <a:tc>
                  <a:txBody>
                    <a:bodyPr/>
                    <a:lstStyle/>
                    <a:p>
                      <a:r>
                        <a:rPr sz="700">
                          <a:solidFill>
                            <a:srgbClr val="0F172A"/>
                          </a:solidFill>
                          <a:latin typeface="Arial"/>
                        </a:rPr>
                        <a:t>-0.222</a:t>
                      </a:r>
                    </a:p>
                  </a:txBody>
                  <a:tcPr/>
                </a:tc>
                <a:tc>
                  <a:txBody>
                    <a:bodyPr/>
                    <a:lstStyle/>
                    <a:p>
                      <a:r>
                        <a:rPr sz="700">
                          <a:solidFill>
                            <a:srgbClr val="0F172A"/>
                          </a:solidFill>
                          <a:latin typeface="Arial"/>
                        </a:rPr>
                        <a:t>-0.034</a:t>
                      </a:r>
                    </a:p>
                  </a:txBody>
                  <a:tcPr/>
                </a:tc>
                <a:tc>
                  <a:txBody>
                    <a:bodyPr/>
                    <a:lstStyle/>
                    <a:p>
                      <a:r>
                        <a:rPr sz="700">
                          <a:solidFill>
                            <a:srgbClr val="0F172A"/>
                          </a:solidFill>
                          <a:latin typeface="Arial"/>
                        </a:rPr>
                        <a:t>+0.026</a:t>
                      </a:r>
                    </a:p>
                  </a:txBody>
                  <a:tcPr/>
                </a:tc>
                <a:tc>
                  <a:txBody>
                    <a:bodyPr/>
                    <a:lstStyle/>
                    <a:p>
                      <a:r>
                        <a:rPr sz="700">
                          <a:solidFill>
                            <a:srgbClr val="0F172A"/>
                          </a:solidFill>
                          <a:latin typeface="Arial"/>
                        </a:rPr>
                        <a:t>-0.107</a:t>
                      </a:r>
                    </a:p>
                  </a:txBody>
                  <a:tcPr/>
                </a:tc>
                <a:tc>
                  <a:txBody>
                    <a:bodyPr/>
                    <a:lstStyle/>
                    <a:p>
                      <a:r>
                        <a:rPr sz="700">
                          <a:solidFill>
                            <a:srgbClr val="0F172A"/>
                          </a:solidFill>
                          <a:latin typeface="Arial"/>
                        </a:rPr>
                        <a:t>-0.135</a:t>
                      </a:r>
                    </a:p>
                  </a:txBody>
                  <a:tcPr/>
                </a:tc>
                <a:tc>
                  <a:txBody>
                    <a:bodyPr/>
                    <a:lstStyle/>
                    <a:p>
                      <a:r>
                        <a:rPr sz="700">
                          <a:solidFill>
                            <a:srgbClr val="0F172A"/>
                          </a:solidFill>
                          <a:latin typeface="Arial"/>
                        </a:rPr>
                        <a:t>-0.007</a:t>
                      </a:r>
                    </a:p>
                  </a:txBody>
                  <a:tcPr/>
                </a:tc>
                <a:extLst>
                  <a:ext uri="{0D108BD9-81ED-4DB2-BD59-A6C34878D82A}">
                    <a16:rowId xmlns:a16="http://schemas.microsoft.com/office/drawing/2014/main" val="10003"/>
                  </a:ext>
                </a:extLst>
              </a:tr>
              <a:tr h="356616">
                <a:tc>
                  <a:txBody>
                    <a:bodyPr/>
                    <a:lstStyle/>
                    <a:p>
                      <a:r>
                        <a:rPr sz="700">
                          <a:solidFill>
                            <a:srgbClr val="0F172A"/>
                          </a:solidFill>
                          <a:latin typeface="Arial"/>
                        </a:rPr>
                        <a:t>TABPFN</a:t>
                      </a:r>
                    </a:p>
                  </a:txBody>
                  <a:tcPr>
                    <a:solidFill>
                      <a:srgbClr val="F8FAFC"/>
                    </a:solidFill>
                  </a:tcPr>
                </a:tc>
                <a:tc>
                  <a:txBody>
                    <a:bodyPr/>
                    <a:lstStyle/>
                    <a:p>
                      <a:r>
                        <a:rPr sz="700">
                          <a:solidFill>
                            <a:srgbClr val="0F172A"/>
                          </a:solidFill>
                          <a:latin typeface="Arial"/>
                        </a:rPr>
                        <a:t>-0.003</a:t>
                      </a:r>
                    </a:p>
                  </a:txBody>
                  <a:tcPr>
                    <a:solidFill>
                      <a:srgbClr val="F8FAFC"/>
                    </a:solidFill>
                  </a:tcPr>
                </a:tc>
                <a:tc>
                  <a:txBody>
                    <a:bodyPr/>
                    <a:lstStyle/>
                    <a:p>
                      <a:r>
                        <a:rPr sz="700">
                          <a:solidFill>
                            <a:srgbClr val="0F172A"/>
                          </a:solidFill>
                          <a:latin typeface="Arial"/>
                        </a:rPr>
                        <a:t>-0.243</a:t>
                      </a:r>
                    </a:p>
                  </a:txBody>
                  <a:tcPr>
                    <a:solidFill>
                      <a:srgbClr val="F8FAFC"/>
                    </a:solidFill>
                  </a:tcPr>
                </a:tc>
                <a:tc>
                  <a:txBody>
                    <a:bodyPr/>
                    <a:lstStyle/>
                    <a:p>
                      <a:r>
                        <a:rPr sz="700">
                          <a:solidFill>
                            <a:srgbClr val="0F172A"/>
                          </a:solidFill>
                          <a:latin typeface="Arial"/>
                        </a:rPr>
                        <a:t>-0.033</a:t>
                      </a:r>
                    </a:p>
                  </a:txBody>
                  <a:tcPr>
                    <a:solidFill>
                      <a:srgbClr val="F8FAFC"/>
                    </a:solidFill>
                  </a:tcPr>
                </a:tc>
                <a:tc>
                  <a:txBody>
                    <a:bodyPr/>
                    <a:lstStyle/>
                    <a:p>
                      <a:r>
                        <a:rPr sz="700">
                          <a:solidFill>
                            <a:srgbClr val="0F172A"/>
                          </a:solidFill>
                          <a:latin typeface="Arial"/>
                        </a:rPr>
                        <a:t>+0.055</a:t>
                      </a:r>
                    </a:p>
                  </a:txBody>
                  <a:tcPr>
                    <a:solidFill>
                      <a:srgbClr val="F8FAFC"/>
                    </a:solidFill>
                  </a:tcPr>
                </a:tc>
                <a:tc>
                  <a:txBody>
                    <a:bodyPr/>
                    <a:lstStyle/>
                    <a:p>
                      <a:r>
                        <a:rPr sz="700">
                          <a:solidFill>
                            <a:srgbClr val="0F172A"/>
                          </a:solidFill>
                          <a:latin typeface="Arial"/>
                        </a:rPr>
                        <a:t>-0.072</a:t>
                      </a:r>
                    </a:p>
                  </a:txBody>
                  <a:tcPr>
                    <a:solidFill>
                      <a:srgbClr val="F8FAFC"/>
                    </a:solidFill>
                  </a:tcPr>
                </a:tc>
                <a:tc>
                  <a:txBody>
                    <a:bodyPr/>
                    <a:lstStyle/>
                    <a:p>
                      <a:r>
                        <a:rPr sz="700">
                          <a:solidFill>
                            <a:srgbClr val="0F172A"/>
                          </a:solidFill>
                          <a:latin typeface="Arial"/>
                        </a:rPr>
                        <a:t>-0.130</a:t>
                      </a:r>
                    </a:p>
                  </a:txBody>
                  <a:tcPr>
                    <a:solidFill>
                      <a:srgbClr val="F8FAFC"/>
                    </a:solidFill>
                  </a:tcPr>
                </a:tc>
                <a:tc>
                  <a:txBody>
                    <a:bodyPr/>
                    <a:lstStyle/>
                    <a:p>
                      <a:r>
                        <a:rPr sz="700">
                          <a:solidFill>
                            <a:srgbClr val="0F172A"/>
                          </a:solidFill>
                          <a:latin typeface="Arial"/>
                        </a:rPr>
                        <a:t>-0.010</a:t>
                      </a:r>
                    </a:p>
                  </a:txBody>
                  <a:tcPr>
                    <a:solidFill>
                      <a:srgbClr val="F8FAFC"/>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85800" y="5989320"/>
            <a:ext cx="10607040" cy="310896"/>
          </a:xfrm>
          <a:prstGeom prst="rect">
            <a:avLst/>
          </a:prstGeom>
          <a:noFill/>
        </p:spPr>
        <p:txBody>
          <a:bodyPr wrap="square">
            <a:normAutofit/>
          </a:bodyPr>
          <a:lstStyle/>
          <a:p>
            <a:r>
              <a:rPr sz="1180" b="0">
                <a:solidFill>
                  <a:srgbClr val="475569"/>
                </a:solidFill>
                <a:latin typeface="Arial"/>
              </a:rPr>
              <a:t>Replacement is the stricter comparison because the downstream classifier sees synthetic training rows 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Augmentation and replacement</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The same generators answer two different questions</a:t>
            </a:r>
          </a:p>
        </p:txBody>
      </p:sp>
      <p:graphicFrame>
        <p:nvGraphicFramePr>
          <p:cNvPr id="4" name="Table 3"/>
          <p:cNvGraphicFramePr>
            <a:graphicFrameLocks noGrp="1"/>
          </p:cNvGraphicFramePr>
          <p:nvPr/>
        </p:nvGraphicFramePr>
        <p:xfrm>
          <a:off x="640080" y="1417320"/>
          <a:ext cx="4663440" cy="256032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20040">
                <a:tc>
                  <a:txBody>
                    <a:bodyPr/>
                    <a:lstStyle/>
                    <a:p>
                      <a:r>
                        <a:rPr sz="1050" b="1">
                          <a:solidFill>
                            <a:srgbClr val="FFFFFF"/>
                          </a:solidFill>
                          <a:latin typeface="Arial"/>
                        </a:rPr>
                        <a:t>Mode</a:t>
                      </a:r>
                    </a:p>
                  </a:txBody>
                  <a:tcPr>
                    <a:solidFill>
                      <a:srgbClr val="0F172A"/>
                    </a:solidFill>
                  </a:tcPr>
                </a:tc>
                <a:tc>
                  <a:txBody>
                    <a:bodyPr/>
                    <a:lstStyle/>
                    <a:p>
                      <a:r>
                        <a:rPr sz="1050" b="1">
                          <a:solidFill>
                            <a:srgbClr val="FFFFFF"/>
                          </a:solidFill>
                          <a:latin typeface="Arial"/>
                        </a:rPr>
                        <a:t>Generator</a:t>
                      </a:r>
                    </a:p>
                  </a:txBody>
                  <a:tcPr>
                    <a:solidFill>
                      <a:srgbClr val="0F172A"/>
                    </a:solidFill>
                  </a:tcPr>
                </a:tc>
                <a:tc>
                  <a:txBody>
                    <a:bodyPr/>
                    <a:lstStyle/>
                    <a:p>
                      <a:r>
                        <a:rPr sz="1050" b="1">
                          <a:solidFill>
                            <a:srgbClr val="FFFFFF"/>
                          </a:solidFill>
                          <a:latin typeface="Arial"/>
                        </a:rPr>
                        <a:t>AUC</a:t>
                      </a:r>
                    </a:p>
                  </a:txBody>
                  <a:tcPr>
                    <a:solidFill>
                      <a:srgbClr val="0F172A"/>
                    </a:solidFill>
                  </a:tcPr>
                </a:tc>
                <a:extLst>
                  <a:ext uri="{0D108BD9-81ED-4DB2-BD59-A6C34878D82A}">
                    <a16:rowId xmlns:a16="http://schemas.microsoft.com/office/drawing/2014/main" val="10000"/>
                  </a:ext>
                </a:extLst>
              </a:tr>
              <a:tr h="320040">
                <a:tc>
                  <a:txBody>
                    <a:bodyPr/>
                    <a:lstStyle/>
                    <a:p>
                      <a:r>
                        <a:rPr sz="1050">
                          <a:solidFill>
                            <a:srgbClr val="0F172A"/>
                          </a:solidFill>
                          <a:latin typeface="Arial"/>
                        </a:rPr>
                        <a:t>augmentation</a:t>
                      </a:r>
                    </a:p>
                  </a:txBody>
                  <a:tcPr/>
                </a:tc>
                <a:tc>
                  <a:txBody>
                    <a:bodyPr/>
                    <a:lstStyle/>
                    <a:p>
                      <a:r>
                        <a:rPr sz="1050">
                          <a:solidFill>
                            <a:srgbClr val="0F172A"/>
                          </a:solidFill>
                          <a:latin typeface="Arial"/>
                        </a:rPr>
                        <a:t>ctgan</a:t>
                      </a:r>
                    </a:p>
                  </a:txBody>
                  <a:tcPr/>
                </a:tc>
                <a:tc>
                  <a:txBody>
                    <a:bodyPr/>
                    <a:lstStyle/>
                    <a:p>
                      <a:r>
                        <a:rPr sz="1050" dirty="0">
                          <a:solidFill>
                            <a:srgbClr val="0F172A"/>
                          </a:solidFill>
                          <a:latin typeface="Arial"/>
                        </a:rPr>
                        <a:t>0.906</a:t>
                      </a:r>
                    </a:p>
                  </a:txBody>
                  <a:tcPr/>
                </a:tc>
                <a:extLst>
                  <a:ext uri="{0D108BD9-81ED-4DB2-BD59-A6C34878D82A}">
                    <a16:rowId xmlns:a16="http://schemas.microsoft.com/office/drawing/2014/main" val="10001"/>
                  </a:ext>
                </a:extLst>
              </a:tr>
              <a:tr h="320040">
                <a:tc>
                  <a:txBody>
                    <a:bodyPr/>
                    <a:lstStyle/>
                    <a:p>
                      <a:r>
                        <a:rPr sz="1050">
                          <a:solidFill>
                            <a:srgbClr val="0F172A"/>
                          </a:solidFill>
                          <a:latin typeface="Arial"/>
                        </a:rPr>
                        <a:t>augmentation</a:t>
                      </a:r>
                    </a:p>
                  </a:txBody>
                  <a:tcPr>
                    <a:solidFill>
                      <a:srgbClr val="F8FAFC"/>
                    </a:solidFill>
                  </a:tcPr>
                </a:tc>
                <a:tc>
                  <a:txBody>
                    <a:bodyPr/>
                    <a:lstStyle/>
                    <a:p>
                      <a:r>
                        <a:rPr sz="1050">
                          <a:solidFill>
                            <a:srgbClr val="0F172A"/>
                          </a:solidFill>
                          <a:latin typeface="Arial"/>
                        </a:rPr>
                        <a:t>original</a:t>
                      </a:r>
                    </a:p>
                  </a:txBody>
                  <a:tcPr>
                    <a:solidFill>
                      <a:srgbClr val="F8FAFC"/>
                    </a:solidFill>
                  </a:tcPr>
                </a:tc>
                <a:tc>
                  <a:txBody>
                    <a:bodyPr/>
                    <a:lstStyle/>
                    <a:p>
                      <a:r>
                        <a:rPr sz="1050">
                          <a:solidFill>
                            <a:srgbClr val="0F172A"/>
                          </a:solidFill>
                          <a:latin typeface="Arial"/>
                        </a:rPr>
                        <a:t>NA</a:t>
                      </a:r>
                    </a:p>
                  </a:txBody>
                  <a:tcPr>
                    <a:solidFill>
                      <a:srgbClr val="F8FAFC"/>
                    </a:solidFill>
                  </a:tcPr>
                </a:tc>
                <a:extLst>
                  <a:ext uri="{0D108BD9-81ED-4DB2-BD59-A6C34878D82A}">
                    <a16:rowId xmlns:a16="http://schemas.microsoft.com/office/drawing/2014/main" val="10002"/>
                  </a:ext>
                </a:extLst>
              </a:tr>
              <a:tr h="320040">
                <a:tc>
                  <a:txBody>
                    <a:bodyPr/>
                    <a:lstStyle/>
                    <a:p>
                      <a:r>
                        <a:rPr sz="1050">
                          <a:solidFill>
                            <a:srgbClr val="0F172A"/>
                          </a:solidFill>
                          <a:latin typeface="Arial"/>
                        </a:rPr>
                        <a:t>augmentation</a:t>
                      </a:r>
                    </a:p>
                  </a:txBody>
                  <a:tcPr/>
                </a:tc>
                <a:tc>
                  <a:txBody>
                    <a:bodyPr/>
                    <a:lstStyle/>
                    <a:p>
                      <a:r>
                        <a:rPr sz="1050">
                          <a:solidFill>
                            <a:srgbClr val="0F172A"/>
                          </a:solidFill>
                          <a:latin typeface="Arial"/>
                        </a:rPr>
                        <a:t>smote</a:t>
                      </a:r>
                    </a:p>
                  </a:txBody>
                  <a:tcPr/>
                </a:tc>
                <a:tc>
                  <a:txBody>
                    <a:bodyPr/>
                    <a:lstStyle/>
                    <a:p>
                      <a:r>
                        <a:rPr sz="1050">
                          <a:solidFill>
                            <a:srgbClr val="0F172A"/>
                          </a:solidFill>
                          <a:latin typeface="Arial"/>
                        </a:rPr>
                        <a:t>0.914</a:t>
                      </a:r>
                    </a:p>
                  </a:txBody>
                  <a:tcPr/>
                </a:tc>
                <a:extLst>
                  <a:ext uri="{0D108BD9-81ED-4DB2-BD59-A6C34878D82A}">
                    <a16:rowId xmlns:a16="http://schemas.microsoft.com/office/drawing/2014/main" val="10003"/>
                  </a:ext>
                </a:extLst>
              </a:tr>
              <a:tr h="320040">
                <a:tc>
                  <a:txBody>
                    <a:bodyPr/>
                    <a:lstStyle/>
                    <a:p>
                      <a:r>
                        <a:rPr sz="1050">
                          <a:solidFill>
                            <a:srgbClr val="0F172A"/>
                          </a:solidFill>
                          <a:latin typeface="Arial"/>
                        </a:rPr>
                        <a:t>augmentation</a:t>
                      </a:r>
                    </a:p>
                  </a:txBody>
                  <a:tcPr>
                    <a:solidFill>
                      <a:srgbClr val="F8FAFC"/>
                    </a:solidFill>
                  </a:tcPr>
                </a:tc>
                <a:tc>
                  <a:txBody>
                    <a:bodyPr/>
                    <a:lstStyle/>
                    <a:p>
                      <a:r>
                        <a:rPr sz="1050">
                          <a:solidFill>
                            <a:srgbClr val="0F172A"/>
                          </a:solidFill>
                          <a:latin typeface="Arial"/>
                        </a:rPr>
                        <a:t>tabpfgen</a:t>
                      </a:r>
                    </a:p>
                  </a:txBody>
                  <a:tcPr>
                    <a:solidFill>
                      <a:srgbClr val="F8FAFC"/>
                    </a:solidFill>
                  </a:tcPr>
                </a:tc>
                <a:tc>
                  <a:txBody>
                    <a:bodyPr/>
                    <a:lstStyle/>
                    <a:p>
                      <a:r>
                        <a:rPr sz="1050">
                          <a:solidFill>
                            <a:srgbClr val="0F172A"/>
                          </a:solidFill>
                          <a:latin typeface="Arial"/>
                        </a:rPr>
                        <a:t>0.917</a:t>
                      </a:r>
                    </a:p>
                  </a:txBody>
                  <a:tcPr>
                    <a:solidFill>
                      <a:srgbClr val="F8FAFC"/>
                    </a:solidFill>
                  </a:tcPr>
                </a:tc>
                <a:extLst>
                  <a:ext uri="{0D108BD9-81ED-4DB2-BD59-A6C34878D82A}">
                    <a16:rowId xmlns:a16="http://schemas.microsoft.com/office/drawing/2014/main" val="10004"/>
                  </a:ext>
                </a:extLst>
              </a:tr>
              <a:tr h="320040">
                <a:tc>
                  <a:txBody>
                    <a:bodyPr/>
                    <a:lstStyle/>
                    <a:p>
                      <a:r>
                        <a:rPr sz="1050" dirty="0">
                          <a:solidFill>
                            <a:srgbClr val="0F172A"/>
                          </a:solidFill>
                          <a:latin typeface="Arial"/>
                        </a:rPr>
                        <a:t>replacement</a:t>
                      </a:r>
                    </a:p>
                  </a:txBody>
                  <a:tcPr/>
                </a:tc>
                <a:tc>
                  <a:txBody>
                    <a:bodyPr/>
                    <a:lstStyle/>
                    <a:p>
                      <a:r>
                        <a:rPr sz="1050" dirty="0" err="1">
                          <a:solidFill>
                            <a:srgbClr val="0F172A"/>
                          </a:solidFill>
                          <a:latin typeface="Arial"/>
                        </a:rPr>
                        <a:t>ctgan</a:t>
                      </a:r>
                      <a:endParaRPr sz="1050" dirty="0">
                        <a:solidFill>
                          <a:srgbClr val="0F172A"/>
                        </a:solidFill>
                        <a:latin typeface="Arial"/>
                      </a:endParaRPr>
                    </a:p>
                  </a:txBody>
                  <a:tcPr/>
                </a:tc>
                <a:tc>
                  <a:txBody>
                    <a:bodyPr/>
                    <a:lstStyle/>
                    <a:p>
                      <a:r>
                        <a:rPr sz="1050" dirty="0">
                          <a:solidFill>
                            <a:srgbClr val="0F172A"/>
                          </a:solidFill>
                          <a:latin typeface="Arial"/>
                        </a:rPr>
                        <a:t>0.615</a:t>
                      </a:r>
                    </a:p>
                  </a:txBody>
                  <a:tcPr/>
                </a:tc>
                <a:extLst>
                  <a:ext uri="{0D108BD9-81ED-4DB2-BD59-A6C34878D82A}">
                    <a16:rowId xmlns:a16="http://schemas.microsoft.com/office/drawing/2014/main" val="10005"/>
                  </a:ext>
                </a:extLst>
              </a:tr>
              <a:tr h="320040">
                <a:tc>
                  <a:txBody>
                    <a:bodyPr/>
                    <a:lstStyle/>
                    <a:p>
                      <a:r>
                        <a:rPr sz="1050" dirty="0">
                          <a:solidFill>
                            <a:srgbClr val="0F172A"/>
                          </a:solidFill>
                          <a:latin typeface="Arial"/>
                        </a:rPr>
                        <a:t>replacement</a:t>
                      </a:r>
                    </a:p>
                  </a:txBody>
                  <a:tcPr>
                    <a:solidFill>
                      <a:srgbClr val="F8FAFC"/>
                    </a:solidFill>
                  </a:tcPr>
                </a:tc>
                <a:tc>
                  <a:txBody>
                    <a:bodyPr/>
                    <a:lstStyle/>
                    <a:p>
                      <a:r>
                        <a:rPr sz="1050">
                          <a:solidFill>
                            <a:srgbClr val="0F172A"/>
                          </a:solidFill>
                          <a:latin typeface="Arial"/>
                        </a:rPr>
                        <a:t>smote</a:t>
                      </a:r>
                    </a:p>
                  </a:txBody>
                  <a:tcPr>
                    <a:solidFill>
                      <a:srgbClr val="F8FAFC"/>
                    </a:solidFill>
                  </a:tcPr>
                </a:tc>
                <a:tc>
                  <a:txBody>
                    <a:bodyPr/>
                    <a:lstStyle/>
                    <a:p>
                      <a:r>
                        <a:rPr sz="1050">
                          <a:solidFill>
                            <a:srgbClr val="0F172A"/>
                          </a:solidFill>
                          <a:latin typeface="Arial"/>
                        </a:rPr>
                        <a:t>0.905</a:t>
                      </a:r>
                    </a:p>
                  </a:txBody>
                  <a:tcPr>
                    <a:solidFill>
                      <a:srgbClr val="F8FAFC"/>
                    </a:solidFill>
                  </a:tcPr>
                </a:tc>
                <a:extLst>
                  <a:ext uri="{0D108BD9-81ED-4DB2-BD59-A6C34878D82A}">
                    <a16:rowId xmlns:a16="http://schemas.microsoft.com/office/drawing/2014/main" val="10006"/>
                  </a:ext>
                </a:extLst>
              </a:tr>
              <a:tr h="320040">
                <a:tc>
                  <a:txBody>
                    <a:bodyPr/>
                    <a:lstStyle/>
                    <a:p>
                      <a:r>
                        <a:rPr sz="1050" dirty="0">
                          <a:solidFill>
                            <a:srgbClr val="0F172A"/>
                          </a:solidFill>
                          <a:latin typeface="Arial"/>
                        </a:rPr>
                        <a:t>replacement</a:t>
                      </a:r>
                    </a:p>
                  </a:txBody>
                  <a:tcPr/>
                </a:tc>
                <a:tc>
                  <a:txBody>
                    <a:bodyPr/>
                    <a:lstStyle/>
                    <a:p>
                      <a:r>
                        <a:rPr sz="1050">
                          <a:solidFill>
                            <a:srgbClr val="0F172A"/>
                          </a:solidFill>
                          <a:latin typeface="Arial"/>
                        </a:rPr>
                        <a:t>tabpfgen</a:t>
                      </a:r>
                    </a:p>
                  </a:txBody>
                  <a:tcPr/>
                </a:tc>
                <a:tc>
                  <a:txBody>
                    <a:bodyPr/>
                    <a:lstStyle/>
                    <a:p>
                      <a:r>
                        <a:rPr sz="1050" dirty="0">
                          <a:solidFill>
                            <a:srgbClr val="0F172A"/>
                          </a:solidFill>
                          <a:latin typeface="Arial"/>
                        </a:rPr>
                        <a:t>0.898</a:t>
                      </a:r>
                    </a:p>
                  </a:txBody>
                  <a:tcPr/>
                </a:tc>
                <a:extLst>
                  <a:ext uri="{0D108BD9-81ED-4DB2-BD59-A6C34878D82A}">
                    <a16:rowId xmlns:a16="http://schemas.microsoft.com/office/drawing/2014/main" val="10007"/>
                  </a:ext>
                </a:extLst>
              </a:tr>
            </a:tbl>
          </a:graphicData>
        </a:graphic>
      </p:graphicFrame>
      <p:sp>
        <p:nvSpPr>
          <p:cNvPr id="5" name="Rectangle 4"/>
          <p:cNvSpPr/>
          <p:nvPr/>
        </p:nvSpPr>
        <p:spPr>
          <a:xfrm>
            <a:off x="5806440" y="1417319"/>
            <a:ext cx="2560320" cy="1491133"/>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0" y="1563624"/>
            <a:ext cx="2286000" cy="329184"/>
          </a:xfrm>
          <a:prstGeom prst="rect">
            <a:avLst/>
          </a:prstGeom>
          <a:noFill/>
        </p:spPr>
        <p:txBody>
          <a:bodyPr wrap="square">
            <a:normAutofit fontScale="85000" lnSpcReduction="20000"/>
          </a:bodyPr>
          <a:lstStyle/>
          <a:p>
            <a:r>
              <a:rPr sz="2200" b="1">
                <a:solidFill>
                  <a:srgbClr val="2563EB"/>
                </a:solidFill>
                <a:latin typeface="Arial"/>
              </a:rPr>
              <a:t>real + synthetic</a:t>
            </a:r>
          </a:p>
        </p:txBody>
      </p:sp>
      <p:sp>
        <p:nvSpPr>
          <p:cNvPr id="7" name="TextBox 6"/>
          <p:cNvSpPr txBox="1"/>
          <p:nvPr/>
        </p:nvSpPr>
        <p:spPr>
          <a:xfrm>
            <a:off x="5943600" y="1947672"/>
            <a:ext cx="2286000" cy="256032"/>
          </a:xfrm>
          <a:prstGeom prst="rect">
            <a:avLst/>
          </a:prstGeom>
          <a:noFill/>
        </p:spPr>
        <p:txBody>
          <a:bodyPr wrap="square">
            <a:normAutofit/>
          </a:bodyPr>
          <a:lstStyle/>
          <a:p>
            <a:r>
              <a:rPr sz="1050" b="0">
                <a:solidFill>
                  <a:srgbClr val="475569"/>
                </a:solidFill>
                <a:latin typeface="Arial"/>
              </a:rPr>
              <a:t>augmentation</a:t>
            </a:r>
          </a:p>
        </p:txBody>
      </p:sp>
      <p:sp>
        <p:nvSpPr>
          <p:cNvPr id="8" name="TextBox 7"/>
          <p:cNvSpPr txBox="1"/>
          <p:nvPr/>
        </p:nvSpPr>
        <p:spPr>
          <a:xfrm>
            <a:off x="5943600" y="2295144"/>
            <a:ext cx="2286000" cy="274320"/>
          </a:xfrm>
          <a:prstGeom prst="rect">
            <a:avLst/>
          </a:prstGeom>
          <a:noFill/>
        </p:spPr>
        <p:txBody>
          <a:bodyPr wrap="square">
            <a:normAutofit fontScale="70000" lnSpcReduction="20000"/>
          </a:bodyPr>
          <a:lstStyle/>
          <a:p>
            <a:r>
              <a:rPr sz="1050" b="0">
                <a:solidFill>
                  <a:srgbClr val="0F172A"/>
                </a:solidFill>
                <a:latin typeface="Arial"/>
              </a:rPr>
              <a:t>Tests whether synthetic data improves a real training set.</a:t>
            </a:r>
          </a:p>
        </p:txBody>
      </p:sp>
      <p:sp>
        <p:nvSpPr>
          <p:cNvPr id="9" name="Rectangle 8"/>
          <p:cNvSpPr/>
          <p:nvPr/>
        </p:nvSpPr>
        <p:spPr>
          <a:xfrm>
            <a:off x="8641080" y="1417320"/>
            <a:ext cx="2560320" cy="149113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0" y="1563624"/>
            <a:ext cx="2286000" cy="329184"/>
          </a:xfrm>
          <a:prstGeom prst="rect">
            <a:avLst/>
          </a:prstGeom>
          <a:noFill/>
        </p:spPr>
        <p:txBody>
          <a:bodyPr wrap="square">
            <a:normAutofit fontScale="85000" lnSpcReduction="20000"/>
          </a:bodyPr>
          <a:lstStyle/>
          <a:p>
            <a:r>
              <a:rPr sz="2200" b="1">
                <a:solidFill>
                  <a:srgbClr val="F59E0B"/>
                </a:solidFill>
                <a:latin typeface="Arial"/>
              </a:rPr>
              <a:t>synthetic only</a:t>
            </a:r>
          </a:p>
        </p:txBody>
      </p:sp>
      <p:sp>
        <p:nvSpPr>
          <p:cNvPr id="11" name="TextBox 10"/>
          <p:cNvSpPr txBox="1"/>
          <p:nvPr/>
        </p:nvSpPr>
        <p:spPr>
          <a:xfrm>
            <a:off x="8778240" y="1947672"/>
            <a:ext cx="2286000" cy="256032"/>
          </a:xfrm>
          <a:prstGeom prst="rect">
            <a:avLst/>
          </a:prstGeom>
          <a:noFill/>
        </p:spPr>
        <p:txBody>
          <a:bodyPr wrap="square">
            <a:normAutofit/>
          </a:bodyPr>
          <a:lstStyle/>
          <a:p>
            <a:r>
              <a:rPr sz="1050" b="0">
                <a:solidFill>
                  <a:srgbClr val="475569"/>
                </a:solidFill>
                <a:latin typeface="Arial"/>
              </a:rPr>
              <a:t>replacement</a:t>
            </a:r>
          </a:p>
        </p:txBody>
      </p:sp>
      <p:sp>
        <p:nvSpPr>
          <p:cNvPr id="12" name="TextBox 11"/>
          <p:cNvSpPr txBox="1"/>
          <p:nvPr/>
        </p:nvSpPr>
        <p:spPr>
          <a:xfrm>
            <a:off x="8778240" y="2295144"/>
            <a:ext cx="2286000" cy="274320"/>
          </a:xfrm>
          <a:prstGeom prst="rect">
            <a:avLst/>
          </a:prstGeom>
          <a:noFill/>
        </p:spPr>
        <p:txBody>
          <a:bodyPr wrap="square">
            <a:normAutofit fontScale="70000" lnSpcReduction="20000"/>
          </a:bodyPr>
          <a:lstStyle/>
          <a:p>
            <a:r>
              <a:rPr sz="1050" b="0">
                <a:solidFill>
                  <a:srgbClr val="0F172A"/>
                </a:solidFill>
                <a:latin typeface="Arial"/>
              </a:rPr>
              <a:t>Tests whether the generator can stand in for real data.</a:t>
            </a:r>
          </a:p>
        </p:txBody>
      </p:sp>
      <p:sp>
        <p:nvSpPr>
          <p:cNvPr id="13" name="TextBox 12"/>
          <p:cNvSpPr txBox="1"/>
          <p:nvPr/>
        </p:nvSpPr>
        <p:spPr>
          <a:xfrm>
            <a:off x="5806440" y="3337560"/>
            <a:ext cx="5303520" cy="822960"/>
          </a:xfrm>
          <a:prstGeom prst="rect">
            <a:avLst/>
          </a:prstGeom>
          <a:noFill/>
        </p:spPr>
        <p:txBody>
          <a:bodyPr wrap="square">
            <a:normAutofit/>
          </a:bodyPr>
          <a:lstStyle/>
          <a:p>
            <a:r>
              <a:rPr sz="1500" b="0" dirty="0">
                <a:solidFill>
                  <a:srgbClr val="0F172A"/>
                </a:solidFill>
                <a:latin typeface="Arial"/>
              </a:rPr>
              <a:t>Replacement is the harder and more diagnostic setting. A generator can help augmentation while still failing to capture enough structure to train a classifier by itself.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TabPFGen implementation status</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The sampler now uses raw logits, not probabilities</a:t>
            </a:r>
          </a:p>
        </p:txBody>
      </p:sp>
      <p:sp>
        <p:nvSpPr>
          <p:cNvPr id="4" name="Rectangle 3"/>
          <p:cNvSpPr/>
          <p:nvPr/>
        </p:nvSpPr>
        <p:spPr>
          <a:xfrm>
            <a:off x="685800" y="1325880"/>
            <a:ext cx="333756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72184"/>
            <a:ext cx="3063240" cy="329184"/>
          </a:xfrm>
          <a:prstGeom prst="rect">
            <a:avLst/>
          </a:prstGeom>
          <a:noFill/>
        </p:spPr>
        <p:txBody>
          <a:bodyPr wrap="square">
            <a:normAutofit fontScale="85000" lnSpcReduction="20000"/>
          </a:bodyPr>
          <a:lstStyle/>
          <a:p>
            <a:r>
              <a:rPr sz="2200" b="1">
                <a:solidFill>
                  <a:srgbClr val="0EA5A6"/>
                </a:solidFill>
                <a:latin typeface="Arial"/>
              </a:rPr>
              <a:t>predict_logits</a:t>
            </a:r>
          </a:p>
        </p:txBody>
      </p:sp>
      <p:sp>
        <p:nvSpPr>
          <p:cNvPr id="6" name="TextBox 5"/>
          <p:cNvSpPr txBox="1"/>
          <p:nvPr/>
        </p:nvSpPr>
        <p:spPr>
          <a:xfrm>
            <a:off x="822960" y="1856231"/>
            <a:ext cx="3063240" cy="256032"/>
          </a:xfrm>
          <a:prstGeom prst="rect">
            <a:avLst/>
          </a:prstGeom>
          <a:noFill/>
        </p:spPr>
        <p:txBody>
          <a:bodyPr wrap="square">
            <a:normAutofit/>
          </a:bodyPr>
          <a:lstStyle/>
          <a:p>
            <a:r>
              <a:rPr sz="1050" b="0">
                <a:solidFill>
                  <a:srgbClr val="475569"/>
                </a:solidFill>
                <a:latin typeface="Arial"/>
              </a:rPr>
              <a:t>energy signal</a:t>
            </a:r>
          </a:p>
        </p:txBody>
      </p:sp>
      <p:sp>
        <p:nvSpPr>
          <p:cNvPr id="7" name="TextBox 6"/>
          <p:cNvSpPr txBox="1"/>
          <p:nvPr/>
        </p:nvSpPr>
        <p:spPr>
          <a:xfrm>
            <a:off x="822960" y="2203704"/>
            <a:ext cx="3063240" cy="274320"/>
          </a:xfrm>
          <a:prstGeom prst="rect">
            <a:avLst/>
          </a:prstGeom>
          <a:noFill/>
        </p:spPr>
        <p:txBody>
          <a:bodyPr wrap="square">
            <a:normAutofit fontScale="77500" lnSpcReduction="20000"/>
          </a:bodyPr>
          <a:lstStyle/>
          <a:p>
            <a:r>
              <a:rPr sz="1050" b="0">
                <a:solidFill>
                  <a:srgbClr val="0F172A"/>
                </a:solidFill>
                <a:latin typeface="Arial"/>
              </a:rPr>
              <a:t>Raw logits preserve the prior energy scale used by SGLD.</a:t>
            </a:r>
          </a:p>
        </p:txBody>
      </p:sp>
      <p:sp>
        <p:nvSpPr>
          <p:cNvPr id="8" name="Rectangle 7"/>
          <p:cNvSpPr/>
          <p:nvPr/>
        </p:nvSpPr>
        <p:spPr>
          <a:xfrm>
            <a:off x="4434840" y="1325880"/>
            <a:ext cx="333756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472184"/>
            <a:ext cx="3063240" cy="329184"/>
          </a:xfrm>
          <a:prstGeom prst="rect">
            <a:avLst/>
          </a:prstGeom>
          <a:noFill/>
        </p:spPr>
        <p:txBody>
          <a:bodyPr wrap="square">
            <a:normAutofit fontScale="85000" lnSpcReduction="20000"/>
          </a:bodyPr>
          <a:lstStyle/>
          <a:p>
            <a:r>
              <a:rPr sz="2200" b="1">
                <a:solidFill>
                  <a:srgbClr val="2563EB"/>
                </a:solidFill>
                <a:latin typeface="Arial"/>
              </a:rPr>
              <a:t>differentiable input</a:t>
            </a:r>
          </a:p>
        </p:txBody>
      </p:sp>
      <p:sp>
        <p:nvSpPr>
          <p:cNvPr id="10" name="TextBox 9"/>
          <p:cNvSpPr txBox="1"/>
          <p:nvPr/>
        </p:nvSpPr>
        <p:spPr>
          <a:xfrm>
            <a:off x="4572000" y="1856231"/>
            <a:ext cx="3063240" cy="256032"/>
          </a:xfrm>
          <a:prstGeom prst="rect">
            <a:avLst/>
          </a:prstGeom>
          <a:noFill/>
        </p:spPr>
        <p:txBody>
          <a:bodyPr wrap="square">
            <a:normAutofit/>
          </a:bodyPr>
          <a:lstStyle/>
          <a:p>
            <a:r>
              <a:rPr sz="1050" b="0">
                <a:solidFill>
                  <a:srgbClr val="475569"/>
                </a:solidFill>
                <a:latin typeface="Arial"/>
              </a:rPr>
              <a:t>gradient path</a:t>
            </a:r>
          </a:p>
        </p:txBody>
      </p:sp>
      <p:sp>
        <p:nvSpPr>
          <p:cNvPr id="11" name="TextBox 10"/>
          <p:cNvSpPr txBox="1"/>
          <p:nvPr/>
        </p:nvSpPr>
        <p:spPr>
          <a:xfrm>
            <a:off x="4572000" y="2203704"/>
            <a:ext cx="3063240" cy="274320"/>
          </a:xfrm>
          <a:prstGeom prst="rect">
            <a:avLst/>
          </a:prstGeom>
          <a:noFill/>
        </p:spPr>
        <p:txBody>
          <a:bodyPr wrap="square">
            <a:normAutofit/>
          </a:bodyPr>
          <a:lstStyle/>
          <a:p>
            <a:r>
              <a:rPr sz="1050" b="0">
                <a:solidFill>
                  <a:srgbClr val="0F172A"/>
                </a:solidFill>
                <a:latin typeface="Arial"/>
              </a:rPr>
              <a:t>SGLD needs gradients with respect to x_synth.</a:t>
            </a:r>
          </a:p>
        </p:txBody>
      </p:sp>
      <p:sp>
        <p:nvSpPr>
          <p:cNvPr id="12" name="Rectangle 11"/>
          <p:cNvSpPr/>
          <p:nvPr/>
        </p:nvSpPr>
        <p:spPr>
          <a:xfrm>
            <a:off x="8183879" y="1325880"/>
            <a:ext cx="3337560"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1472184"/>
            <a:ext cx="3063240" cy="329184"/>
          </a:xfrm>
          <a:prstGeom prst="rect">
            <a:avLst/>
          </a:prstGeom>
          <a:noFill/>
        </p:spPr>
        <p:txBody>
          <a:bodyPr wrap="square">
            <a:normAutofit fontScale="85000" lnSpcReduction="20000"/>
          </a:bodyPr>
          <a:lstStyle/>
          <a:p>
            <a:r>
              <a:rPr sz="2200" b="1">
                <a:solidFill>
                  <a:srgbClr val="DC2626"/>
                </a:solidFill>
                <a:latin typeface="Arial"/>
              </a:rPr>
              <a:t>finite guards</a:t>
            </a:r>
          </a:p>
        </p:txBody>
      </p:sp>
      <p:sp>
        <p:nvSpPr>
          <p:cNvPr id="14" name="TextBox 13"/>
          <p:cNvSpPr txBox="1"/>
          <p:nvPr/>
        </p:nvSpPr>
        <p:spPr>
          <a:xfrm>
            <a:off x="8321040" y="1856231"/>
            <a:ext cx="3063240" cy="256032"/>
          </a:xfrm>
          <a:prstGeom prst="rect">
            <a:avLst/>
          </a:prstGeom>
          <a:noFill/>
        </p:spPr>
        <p:txBody>
          <a:bodyPr wrap="square">
            <a:normAutofit/>
          </a:bodyPr>
          <a:lstStyle/>
          <a:p>
            <a:r>
              <a:rPr sz="1050" b="0">
                <a:solidFill>
                  <a:srgbClr val="475569"/>
                </a:solidFill>
                <a:latin typeface="Arial"/>
              </a:rPr>
              <a:t>stability checks</a:t>
            </a:r>
          </a:p>
        </p:txBody>
      </p:sp>
      <p:sp>
        <p:nvSpPr>
          <p:cNvPr id="15" name="TextBox 14"/>
          <p:cNvSpPr txBox="1"/>
          <p:nvPr/>
        </p:nvSpPr>
        <p:spPr>
          <a:xfrm>
            <a:off x="8321040" y="2203704"/>
            <a:ext cx="3063240" cy="274320"/>
          </a:xfrm>
          <a:prstGeom prst="rect">
            <a:avLst/>
          </a:prstGeom>
          <a:noFill/>
        </p:spPr>
        <p:txBody>
          <a:bodyPr wrap="square">
            <a:normAutofit fontScale="85000" lnSpcReduction="10000"/>
          </a:bodyPr>
          <a:lstStyle/>
          <a:p>
            <a:r>
              <a:rPr sz="1050" b="0">
                <a:solidFill>
                  <a:srgbClr val="0F172A"/>
                </a:solidFill>
                <a:latin typeface="Arial"/>
              </a:rPr>
              <a:t>Non-finite energy, gradient, or samples now fail loudly.</a:t>
            </a:r>
          </a:p>
        </p:txBody>
      </p:sp>
      <p:sp>
        <p:nvSpPr>
          <p:cNvPr id="16" name="TextBox 15"/>
          <p:cNvSpPr txBox="1"/>
          <p:nvPr/>
        </p:nvSpPr>
        <p:spPr>
          <a:xfrm>
            <a:off x="777240" y="3154680"/>
            <a:ext cx="10515600" cy="777240"/>
          </a:xfrm>
          <a:prstGeom prst="rect">
            <a:avLst/>
          </a:prstGeom>
          <a:noFill/>
        </p:spPr>
        <p:txBody>
          <a:bodyPr wrap="square">
            <a:normAutofit/>
          </a:bodyPr>
          <a:lstStyle/>
          <a:p>
            <a:r>
              <a:rPr sz="1550" b="0">
                <a:solidFill>
                  <a:srgbClr val="0F172A"/>
                </a:solidFill>
                <a:latin typeface="Arial"/>
              </a:rPr>
              <a:t>Why logits matter: softmax probabilities normalize away part of the evidence scale. The paper energy is based on the model score before that normalization, so raw logits better preserve the prior used during sampling.</a:t>
            </a:r>
          </a:p>
        </p:txBody>
      </p:sp>
      <p:sp>
        <p:nvSpPr>
          <p:cNvPr id="17" name="TextBox 16"/>
          <p:cNvSpPr txBox="1"/>
          <p:nvPr/>
        </p:nvSpPr>
        <p:spPr>
          <a:xfrm>
            <a:off x="777240" y="4251960"/>
            <a:ext cx="10515600" cy="685800"/>
          </a:xfrm>
          <a:prstGeom prst="rect">
            <a:avLst/>
          </a:prstGeom>
          <a:noFill/>
        </p:spPr>
        <p:txBody>
          <a:bodyPr wrap="square">
            <a:normAutofit/>
          </a:bodyPr>
          <a:lstStyle/>
          <a:p>
            <a:r>
              <a:rPr sz="1550" b="0" dirty="0">
                <a:solidFill>
                  <a:srgbClr val="DC2626"/>
                </a:solidFill>
                <a:latin typeface="Arial"/>
              </a:rPr>
              <a:t>Current risk: diabetes can still fail during SGLD because its gradients become non-finite.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Core and full TabPFGen</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The full objective asks synthetic data to explain the real data</a:t>
            </a:r>
          </a:p>
        </p:txBody>
      </p:sp>
      <p:sp>
        <p:nvSpPr>
          <p:cNvPr id="4" name="Rectangle 3"/>
          <p:cNvSpPr/>
          <p:nvPr/>
        </p:nvSpPr>
        <p:spPr>
          <a:xfrm>
            <a:off x="685800" y="1234440"/>
            <a:ext cx="3291840" cy="168249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380744"/>
            <a:ext cx="3017520" cy="329184"/>
          </a:xfrm>
          <a:prstGeom prst="rect">
            <a:avLst/>
          </a:prstGeom>
          <a:noFill/>
        </p:spPr>
        <p:txBody>
          <a:bodyPr wrap="square">
            <a:normAutofit fontScale="85000" lnSpcReduction="20000"/>
          </a:bodyPr>
          <a:lstStyle/>
          <a:p>
            <a:r>
              <a:rPr sz="2200" b="1">
                <a:solidFill>
                  <a:srgbClr val="2563EB"/>
                </a:solidFill>
                <a:latin typeface="Arial"/>
              </a:rPr>
              <a:t>real -&gt; synthetic</a:t>
            </a:r>
          </a:p>
        </p:txBody>
      </p:sp>
      <p:sp>
        <p:nvSpPr>
          <p:cNvPr id="6" name="TextBox 5"/>
          <p:cNvSpPr txBox="1"/>
          <p:nvPr/>
        </p:nvSpPr>
        <p:spPr>
          <a:xfrm>
            <a:off x="822960" y="1764792"/>
            <a:ext cx="3017520" cy="256032"/>
          </a:xfrm>
          <a:prstGeom prst="rect">
            <a:avLst/>
          </a:prstGeom>
          <a:noFill/>
        </p:spPr>
        <p:txBody>
          <a:bodyPr wrap="square">
            <a:normAutofit/>
          </a:bodyPr>
          <a:lstStyle/>
          <a:p>
            <a:r>
              <a:rPr sz="1050" b="0">
                <a:solidFill>
                  <a:srgbClr val="475569"/>
                </a:solidFill>
                <a:latin typeface="Arial"/>
              </a:rPr>
              <a:t>core term</a:t>
            </a:r>
          </a:p>
        </p:txBody>
      </p:sp>
      <p:sp>
        <p:nvSpPr>
          <p:cNvPr id="7" name="TextBox 6"/>
          <p:cNvSpPr txBox="1"/>
          <p:nvPr/>
        </p:nvSpPr>
        <p:spPr>
          <a:xfrm>
            <a:off x="822960" y="2112264"/>
            <a:ext cx="3017520" cy="365759"/>
          </a:xfrm>
          <a:prstGeom prst="rect">
            <a:avLst/>
          </a:prstGeom>
          <a:noFill/>
        </p:spPr>
        <p:txBody>
          <a:bodyPr wrap="square">
            <a:normAutofit fontScale="77500" lnSpcReduction="20000"/>
          </a:bodyPr>
          <a:lstStyle/>
          <a:p>
            <a:r>
              <a:rPr sz="1050" b="0">
                <a:solidFill>
                  <a:srgbClr val="0F172A"/>
                </a:solidFill>
                <a:latin typeface="Arial"/>
              </a:rPr>
              <a:t>Real rows form the TabPFN context. SGLD moves synthetic rows until TabPFN assigns their target labels high logits.</a:t>
            </a:r>
          </a:p>
        </p:txBody>
      </p:sp>
      <p:sp>
        <p:nvSpPr>
          <p:cNvPr id="8" name="Rectangle 7"/>
          <p:cNvSpPr/>
          <p:nvPr/>
        </p:nvSpPr>
        <p:spPr>
          <a:xfrm>
            <a:off x="4434840" y="1234439"/>
            <a:ext cx="3291840" cy="1682495"/>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380744"/>
            <a:ext cx="3017520" cy="329184"/>
          </a:xfrm>
          <a:prstGeom prst="rect">
            <a:avLst/>
          </a:prstGeom>
          <a:noFill/>
        </p:spPr>
        <p:txBody>
          <a:bodyPr wrap="square">
            <a:normAutofit fontScale="85000" lnSpcReduction="20000"/>
          </a:bodyPr>
          <a:lstStyle/>
          <a:p>
            <a:r>
              <a:rPr sz="2200" b="1">
                <a:solidFill>
                  <a:srgbClr val="0EA5A6"/>
                </a:solidFill>
                <a:latin typeface="Arial"/>
              </a:rPr>
              <a:t>synthetic -&gt; real</a:t>
            </a:r>
          </a:p>
        </p:txBody>
      </p:sp>
      <p:sp>
        <p:nvSpPr>
          <p:cNvPr id="10" name="TextBox 9"/>
          <p:cNvSpPr txBox="1"/>
          <p:nvPr/>
        </p:nvSpPr>
        <p:spPr>
          <a:xfrm>
            <a:off x="4572000" y="1764792"/>
            <a:ext cx="3017520" cy="256032"/>
          </a:xfrm>
          <a:prstGeom prst="rect">
            <a:avLst/>
          </a:prstGeom>
          <a:noFill/>
        </p:spPr>
        <p:txBody>
          <a:bodyPr wrap="square">
            <a:normAutofit/>
          </a:bodyPr>
          <a:lstStyle/>
          <a:p>
            <a:r>
              <a:rPr sz="1050" b="0">
                <a:solidFill>
                  <a:srgbClr val="475569"/>
                </a:solidFill>
                <a:latin typeface="Arial"/>
              </a:rPr>
              <a:t>swap term</a:t>
            </a:r>
          </a:p>
        </p:txBody>
      </p:sp>
      <p:sp>
        <p:nvSpPr>
          <p:cNvPr id="11" name="TextBox 10"/>
          <p:cNvSpPr txBox="1"/>
          <p:nvPr/>
        </p:nvSpPr>
        <p:spPr>
          <a:xfrm>
            <a:off x="4572000" y="2112264"/>
            <a:ext cx="3017520" cy="365759"/>
          </a:xfrm>
          <a:prstGeom prst="rect">
            <a:avLst/>
          </a:prstGeom>
          <a:noFill/>
        </p:spPr>
        <p:txBody>
          <a:bodyPr wrap="square">
            <a:normAutofit fontScale="85000" lnSpcReduction="10000"/>
          </a:bodyPr>
          <a:lstStyle/>
          <a:p>
            <a:r>
              <a:rPr sz="1050" b="0">
                <a:solidFill>
                  <a:srgbClr val="0F172A"/>
                </a:solidFill>
                <a:latin typeface="Arial"/>
              </a:rPr>
              <a:t>Synthetic rows become the context. The same labels should help TabPFN classify the original real rows.</a:t>
            </a:r>
          </a:p>
        </p:txBody>
      </p:sp>
      <p:sp>
        <p:nvSpPr>
          <p:cNvPr id="16" name="TextBox 15"/>
          <p:cNvSpPr txBox="1"/>
          <p:nvPr/>
        </p:nvSpPr>
        <p:spPr>
          <a:xfrm>
            <a:off x="777240" y="3246120"/>
            <a:ext cx="2926080" cy="292608"/>
          </a:xfrm>
          <a:prstGeom prst="rect">
            <a:avLst/>
          </a:prstGeom>
          <a:noFill/>
        </p:spPr>
        <p:txBody>
          <a:bodyPr wrap="square">
            <a:normAutofit fontScale="92500" lnSpcReduction="20000"/>
          </a:bodyPr>
          <a:lstStyle/>
          <a:p>
            <a:r>
              <a:rPr sz="1700" b="1">
                <a:solidFill>
                  <a:srgbClr val="0F172A"/>
                </a:solidFill>
                <a:latin typeface="Arial"/>
              </a:rPr>
              <a:t>Why the swap helps</a:t>
            </a:r>
          </a:p>
        </p:txBody>
      </p:sp>
      <p:sp>
        <p:nvSpPr>
          <p:cNvPr id="17" name="TextBox 16"/>
          <p:cNvSpPr txBox="1"/>
          <p:nvPr/>
        </p:nvSpPr>
        <p:spPr>
          <a:xfrm>
            <a:off x="777240" y="3639312"/>
            <a:ext cx="10378440" cy="713232"/>
          </a:xfrm>
          <a:prstGeom prst="rect">
            <a:avLst/>
          </a:prstGeom>
          <a:noFill/>
        </p:spPr>
        <p:txBody>
          <a:bodyPr wrap="square">
            <a:normAutofit/>
          </a:bodyPr>
          <a:lstStyle/>
          <a:p>
            <a:r>
              <a:rPr sz="1450" b="0">
                <a:solidFill>
                  <a:srgbClr val="0F172A"/>
                </a:solidFill>
                <a:latin typeface="Arial"/>
              </a:rPr>
              <a:t>The core term can produce rows that look highly class-plausible but do not form a useful training set. The swap term penalizes synthetic batches that fail to classify the original data when used as the in-context training set.</a:t>
            </a:r>
          </a:p>
        </p:txBody>
      </p:sp>
      <p:sp>
        <p:nvSpPr>
          <p:cNvPr id="18" name="TextBox 17"/>
          <p:cNvSpPr txBox="1"/>
          <p:nvPr/>
        </p:nvSpPr>
        <p:spPr>
          <a:xfrm>
            <a:off x="777240" y="4617720"/>
            <a:ext cx="2926080" cy="292608"/>
          </a:xfrm>
          <a:prstGeom prst="rect">
            <a:avLst/>
          </a:prstGeom>
          <a:noFill/>
        </p:spPr>
        <p:txBody>
          <a:bodyPr wrap="square">
            <a:normAutofit fontScale="92500" lnSpcReduction="20000"/>
          </a:bodyPr>
          <a:lstStyle/>
          <a:p>
            <a:r>
              <a:rPr sz="1700" b="1">
                <a:solidFill>
                  <a:srgbClr val="0F172A"/>
                </a:solidFill>
                <a:latin typeface="Arial"/>
              </a:rPr>
              <a:t>Practical interpretation</a:t>
            </a:r>
          </a:p>
        </p:txBody>
      </p:sp>
      <p:sp>
        <p:nvSpPr>
          <p:cNvPr id="19" name="TextBox 18"/>
          <p:cNvSpPr txBox="1"/>
          <p:nvPr/>
        </p:nvSpPr>
        <p:spPr>
          <a:xfrm>
            <a:off x="777240" y="5010912"/>
            <a:ext cx="10378440" cy="411480"/>
          </a:xfrm>
          <a:prstGeom prst="rect">
            <a:avLst/>
          </a:prstGeom>
          <a:noFill/>
        </p:spPr>
        <p:txBody>
          <a:bodyPr wrap="square">
            <a:normAutofit/>
          </a:bodyPr>
          <a:lstStyle/>
          <a:p>
            <a:r>
              <a:rPr sz="1450" b="0">
                <a:solidFill>
                  <a:srgbClr val="0F172A"/>
                </a:solidFill>
                <a:latin typeface="Arial"/>
              </a:rPr>
              <a:t>Full TabPFGen tests whether the synthetic set can stand in for the real set, which matters most in replacement mode.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Feature scaling decision</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Scaling is an implementation choice for SGLD stability</a:t>
            </a:r>
          </a:p>
        </p:txBody>
      </p:sp>
      <p:graphicFrame>
        <p:nvGraphicFramePr>
          <p:cNvPr id="4" name="Table 3"/>
          <p:cNvGraphicFramePr>
            <a:graphicFrameLocks noGrp="1"/>
          </p:cNvGraphicFramePr>
          <p:nvPr>
            <p:extLst>
              <p:ext uri="{D42A27DB-BD31-4B8C-83A1-F6EECF244321}">
                <p14:modId xmlns:p14="http://schemas.microsoft.com/office/powerpoint/2010/main" val="3064473018"/>
              </p:ext>
            </p:extLst>
          </p:nvPr>
        </p:nvGraphicFramePr>
        <p:xfrm>
          <a:off x="685800" y="1234440"/>
          <a:ext cx="6492240" cy="2267712"/>
        </p:xfrm>
        <a:graphic>
          <a:graphicData uri="http://schemas.openxmlformats.org/drawingml/2006/table">
            <a:tbl>
              <a:tblPr firstRow="1" bandRow="1">
                <a:tableStyleId>{5C22544A-7EE6-4342-B048-85BDC9FD1C3A}</a:tableStyleId>
              </a:tblPr>
              <a:tblGrid>
                <a:gridCol w="324612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tblGrid>
              <a:tr h="566928">
                <a:tc>
                  <a:txBody>
                    <a:bodyPr/>
                    <a:lstStyle/>
                    <a:p>
                      <a:r>
                        <a:rPr sz="1120" b="1">
                          <a:solidFill>
                            <a:srgbClr val="FFFFFF"/>
                          </a:solidFill>
                          <a:latin typeface="Arial"/>
                        </a:rPr>
                        <a:t>Point</a:t>
                      </a:r>
                    </a:p>
                  </a:txBody>
                  <a:tcPr>
                    <a:solidFill>
                      <a:srgbClr val="2563EB"/>
                    </a:solidFill>
                  </a:tcPr>
                </a:tc>
                <a:tc>
                  <a:txBody>
                    <a:bodyPr/>
                    <a:lstStyle/>
                    <a:p>
                      <a:r>
                        <a:rPr sz="1120" b="1">
                          <a:solidFill>
                            <a:srgbClr val="FFFFFF"/>
                          </a:solidFill>
                          <a:latin typeface="Arial"/>
                        </a:rPr>
                        <a:t>Interpretation</a:t>
                      </a:r>
                    </a:p>
                  </a:txBody>
                  <a:tcPr>
                    <a:solidFill>
                      <a:srgbClr val="2563EB"/>
                    </a:solidFill>
                  </a:tcPr>
                </a:tc>
                <a:extLst>
                  <a:ext uri="{0D108BD9-81ED-4DB2-BD59-A6C34878D82A}">
                    <a16:rowId xmlns:a16="http://schemas.microsoft.com/office/drawing/2014/main" val="10000"/>
                  </a:ext>
                </a:extLst>
              </a:tr>
              <a:tr h="566928">
                <a:tc>
                  <a:txBody>
                    <a:bodyPr/>
                    <a:lstStyle/>
                    <a:p>
                      <a:r>
                        <a:rPr sz="1120" dirty="0">
                          <a:solidFill>
                            <a:srgbClr val="0F172A"/>
                          </a:solidFill>
                          <a:latin typeface="Arial"/>
                        </a:rPr>
                        <a:t>Paper detail</a:t>
                      </a:r>
                    </a:p>
                  </a:txBody>
                  <a:tcPr/>
                </a:tc>
                <a:tc>
                  <a:txBody>
                    <a:bodyPr/>
                    <a:lstStyle/>
                    <a:p>
                      <a:r>
                        <a:rPr sz="1120">
                          <a:solidFill>
                            <a:srgbClr val="0F172A"/>
                          </a:solidFill>
                          <a:latin typeface="Arial"/>
                        </a:rPr>
                        <a:t>External scaling is not clearly specified in TabPFGen.</a:t>
                      </a:r>
                    </a:p>
                  </a:txBody>
                  <a:tcPr/>
                </a:tc>
                <a:extLst>
                  <a:ext uri="{0D108BD9-81ED-4DB2-BD59-A6C34878D82A}">
                    <a16:rowId xmlns:a16="http://schemas.microsoft.com/office/drawing/2014/main" val="10001"/>
                  </a:ext>
                </a:extLst>
              </a:tr>
              <a:tr h="566928">
                <a:tc>
                  <a:txBody>
                    <a:bodyPr/>
                    <a:lstStyle/>
                    <a:p>
                      <a:r>
                        <a:rPr sz="1120">
                          <a:solidFill>
                            <a:srgbClr val="0F172A"/>
                          </a:solidFill>
                          <a:latin typeface="Arial"/>
                        </a:rPr>
                        <a:t>Numerical issue</a:t>
                      </a:r>
                    </a:p>
                  </a:txBody>
                  <a:tcPr>
                    <a:solidFill>
                      <a:srgbClr val="F8FAFC"/>
                    </a:solidFill>
                  </a:tcPr>
                </a:tc>
                <a:tc>
                  <a:txBody>
                    <a:bodyPr/>
                    <a:lstStyle/>
                    <a:p>
                      <a:r>
                        <a:rPr sz="1120">
                          <a:solidFill>
                            <a:srgbClr val="0F172A"/>
                          </a:solidFill>
                          <a:latin typeface="Arial"/>
                        </a:rPr>
                        <a:t>SGLD step size and noise act directly in feature space.</a:t>
                      </a:r>
                    </a:p>
                  </a:txBody>
                  <a:tcPr>
                    <a:solidFill>
                      <a:srgbClr val="F8FAFC"/>
                    </a:solidFill>
                  </a:tcPr>
                </a:tc>
                <a:extLst>
                  <a:ext uri="{0D108BD9-81ED-4DB2-BD59-A6C34878D82A}">
                    <a16:rowId xmlns:a16="http://schemas.microsoft.com/office/drawing/2014/main" val="10002"/>
                  </a:ext>
                </a:extLst>
              </a:tr>
              <a:tr h="566928">
                <a:tc>
                  <a:txBody>
                    <a:bodyPr/>
                    <a:lstStyle/>
                    <a:p>
                      <a:r>
                        <a:rPr sz="1120">
                          <a:solidFill>
                            <a:srgbClr val="0F172A"/>
                          </a:solidFill>
                          <a:latin typeface="Arial"/>
                        </a:rPr>
                        <a:t>Why scale</a:t>
                      </a:r>
                    </a:p>
                  </a:txBody>
                  <a:tcPr/>
                </a:tc>
                <a:tc>
                  <a:txBody>
                    <a:bodyPr/>
                    <a:lstStyle/>
                    <a:p>
                      <a:r>
                        <a:rPr sz="1120" dirty="0">
                          <a:solidFill>
                            <a:srgbClr val="0F172A"/>
                          </a:solidFill>
                          <a:latin typeface="Arial"/>
                        </a:rPr>
                        <a:t>Large-range features otherwise dominate gradients and noise.</a:t>
                      </a: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7635240" y="1325880"/>
            <a:ext cx="3383280" cy="292608"/>
          </a:xfrm>
          <a:prstGeom prst="rect">
            <a:avLst/>
          </a:prstGeom>
          <a:noFill/>
        </p:spPr>
        <p:txBody>
          <a:bodyPr wrap="square">
            <a:normAutofit fontScale="92500" lnSpcReduction="20000"/>
          </a:bodyPr>
          <a:lstStyle/>
          <a:p>
            <a:r>
              <a:rPr sz="1700" b="1">
                <a:solidFill>
                  <a:srgbClr val="0F172A"/>
                </a:solidFill>
                <a:latin typeface="Arial"/>
              </a:rPr>
              <a:t>Supervisor-facing justification</a:t>
            </a:r>
          </a:p>
        </p:txBody>
      </p:sp>
      <p:sp>
        <p:nvSpPr>
          <p:cNvPr id="6" name="TextBox 5"/>
          <p:cNvSpPr txBox="1"/>
          <p:nvPr/>
        </p:nvSpPr>
        <p:spPr>
          <a:xfrm>
            <a:off x="7635240" y="1737360"/>
            <a:ext cx="3611880" cy="960120"/>
          </a:xfrm>
          <a:prstGeom prst="rect">
            <a:avLst/>
          </a:prstGeom>
          <a:noFill/>
        </p:spPr>
        <p:txBody>
          <a:bodyPr wrap="square">
            <a:normAutofit/>
          </a:bodyPr>
          <a:lstStyle/>
          <a:p>
            <a:r>
              <a:rPr sz="1380" b="0" dirty="0">
                <a:solidFill>
                  <a:srgbClr val="0F172A"/>
                </a:solidFill>
                <a:latin typeface="Arial"/>
              </a:rPr>
              <a:t>Scaling makes a fixed SGLD step size and Gaussian noise level comparable across heterogeneous </a:t>
            </a:r>
            <a:r>
              <a:rPr sz="1380" b="0" dirty="0" err="1">
                <a:solidFill>
                  <a:srgbClr val="0F172A"/>
                </a:solidFill>
                <a:latin typeface="Arial"/>
              </a:rPr>
              <a:t>OpenML</a:t>
            </a:r>
            <a:r>
              <a:rPr sz="1380" b="0" dirty="0">
                <a:solidFill>
                  <a:srgbClr val="0F172A"/>
                </a:solidFill>
                <a:latin typeface="Arial"/>
              </a:rPr>
              <a:t> features.</a:t>
            </a:r>
          </a:p>
        </p:txBody>
      </p:sp>
      <p:sp>
        <p:nvSpPr>
          <p:cNvPr id="7" name="TextBox 6"/>
          <p:cNvSpPr txBox="1"/>
          <p:nvPr/>
        </p:nvSpPr>
        <p:spPr>
          <a:xfrm>
            <a:off x="7635240" y="3154680"/>
            <a:ext cx="3383280" cy="292608"/>
          </a:xfrm>
          <a:prstGeom prst="rect">
            <a:avLst/>
          </a:prstGeom>
          <a:noFill/>
        </p:spPr>
        <p:txBody>
          <a:bodyPr wrap="square">
            <a:normAutofit fontScale="92500" lnSpcReduction="20000"/>
          </a:bodyPr>
          <a:lstStyle/>
          <a:p>
            <a:r>
              <a:rPr sz="1700" b="1">
                <a:solidFill>
                  <a:srgbClr val="0F172A"/>
                </a:solidFill>
                <a:latin typeface="Arial"/>
              </a:rPr>
              <a:t>Caveat</a:t>
            </a:r>
          </a:p>
        </p:txBody>
      </p:sp>
      <p:sp>
        <p:nvSpPr>
          <p:cNvPr id="8" name="TextBox 7"/>
          <p:cNvSpPr txBox="1"/>
          <p:nvPr/>
        </p:nvSpPr>
        <p:spPr>
          <a:xfrm>
            <a:off x="7635240" y="3566160"/>
            <a:ext cx="3611880" cy="713232"/>
          </a:xfrm>
          <a:prstGeom prst="rect">
            <a:avLst/>
          </a:prstGeom>
          <a:noFill/>
        </p:spPr>
        <p:txBody>
          <a:bodyPr wrap="square">
            <a:normAutofit lnSpcReduction="10000"/>
          </a:bodyPr>
          <a:lstStyle/>
          <a:p>
            <a:r>
              <a:rPr sz="1380" b="0" dirty="0">
                <a:solidFill>
                  <a:srgbClr val="DC2626"/>
                </a:solidFill>
                <a:latin typeface="Arial"/>
              </a:rPr>
              <a:t>Because the paper underspecifies this preprocessing detail, a no-scale sensitivity run</a:t>
            </a:r>
            <a:r>
              <a:rPr lang="nl-NL" sz="1380" b="0" dirty="0">
                <a:solidFill>
                  <a:srgbClr val="DC2626"/>
                </a:solidFill>
                <a:latin typeface="Arial"/>
              </a:rPr>
              <a:t> </a:t>
            </a:r>
            <a:r>
              <a:rPr lang="nl-NL" sz="1380" b="0" dirty="0" err="1">
                <a:solidFill>
                  <a:srgbClr val="DC2626"/>
                </a:solidFill>
                <a:latin typeface="Arial"/>
              </a:rPr>
              <a:t>should</a:t>
            </a:r>
            <a:r>
              <a:rPr lang="nl-NL" sz="1380" b="0" dirty="0">
                <a:solidFill>
                  <a:srgbClr val="DC2626"/>
                </a:solidFill>
                <a:latin typeface="Arial"/>
              </a:rPr>
              <a:t> </a:t>
            </a:r>
            <a:r>
              <a:rPr lang="nl-NL" sz="1380" b="0" dirty="0" err="1">
                <a:solidFill>
                  <a:srgbClr val="DC2626"/>
                </a:solidFill>
                <a:latin typeface="Arial"/>
              </a:rPr>
              <a:t>be</a:t>
            </a:r>
            <a:r>
              <a:rPr lang="nl-NL" sz="1380" b="0" dirty="0">
                <a:solidFill>
                  <a:srgbClr val="DC2626"/>
                </a:solidFill>
                <a:latin typeface="Arial"/>
              </a:rPr>
              <a:t> </a:t>
            </a:r>
            <a:r>
              <a:rPr lang="nl-NL" sz="1380" b="0" dirty="0" err="1">
                <a:solidFill>
                  <a:srgbClr val="DC2626"/>
                </a:solidFill>
                <a:latin typeface="Arial"/>
              </a:rPr>
              <a:t>included</a:t>
            </a:r>
            <a:r>
              <a:rPr lang="nl-NL" sz="1380" b="0" dirty="0">
                <a:solidFill>
                  <a:srgbClr val="DC2626"/>
                </a:solidFill>
                <a:latin typeface="Arial"/>
              </a:rPr>
              <a:t>.</a:t>
            </a:r>
            <a:endParaRPr sz="1380" b="0" dirty="0">
              <a:solidFill>
                <a:srgbClr val="DC2626"/>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Hollmann protocol reference</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The cited TabPFN paper gives a procedure, not exact final settings</a:t>
            </a:r>
          </a:p>
        </p:txBody>
      </p:sp>
      <p:graphicFrame>
        <p:nvGraphicFramePr>
          <p:cNvPr id="4" name="Table 3"/>
          <p:cNvGraphicFramePr>
            <a:graphicFrameLocks noGrp="1"/>
          </p:cNvGraphicFramePr>
          <p:nvPr/>
        </p:nvGraphicFramePr>
        <p:xfrm>
          <a:off x="594360" y="1234440"/>
          <a:ext cx="10972800" cy="32004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640080">
                <a:tc>
                  <a:txBody>
                    <a:bodyPr/>
                    <a:lstStyle/>
                    <a:p>
                      <a:r>
                        <a:rPr sz="1060" b="1">
                          <a:solidFill>
                            <a:srgbClr val="FFFFFF"/>
                          </a:solidFill>
                          <a:latin typeface="Arial"/>
                        </a:rPr>
                        <a:t>Question</a:t>
                      </a:r>
                    </a:p>
                  </a:txBody>
                  <a:tcPr>
                    <a:solidFill>
                      <a:srgbClr val="0F172A"/>
                    </a:solidFill>
                  </a:tcPr>
                </a:tc>
                <a:tc>
                  <a:txBody>
                    <a:bodyPr/>
                    <a:lstStyle/>
                    <a:p>
                      <a:r>
                        <a:rPr sz="1060" b="1">
                          <a:solidFill>
                            <a:srgbClr val="FFFFFF"/>
                          </a:solidFill>
                          <a:latin typeface="Arial"/>
                        </a:rPr>
                        <a:t>Answer</a:t>
                      </a:r>
                    </a:p>
                  </a:txBody>
                  <a:tcPr>
                    <a:solidFill>
                      <a:srgbClr val="0F172A"/>
                    </a:solidFill>
                  </a:tcPr>
                </a:tc>
                <a:extLst>
                  <a:ext uri="{0D108BD9-81ED-4DB2-BD59-A6C34878D82A}">
                    <a16:rowId xmlns:a16="http://schemas.microsoft.com/office/drawing/2014/main" val="10000"/>
                  </a:ext>
                </a:extLst>
              </a:tr>
              <a:tr h="640080">
                <a:tc>
                  <a:txBody>
                    <a:bodyPr/>
                    <a:lstStyle/>
                    <a:p>
                      <a:r>
                        <a:rPr sz="1060">
                          <a:solidFill>
                            <a:srgbClr val="0F172A"/>
                          </a:solidFill>
                          <a:latin typeface="Arial"/>
                        </a:rPr>
                        <a:t>What can be inferred</a:t>
                      </a:r>
                    </a:p>
                  </a:txBody>
                  <a:tcPr/>
                </a:tc>
                <a:tc>
                  <a:txBody>
                    <a:bodyPr/>
                    <a:lstStyle/>
                    <a:p>
                      <a:r>
                        <a:rPr sz="1060">
                          <a:solidFill>
                            <a:srgbClr val="0F172A"/>
                          </a:solidFill>
                          <a:latin typeface="Arial"/>
                        </a:rPr>
                        <a:t>Benchmark style, AUC evaluation, small tabular setting, and baseline tuning philosophy.</a:t>
                      </a:r>
                    </a:p>
                  </a:txBody>
                  <a:tcPr/>
                </a:tc>
                <a:extLst>
                  <a:ext uri="{0D108BD9-81ED-4DB2-BD59-A6C34878D82A}">
                    <a16:rowId xmlns:a16="http://schemas.microsoft.com/office/drawing/2014/main" val="10001"/>
                  </a:ext>
                </a:extLst>
              </a:tr>
              <a:tr h="640080">
                <a:tc>
                  <a:txBody>
                    <a:bodyPr/>
                    <a:lstStyle/>
                    <a:p>
                      <a:r>
                        <a:rPr sz="1060">
                          <a:solidFill>
                            <a:srgbClr val="0F172A"/>
                          </a:solidFill>
                          <a:latin typeface="Arial"/>
                        </a:rPr>
                        <a:t>What cannot be inferred</a:t>
                      </a:r>
                    </a:p>
                  </a:txBody>
                  <a:tcPr>
                    <a:solidFill>
                      <a:srgbClr val="F8FAFC"/>
                    </a:solidFill>
                  </a:tcPr>
                </a:tc>
                <a:tc>
                  <a:txBody>
                    <a:bodyPr/>
                    <a:lstStyle/>
                    <a:p>
                      <a:r>
                        <a:rPr sz="1060">
                          <a:solidFill>
                            <a:srgbClr val="0F172A"/>
                          </a:solidFill>
                          <a:latin typeface="Arial"/>
                        </a:rPr>
                        <a:t>Exact per-dataset XGB, RF, LR, or TabPFN hyperparameters.</a:t>
                      </a:r>
                    </a:p>
                  </a:txBody>
                  <a:tcPr>
                    <a:solidFill>
                      <a:srgbClr val="F8FAFC"/>
                    </a:solidFill>
                  </a:tcPr>
                </a:tc>
                <a:extLst>
                  <a:ext uri="{0D108BD9-81ED-4DB2-BD59-A6C34878D82A}">
                    <a16:rowId xmlns:a16="http://schemas.microsoft.com/office/drawing/2014/main" val="10002"/>
                  </a:ext>
                </a:extLst>
              </a:tr>
              <a:tr h="640080">
                <a:tc>
                  <a:txBody>
                    <a:bodyPr/>
                    <a:lstStyle/>
                    <a:p>
                      <a:r>
                        <a:rPr sz="1060">
                          <a:solidFill>
                            <a:srgbClr val="0F172A"/>
                          </a:solidFill>
                          <a:latin typeface="Arial"/>
                        </a:rPr>
                        <a:t>Downstream implication</a:t>
                      </a:r>
                    </a:p>
                  </a:txBody>
                  <a:tcPr/>
                </a:tc>
                <a:tc>
                  <a:txBody>
                    <a:bodyPr/>
                    <a:lstStyle/>
                    <a:p>
                      <a:r>
                        <a:rPr sz="1060">
                          <a:solidFill>
                            <a:srgbClr val="0F172A"/>
                          </a:solidFill>
                          <a:latin typeface="Arial"/>
                        </a:rPr>
                        <a:t>A faithful extension would add a tuning stage instead of inventing fixed values.</a:t>
                      </a:r>
                    </a:p>
                  </a:txBody>
                  <a:tcPr/>
                </a:tc>
                <a:extLst>
                  <a:ext uri="{0D108BD9-81ED-4DB2-BD59-A6C34878D82A}">
                    <a16:rowId xmlns:a16="http://schemas.microsoft.com/office/drawing/2014/main" val="10003"/>
                  </a:ext>
                </a:extLst>
              </a:tr>
              <a:tr h="640080">
                <a:tc>
                  <a:txBody>
                    <a:bodyPr/>
                    <a:lstStyle/>
                    <a:p>
                      <a:r>
                        <a:rPr sz="1060">
                          <a:solidFill>
                            <a:srgbClr val="0F172A"/>
                          </a:solidFill>
                          <a:latin typeface="Arial"/>
                        </a:rPr>
                        <a:t>Current code stance</a:t>
                      </a:r>
                    </a:p>
                  </a:txBody>
                  <a:tcPr>
                    <a:solidFill>
                      <a:srgbClr val="F8FAFC"/>
                    </a:solidFill>
                  </a:tcPr>
                </a:tc>
                <a:tc>
                  <a:txBody>
                    <a:bodyPr/>
                    <a:lstStyle/>
                    <a:p>
                      <a:r>
                        <a:rPr sz="1060">
                          <a:solidFill>
                            <a:srgbClr val="0F172A"/>
                          </a:solidFill>
                          <a:latin typeface="Arial"/>
                        </a:rPr>
                        <a:t>Keep explicit defaults and document the deviation.</a:t>
                      </a:r>
                    </a:p>
                  </a:txBody>
                  <a:tcPr>
                    <a:solidFill>
                      <a:srgbClr val="F8FAFC"/>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777240" y="4892040"/>
            <a:ext cx="10424160" cy="530352"/>
          </a:xfrm>
          <a:prstGeom prst="rect">
            <a:avLst/>
          </a:prstGeom>
          <a:noFill/>
        </p:spPr>
        <p:txBody>
          <a:bodyPr wrap="square">
            <a:normAutofit lnSpcReduction="10000"/>
          </a:bodyPr>
          <a:lstStyle/>
          <a:p>
            <a:r>
              <a:rPr sz="1500" b="0">
                <a:solidFill>
                  <a:srgbClr val="0F172A"/>
                </a:solidFill>
                <a:latin typeface="Arial"/>
              </a:rPr>
              <a:t>Bottom line: “following Hollmann” supports the evaluation protocol. It does not uniquely determine every downstream hyperparameter unless the TabPFGen authors release configs or selected values.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TabPFN model version</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The paper checkpoint differs from modern TabPFN releases</a:t>
            </a:r>
          </a:p>
        </p:txBody>
      </p:sp>
      <p:graphicFrame>
        <p:nvGraphicFramePr>
          <p:cNvPr id="4" name="Table 3"/>
          <p:cNvGraphicFramePr>
            <a:graphicFrameLocks noGrp="1"/>
          </p:cNvGraphicFramePr>
          <p:nvPr>
            <p:extLst>
              <p:ext uri="{D42A27DB-BD31-4B8C-83A1-F6EECF244321}">
                <p14:modId xmlns:p14="http://schemas.microsoft.com/office/powerpoint/2010/main" val="8723219"/>
              </p:ext>
            </p:extLst>
          </p:nvPr>
        </p:nvGraphicFramePr>
        <p:xfrm>
          <a:off x="594360" y="1234440"/>
          <a:ext cx="10972800" cy="2670048"/>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67512">
                <a:tc>
                  <a:txBody>
                    <a:bodyPr/>
                    <a:lstStyle/>
                    <a:p>
                      <a:r>
                        <a:rPr sz="980" b="1">
                          <a:solidFill>
                            <a:srgbClr val="FFFFFF"/>
                          </a:solidFill>
                          <a:latin typeface="Arial"/>
                        </a:rPr>
                        <a:t>Item</a:t>
                      </a:r>
                    </a:p>
                  </a:txBody>
                  <a:tcPr>
                    <a:solidFill>
                      <a:srgbClr val="7C3AED"/>
                    </a:solidFill>
                  </a:tcPr>
                </a:tc>
                <a:tc>
                  <a:txBody>
                    <a:bodyPr/>
                    <a:lstStyle/>
                    <a:p>
                      <a:r>
                        <a:rPr sz="980" b="1">
                          <a:solidFill>
                            <a:srgbClr val="FFFFFF"/>
                          </a:solidFill>
                          <a:latin typeface="Arial"/>
                        </a:rPr>
                        <a:t>Path or setting</a:t>
                      </a:r>
                    </a:p>
                  </a:txBody>
                  <a:tcPr>
                    <a:solidFill>
                      <a:srgbClr val="7C3AED"/>
                    </a:solidFill>
                  </a:tcPr>
                </a:tc>
                <a:tc>
                  <a:txBody>
                    <a:bodyPr/>
                    <a:lstStyle/>
                    <a:p>
                      <a:r>
                        <a:rPr sz="980" b="1">
                          <a:solidFill>
                            <a:srgbClr val="FFFFFF"/>
                          </a:solidFill>
                          <a:latin typeface="Arial"/>
                        </a:rPr>
                        <a:t>Meaning</a:t>
                      </a:r>
                    </a:p>
                  </a:txBody>
                  <a:tcPr>
                    <a:solidFill>
                      <a:srgbClr val="7C3AED"/>
                    </a:solidFill>
                  </a:tcPr>
                </a:tc>
                <a:extLst>
                  <a:ext uri="{0D108BD9-81ED-4DB2-BD59-A6C34878D82A}">
                    <a16:rowId xmlns:a16="http://schemas.microsoft.com/office/drawing/2014/main" val="10000"/>
                  </a:ext>
                </a:extLst>
              </a:tr>
              <a:tr h="667512">
                <a:tc>
                  <a:txBody>
                    <a:bodyPr/>
                    <a:lstStyle/>
                    <a:p>
                      <a:r>
                        <a:rPr sz="980">
                          <a:solidFill>
                            <a:srgbClr val="0F172A"/>
                          </a:solidFill>
                          <a:latin typeface="Arial"/>
                        </a:rPr>
                        <a:t>Paper checkpoint</a:t>
                      </a:r>
                    </a:p>
                  </a:txBody>
                  <a:tcPr/>
                </a:tc>
                <a:tc>
                  <a:txBody>
                    <a:bodyPr/>
                    <a:lstStyle/>
                    <a:p>
                      <a:r>
                        <a:rPr sz="980">
                          <a:solidFill>
                            <a:srgbClr val="0F172A"/>
                          </a:solidFill>
                          <a:latin typeface="Arial"/>
                        </a:rPr>
                        <a:t>prior_diff_real_checkpoint_n_0_epoch_42.cpkt</a:t>
                      </a:r>
                    </a:p>
                  </a:txBody>
                  <a:tcPr/>
                </a:tc>
                <a:tc>
                  <a:txBody>
                    <a:bodyPr/>
                    <a:lstStyle/>
                    <a:p>
                      <a:r>
                        <a:rPr sz="980">
                          <a:solidFill>
                            <a:srgbClr val="0F172A"/>
                          </a:solidFill>
                          <a:latin typeface="Arial"/>
                        </a:rPr>
                        <a:t>original TabPFN-era weights</a:t>
                      </a:r>
                    </a:p>
                  </a:txBody>
                  <a:tcPr/>
                </a:tc>
                <a:extLst>
                  <a:ext uri="{0D108BD9-81ED-4DB2-BD59-A6C34878D82A}">
                    <a16:rowId xmlns:a16="http://schemas.microsoft.com/office/drawing/2014/main" val="10001"/>
                  </a:ext>
                </a:extLst>
              </a:tr>
              <a:tr h="667512">
                <a:tc>
                  <a:txBody>
                    <a:bodyPr/>
                    <a:lstStyle/>
                    <a:p>
                      <a:r>
                        <a:rPr sz="980">
                          <a:solidFill>
                            <a:srgbClr val="0F172A"/>
                          </a:solidFill>
                          <a:latin typeface="Arial"/>
                        </a:rPr>
                        <a:t>Current risk</a:t>
                      </a:r>
                    </a:p>
                  </a:txBody>
                  <a:tcPr>
                    <a:solidFill>
                      <a:srgbClr val="F8FAFC"/>
                    </a:solidFill>
                  </a:tcPr>
                </a:tc>
                <a:tc>
                  <a:txBody>
                    <a:bodyPr/>
                    <a:lstStyle/>
                    <a:p>
                      <a:r>
                        <a:rPr sz="980">
                          <a:solidFill>
                            <a:srgbClr val="0F172A"/>
                          </a:solidFill>
                          <a:latin typeface="Arial"/>
                        </a:rPr>
                        <a:t>model_path='auto'</a:t>
                      </a:r>
                    </a:p>
                  </a:txBody>
                  <a:tcPr>
                    <a:solidFill>
                      <a:srgbClr val="F8FAFC"/>
                    </a:solidFill>
                  </a:tcPr>
                </a:tc>
                <a:tc>
                  <a:txBody>
                    <a:bodyPr/>
                    <a:lstStyle/>
                    <a:p>
                      <a:r>
                        <a:rPr sz="980">
                          <a:solidFill>
                            <a:srgbClr val="0F172A"/>
                          </a:solidFill>
                          <a:latin typeface="Arial"/>
                        </a:rPr>
                        <a:t>may load newer package defaults</a:t>
                      </a:r>
                    </a:p>
                  </a:txBody>
                  <a:tcPr>
                    <a:solidFill>
                      <a:srgbClr val="F8FAFC"/>
                    </a:solidFill>
                  </a:tcPr>
                </a:tc>
                <a:extLst>
                  <a:ext uri="{0D108BD9-81ED-4DB2-BD59-A6C34878D82A}">
                    <a16:rowId xmlns:a16="http://schemas.microsoft.com/office/drawing/2014/main" val="10002"/>
                  </a:ext>
                </a:extLst>
              </a:tr>
              <a:tr h="667512">
                <a:tc>
                  <a:txBody>
                    <a:bodyPr/>
                    <a:lstStyle/>
                    <a:p>
                      <a:r>
                        <a:rPr sz="980" dirty="0">
                          <a:solidFill>
                            <a:srgbClr val="0F172A"/>
                          </a:solidFill>
                          <a:latin typeface="Arial"/>
                        </a:rPr>
                        <a:t>v2.5 / v3 impact</a:t>
                      </a:r>
                    </a:p>
                  </a:txBody>
                  <a:tcPr/>
                </a:tc>
                <a:tc>
                  <a:txBody>
                    <a:bodyPr/>
                    <a:lstStyle/>
                    <a:p>
                      <a:r>
                        <a:rPr sz="980">
                          <a:solidFill>
                            <a:srgbClr val="0F172A"/>
                          </a:solidFill>
                          <a:latin typeface="Arial"/>
                        </a:rPr>
                        <a:t>different pretrained prior</a:t>
                      </a:r>
                    </a:p>
                  </a:txBody>
                  <a:tcPr/>
                </a:tc>
                <a:tc>
                  <a:txBody>
                    <a:bodyPr/>
                    <a:lstStyle/>
                    <a:p>
                      <a:r>
                        <a:rPr sz="980" dirty="0">
                          <a:solidFill>
                            <a:srgbClr val="0F172A"/>
                          </a:solidFill>
                          <a:latin typeface="Arial"/>
                        </a:rPr>
                        <a:t>can change logits, gradients, and AUC</a:t>
                      </a: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777240" y="4919472"/>
            <a:ext cx="2286000" cy="274320"/>
          </a:xfrm>
          <a:prstGeom prst="rect">
            <a:avLst/>
          </a:prstGeom>
          <a:noFill/>
        </p:spPr>
        <p:txBody>
          <a:bodyPr wrap="square">
            <a:normAutofit fontScale="85000" lnSpcReduction="20000"/>
          </a:bodyPr>
          <a:lstStyle/>
          <a:p>
            <a:r>
              <a:rPr sz="1700" b="1">
                <a:solidFill>
                  <a:srgbClr val="0F172A"/>
                </a:solidFill>
                <a:latin typeface="Arial"/>
              </a:rPr>
              <a:t>Interpretation</a:t>
            </a:r>
          </a:p>
        </p:txBody>
      </p:sp>
      <p:sp>
        <p:nvSpPr>
          <p:cNvPr id="6" name="TextBox 5"/>
          <p:cNvSpPr txBox="1"/>
          <p:nvPr/>
        </p:nvSpPr>
        <p:spPr>
          <a:xfrm>
            <a:off x="2560320" y="4892040"/>
            <a:ext cx="8686800" cy="411480"/>
          </a:xfrm>
          <a:prstGeom prst="rect">
            <a:avLst/>
          </a:prstGeom>
          <a:noFill/>
        </p:spPr>
        <p:txBody>
          <a:bodyPr wrap="square">
            <a:normAutofit fontScale="92500" lnSpcReduction="20000"/>
          </a:bodyPr>
          <a:lstStyle/>
          <a:p>
            <a:r>
              <a:rPr sz="1450" b="0" dirty="0">
                <a:solidFill>
                  <a:srgbClr val="0F172A"/>
                </a:solidFill>
                <a:latin typeface="Arial"/>
              </a:rPr>
              <a:t>Using a v3 or other new </a:t>
            </a:r>
            <a:r>
              <a:rPr sz="1450" b="0" dirty="0" err="1">
                <a:solidFill>
                  <a:srgbClr val="0F172A"/>
                </a:solidFill>
                <a:latin typeface="Arial"/>
              </a:rPr>
              <a:t>TabPFN</a:t>
            </a:r>
            <a:r>
              <a:rPr sz="1450" b="0" dirty="0">
                <a:solidFill>
                  <a:srgbClr val="0F172A"/>
                </a:solidFill>
                <a:latin typeface="Arial"/>
              </a:rPr>
              <a:t> model is useful as a modern ablation, but </a:t>
            </a:r>
            <a:r>
              <a:rPr lang="nl-NL" sz="1450" dirty="0" err="1">
                <a:solidFill>
                  <a:srgbClr val="0F172A"/>
                </a:solidFill>
                <a:latin typeface="Arial"/>
              </a:rPr>
              <a:t>the</a:t>
            </a:r>
            <a:r>
              <a:rPr lang="nl-NL" sz="1450" dirty="0">
                <a:solidFill>
                  <a:srgbClr val="0F172A"/>
                </a:solidFill>
                <a:latin typeface="Arial"/>
              </a:rPr>
              <a:t> </a:t>
            </a:r>
            <a:r>
              <a:rPr lang="nl-NL" sz="1450" dirty="0" err="1">
                <a:solidFill>
                  <a:srgbClr val="0F172A"/>
                </a:solidFill>
                <a:latin typeface="Arial"/>
              </a:rPr>
              <a:t>results</a:t>
            </a:r>
            <a:r>
              <a:rPr lang="nl-NL" sz="1450" dirty="0">
                <a:solidFill>
                  <a:srgbClr val="0F172A"/>
                </a:solidFill>
                <a:latin typeface="Arial"/>
              </a:rPr>
              <a:t> </a:t>
            </a:r>
            <a:r>
              <a:rPr lang="nl-NL" sz="1450" dirty="0" err="1">
                <a:solidFill>
                  <a:srgbClr val="0F172A"/>
                </a:solidFill>
                <a:latin typeface="Arial"/>
              </a:rPr>
              <a:t>may</a:t>
            </a:r>
            <a:r>
              <a:rPr lang="nl-NL" sz="1450" dirty="0">
                <a:solidFill>
                  <a:srgbClr val="0F172A"/>
                </a:solidFill>
                <a:latin typeface="Arial"/>
              </a:rPr>
              <a:t> </a:t>
            </a:r>
            <a:r>
              <a:rPr lang="nl-NL" sz="1450" dirty="0" err="1">
                <a:solidFill>
                  <a:srgbClr val="0F172A"/>
                </a:solidFill>
                <a:latin typeface="Arial"/>
              </a:rPr>
              <a:t>differ</a:t>
            </a:r>
            <a:r>
              <a:rPr lang="nl-NL" sz="1450" dirty="0">
                <a:solidFill>
                  <a:srgbClr val="0F172A"/>
                </a:solidFill>
                <a:latin typeface="Arial"/>
              </a:rPr>
              <a:t> </a:t>
            </a:r>
            <a:r>
              <a:rPr lang="nl-NL" sz="1450" dirty="0" err="1">
                <a:solidFill>
                  <a:srgbClr val="0F172A"/>
                </a:solidFill>
                <a:latin typeface="Arial"/>
              </a:rPr>
              <a:t>from</a:t>
            </a:r>
            <a:r>
              <a:rPr lang="nl-NL" sz="1450" dirty="0">
                <a:solidFill>
                  <a:srgbClr val="0F172A"/>
                </a:solidFill>
                <a:latin typeface="Arial"/>
              </a:rPr>
              <a:t> </a:t>
            </a:r>
            <a:r>
              <a:rPr sz="1450" b="0" dirty="0">
                <a:solidFill>
                  <a:srgbClr val="0F172A"/>
                </a:solidFill>
                <a:latin typeface="Arial"/>
              </a:rPr>
              <a:t>the exact paper reproduction.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Diabetes failure mode</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The failed rows are informative rather than just missing output</a:t>
            </a:r>
          </a:p>
        </p:txBody>
      </p:sp>
      <p:sp>
        <p:nvSpPr>
          <p:cNvPr id="4" name="TextBox 3"/>
          <p:cNvSpPr txBox="1"/>
          <p:nvPr/>
        </p:nvSpPr>
        <p:spPr>
          <a:xfrm>
            <a:off x="685800" y="1417320"/>
            <a:ext cx="2743200" cy="274320"/>
          </a:xfrm>
          <a:prstGeom prst="rect">
            <a:avLst/>
          </a:prstGeom>
          <a:noFill/>
        </p:spPr>
        <p:txBody>
          <a:bodyPr wrap="square">
            <a:normAutofit fontScale="85000" lnSpcReduction="20000"/>
          </a:bodyPr>
          <a:lstStyle/>
          <a:p>
            <a:r>
              <a:rPr sz="1700" b="1">
                <a:solidFill>
                  <a:srgbClr val="0F172A"/>
                </a:solidFill>
                <a:latin typeface="Arial"/>
              </a:rPr>
              <a:t>Observed symptom</a:t>
            </a:r>
          </a:p>
        </p:txBody>
      </p:sp>
      <p:sp>
        <p:nvSpPr>
          <p:cNvPr id="5" name="TextBox 4"/>
          <p:cNvSpPr txBox="1"/>
          <p:nvPr/>
        </p:nvSpPr>
        <p:spPr>
          <a:xfrm>
            <a:off x="685800" y="1783080"/>
            <a:ext cx="4754880" cy="822960"/>
          </a:xfrm>
          <a:prstGeom prst="rect">
            <a:avLst/>
          </a:prstGeom>
          <a:noFill/>
        </p:spPr>
        <p:txBody>
          <a:bodyPr wrap="square">
            <a:normAutofit/>
          </a:bodyPr>
          <a:lstStyle/>
          <a:p>
            <a:r>
              <a:rPr sz="1400" b="0">
                <a:solidFill>
                  <a:srgbClr val="0F172A"/>
                </a:solidFill>
                <a:latin typeface="Arial"/>
              </a:rPr>
              <a:t>Generated diabetes rows were effectively empty feature vectors with a target label, for example comma-separated blanks ending in tested_negative.</a:t>
            </a:r>
          </a:p>
        </p:txBody>
      </p:sp>
      <p:sp>
        <p:nvSpPr>
          <p:cNvPr id="6" name="TextBox 5"/>
          <p:cNvSpPr txBox="1"/>
          <p:nvPr/>
        </p:nvSpPr>
        <p:spPr>
          <a:xfrm>
            <a:off x="685800" y="2880360"/>
            <a:ext cx="2743200" cy="274320"/>
          </a:xfrm>
          <a:prstGeom prst="rect">
            <a:avLst/>
          </a:prstGeom>
          <a:noFill/>
        </p:spPr>
        <p:txBody>
          <a:bodyPr wrap="square">
            <a:normAutofit fontScale="85000" lnSpcReduction="20000"/>
          </a:bodyPr>
          <a:lstStyle/>
          <a:p>
            <a:r>
              <a:rPr sz="1700" b="1">
                <a:solidFill>
                  <a:srgbClr val="0F172A"/>
                </a:solidFill>
                <a:latin typeface="Arial"/>
              </a:rPr>
              <a:t>Likely mechanism</a:t>
            </a:r>
          </a:p>
        </p:txBody>
      </p:sp>
      <p:sp>
        <p:nvSpPr>
          <p:cNvPr id="7" name="TextBox 6"/>
          <p:cNvSpPr txBox="1"/>
          <p:nvPr/>
        </p:nvSpPr>
        <p:spPr>
          <a:xfrm>
            <a:off x="685800" y="3246120"/>
            <a:ext cx="4754880" cy="914400"/>
          </a:xfrm>
          <a:prstGeom prst="rect">
            <a:avLst/>
          </a:prstGeom>
          <a:noFill/>
        </p:spPr>
        <p:txBody>
          <a:bodyPr wrap="square">
            <a:normAutofit lnSpcReduction="10000"/>
          </a:bodyPr>
          <a:lstStyle/>
          <a:p>
            <a:r>
              <a:rPr sz="1400" b="0">
                <a:solidFill>
                  <a:srgbClr val="0F172A"/>
                </a:solidFill>
                <a:latin typeface="Arial"/>
              </a:rPr>
              <a:t>SGLD hit non-finite gradients on diabetes. Once numerical values become NaN or infinite, inverse scaling can turn the synthetic feature columns into invalid or blank output.</a:t>
            </a:r>
          </a:p>
        </p:txBody>
      </p:sp>
      <p:sp>
        <p:nvSpPr>
          <p:cNvPr id="8" name="Rectangle 7"/>
          <p:cNvSpPr/>
          <p:nvPr/>
        </p:nvSpPr>
        <p:spPr>
          <a:xfrm>
            <a:off x="6080760" y="1417319"/>
            <a:ext cx="2286000" cy="125037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0" y="1563624"/>
            <a:ext cx="2011680" cy="329184"/>
          </a:xfrm>
          <a:prstGeom prst="rect">
            <a:avLst/>
          </a:prstGeom>
          <a:noFill/>
        </p:spPr>
        <p:txBody>
          <a:bodyPr wrap="square">
            <a:normAutofit fontScale="85000" lnSpcReduction="20000"/>
          </a:bodyPr>
          <a:lstStyle/>
          <a:p>
            <a:r>
              <a:rPr sz="2200" b="1">
                <a:solidFill>
                  <a:srgbClr val="F59E0B"/>
                </a:solidFill>
                <a:latin typeface="Arial"/>
              </a:rPr>
              <a:t>ignore now</a:t>
            </a:r>
          </a:p>
        </p:txBody>
      </p:sp>
      <p:sp>
        <p:nvSpPr>
          <p:cNvPr id="11" name="TextBox 10"/>
          <p:cNvSpPr txBox="1"/>
          <p:nvPr/>
        </p:nvSpPr>
        <p:spPr>
          <a:xfrm>
            <a:off x="6217920" y="2295144"/>
            <a:ext cx="2011680" cy="91439"/>
          </a:xfrm>
          <a:prstGeom prst="rect">
            <a:avLst/>
          </a:prstGeom>
          <a:noFill/>
        </p:spPr>
        <p:txBody>
          <a:bodyPr wrap="square">
            <a:normAutofit fontScale="25000" lnSpcReduction="20000"/>
          </a:bodyPr>
          <a:lstStyle/>
          <a:p>
            <a:r>
              <a:rPr sz="1050" b="0">
                <a:solidFill>
                  <a:srgbClr val="0F172A"/>
                </a:solidFill>
                <a:latin typeface="Arial"/>
              </a:rPr>
              <a:t>Keep the limitation explicit.</a:t>
            </a:r>
          </a:p>
        </p:txBody>
      </p:sp>
      <p:sp>
        <p:nvSpPr>
          <p:cNvPr id="12" name="Rectangle 11"/>
          <p:cNvSpPr/>
          <p:nvPr/>
        </p:nvSpPr>
        <p:spPr>
          <a:xfrm>
            <a:off x="8732520" y="1417320"/>
            <a:ext cx="2286000" cy="125037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69680" y="1563624"/>
            <a:ext cx="2011680" cy="329184"/>
          </a:xfrm>
          <a:prstGeom prst="rect">
            <a:avLst/>
          </a:prstGeom>
          <a:noFill/>
        </p:spPr>
        <p:txBody>
          <a:bodyPr wrap="square">
            <a:normAutofit fontScale="85000" lnSpcReduction="20000"/>
          </a:bodyPr>
          <a:lstStyle/>
          <a:p>
            <a:r>
              <a:rPr sz="2200" b="1">
                <a:solidFill>
                  <a:srgbClr val="2563EB"/>
                </a:solidFill>
                <a:latin typeface="Arial"/>
              </a:rPr>
              <a:t>gradient trace</a:t>
            </a:r>
          </a:p>
        </p:txBody>
      </p:sp>
      <p:sp>
        <p:nvSpPr>
          <p:cNvPr id="15" name="TextBox 14"/>
          <p:cNvSpPr txBox="1"/>
          <p:nvPr/>
        </p:nvSpPr>
        <p:spPr>
          <a:xfrm>
            <a:off x="8869680" y="2295144"/>
            <a:ext cx="2011680" cy="329184"/>
          </a:xfrm>
          <a:prstGeom prst="rect">
            <a:avLst/>
          </a:prstGeom>
          <a:noFill/>
        </p:spPr>
        <p:txBody>
          <a:bodyPr wrap="square">
            <a:normAutofit/>
          </a:bodyPr>
          <a:lstStyle/>
          <a:p>
            <a:r>
              <a:rPr sz="1050" b="0" dirty="0">
                <a:solidFill>
                  <a:srgbClr val="0F172A"/>
                </a:solidFill>
                <a:latin typeface="Arial"/>
              </a:rPr>
              <a:t>Run health</a:t>
            </a:r>
            <a:r>
              <a:rPr lang="nl-NL" sz="1050" b="0" dirty="0">
                <a:solidFill>
                  <a:srgbClr val="0F172A"/>
                </a:solidFill>
                <a:latin typeface="Arial"/>
              </a:rPr>
              <a:t> jobs</a:t>
            </a:r>
            <a:r>
              <a:rPr sz="1050" b="0" dirty="0">
                <a:solidFill>
                  <a:srgbClr val="0F172A"/>
                </a:solidFill>
                <a:latin typeface="Arial"/>
              </a:rPr>
              <a:t>.</a:t>
            </a:r>
          </a:p>
        </p:txBody>
      </p:sp>
      <p:sp>
        <p:nvSpPr>
          <p:cNvPr id="16" name="TextBox 15"/>
          <p:cNvSpPr txBox="1"/>
          <p:nvPr/>
        </p:nvSpPr>
        <p:spPr>
          <a:xfrm>
            <a:off x="6080760" y="3063240"/>
            <a:ext cx="4846320" cy="731520"/>
          </a:xfrm>
          <a:prstGeom prst="rect">
            <a:avLst/>
          </a:prstGeom>
          <a:noFill/>
        </p:spPr>
        <p:txBody>
          <a:bodyPr wrap="square">
            <a:normAutofit lnSpcReduction="10000"/>
          </a:bodyPr>
          <a:lstStyle/>
          <a:p>
            <a:r>
              <a:rPr sz="1450" b="0" dirty="0">
                <a:solidFill>
                  <a:srgbClr val="0F172A"/>
                </a:solidFill>
                <a:latin typeface="Arial"/>
              </a:rPr>
              <a:t>The new gradient-health script records energy finiteness, gradient finiteness, gradient norms, and sample magnitude per SGLD step.</a:t>
            </a:r>
          </a:p>
        </p:txBody>
      </p:sp>
      <p:sp>
        <p:nvSpPr>
          <p:cNvPr id="17" name="TextBox 16"/>
          <p:cNvSpPr txBox="1"/>
          <p:nvPr/>
        </p:nvSpPr>
        <p:spPr>
          <a:xfrm>
            <a:off x="502920" y="6537960"/>
            <a:ext cx="7772400" cy="164592"/>
          </a:xfrm>
          <a:prstGeom prst="rect">
            <a:avLst/>
          </a:prstGeom>
          <a:noFill/>
        </p:spPr>
        <p:txBody>
          <a:bodyPr wrap="square">
            <a:normAutofit fontScale="70000" lnSpcReduction="20000"/>
          </a:bodyPr>
          <a:lstStyle/>
          <a:p>
            <a:r>
              <a:rPr sz="850" b="0">
                <a:solidFill>
                  <a:srgbClr val="64748B"/>
                </a:solidFill>
                <a:latin typeface="Arial"/>
              </a:rPr>
              <a:t>Run: bash scripts/slurm/submit_tabpfgen_gradient_health.sh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061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Synthetic fidelity diagnostics</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Utility can look good while distribution matching remains weak</a:t>
            </a:r>
          </a:p>
        </p:txBody>
      </p:sp>
      <p:graphicFrame>
        <p:nvGraphicFramePr>
          <p:cNvPr id="4" name="Table 3"/>
          <p:cNvGraphicFramePr>
            <a:graphicFrameLocks noGrp="1"/>
          </p:cNvGraphicFramePr>
          <p:nvPr/>
        </p:nvGraphicFramePr>
        <p:xfrm>
          <a:off x="594360" y="1234440"/>
          <a:ext cx="6949440" cy="3749039"/>
        </p:xfrm>
        <a:graphic>
          <a:graphicData uri="http://schemas.openxmlformats.org/drawingml/2006/table">
            <a:tbl>
              <a:tblPr firstRow="1" bandRow="1">
                <a:tableStyleId>{5C22544A-7EE6-4342-B048-85BDC9FD1C3A}</a:tableStyleId>
              </a:tblPr>
              <a:tblGrid>
                <a:gridCol w="1389888">
                  <a:extLst>
                    <a:ext uri="{9D8B030D-6E8A-4147-A177-3AD203B41FA5}">
                      <a16:colId xmlns:a16="http://schemas.microsoft.com/office/drawing/2014/main" val="20000"/>
                    </a:ext>
                  </a:extLst>
                </a:gridCol>
                <a:gridCol w="1389888">
                  <a:extLst>
                    <a:ext uri="{9D8B030D-6E8A-4147-A177-3AD203B41FA5}">
                      <a16:colId xmlns:a16="http://schemas.microsoft.com/office/drawing/2014/main" val="20001"/>
                    </a:ext>
                  </a:extLst>
                </a:gridCol>
                <a:gridCol w="1389888">
                  <a:extLst>
                    <a:ext uri="{9D8B030D-6E8A-4147-A177-3AD203B41FA5}">
                      <a16:colId xmlns:a16="http://schemas.microsoft.com/office/drawing/2014/main" val="20002"/>
                    </a:ext>
                  </a:extLst>
                </a:gridCol>
                <a:gridCol w="1389888">
                  <a:extLst>
                    <a:ext uri="{9D8B030D-6E8A-4147-A177-3AD203B41FA5}">
                      <a16:colId xmlns:a16="http://schemas.microsoft.com/office/drawing/2014/main" val="20003"/>
                    </a:ext>
                  </a:extLst>
                </a:gridCol>
                <a:gridCol w="1389888">
                  <a:extLst>
                    <a:ext uri="{9D8B030D-6E8A-4147-A177-3AD203B41FA5}">
                      <a16:colId xmlns:a16="http://schemas.microsoft.com/office/drawing/2014/main" val="20004"/>
                    </a:ext>
                  </a:extLst>
                </a:gridCol>
              </a:tblGrid>
              <a:tr h="468629">
                <a:tc>
                  <a:txBody>
                    <a:bodyPr/>
                    <a:lstStyle/>
                    <a:p>
                      <a:r>
                        <a:rPr sz="919" b="1">
                          <a:solidFill>
                            <a:srgbClr val="FFFFFF"/>
                          </a:solidFill>
                          <a:latin typeface="Arial"/>
                        </a:rPr>
                        <a:t>Generator</a:t>
                      </a:r>
                    </a:p>
                  </a:txBody>
                  <a:tcPr>
                    <a:solidFill>
                      <a:srgbClr val="0F172A"/>
                    </a:solidFill>
                  </a:tcPr>
                </a:tc>
                <a:tc>
                  <a:txBody>
                    <a:bodyPr/>
                    <a:lstStyle/>
                    <a:p>
                      <a:r>
                        <a:rPr sz="919" b="1" dirty="0">
                          <a:solidFill>
                            <a:srgbClr val="FFFFFF"/>
                          </a:solidFill>
                          <a:latin typeface="Arial"/>
                        </a:rPr>
                        <a:t>KS</a:t>
                      </a:r>
                    </a:p>
                  </a:txBody>
                  <a:tcPr>
                    <a:solidFill>
                      <a:srgbClr val="0F172A"/>
                    </a:solidFill>
                  </a:tcPr>
                </a:tc>
                <a:tc>
                  <a:txBody>
                    <a:bodyPr/>
                    <a:lstStyle/>
                    <a:p>
                      <a:r>
                        <a:rPr sz="919" b="1" dirty="0">
                          <a:solidFill>
                            <a:srgbClr val="FFFFFF"/>
                          </a:solidFill>
                          <a:latin typeface="Arial"/>
                        </a:rPr>
                        <a:t>Correlation MAE</a:t>
                      </a:r>
                    </a:p>
                  </a:txBody>
                  <a:tcPr>
                    <a:solidFill>
                      <a:srgbClr val="0F172A"/>
                    </a:solidFill>
                  </a:tcPr>
                </a:tc>
                <a:tc>
                  <a:txBody>
                    <a:bodyPr/>
                    <a:lstStyle/>
                    <a:p>
                      <a:r>
                        <a:rPr sz="919" b="1" dirty="0">
                          <a:solidFill>
                            <a:srgbClr val="FFFFFF"/>
                          </a:solidFill>
                          <a:latin typeface="Arial"/>
                        </a:rPr>
                        <a:t>C2ST AUC</a:t>
                      </a:r>
                    </a:p>
                  </a:txBody>
                  <a:tcPr>
                    <a:solidFill>
                      <a:srgbClr val="0F172A"/>
                    </a:solidFill>
                  </a:tcPr>
                </a:tc>
                <a:tc>
                  <a:txBody>
                    <a:bodyPr/>
                    <a:lstStyle/>
                    <a:p>
                      <a:r>
                        <a:rPr sz="919" b="1" dirty="0">
                          <a:solidFill>
                            <a:srgbClr val="FFFFFF"/>
                          </a:solidFill>
                          <a:latin typeface="Arial"/>
                        </a:rPr>
                        <a:t>Exact duplicate frac.</a:t>
                      </a:r>
                    </a:p>
                  </a:txBody>
                  <a:tcPr>
                    <a:solidFill>
                      <a:srgbClr val="0F172A"/>
                    </a:solidFill>
                  </a:tcPr>
                </a:tc>
                <a:extLst>
                  <a:ext uri="{0D108BD9-81ED-4DB2-BD59-A6C34878D82A}">
                    <a16:rowId xmlns:a16="http://schemas.microsoft.com/office/drawing/2014/main" val="10000"/>
                  </a:ext>
                </a:extLst>
              </a:tr>
              <a:tr h="468629">
                <a:tc>
                  <a:txBody>
                    <a:bodyPr/>
                    <a:lstStyle/>
                    <a:p>
                      <a:r>
                        <a:rPr sz="919">
                          <a:solidFill>
                            <a:srgbClr val="0F172A"/>
                          </a:solidFill>
                          <a:latin typeface="Arial"/>
                        </a:rPr>
                        <a:t>ctgan</a:t>
                      </a:r>
                    </a:p>
                  </a:txBody>
                  <a:tcPr/>
                </a:tc>
                <a:tc>
                  <a:txBody>
                    <a:bodyPr/>
                    <a:lstStyle/>
                    <a:p>
                      <a:r>
                        <a:rPr sz="919">
                          <a:solidFill>
                            <a:srgbClr val="0F172A"/>
                          </a:solidFill>
                          <a:latin typeface="Arial"/>
                        </a:rPr>
                        <a:t>0.343</a:t>
                      </a:r>
                    </a:p>
                  </a:txBody>
                  <a:tcPr/>
                </a:tc>
                <a:tc>
                  <a:txBody>
                    <a:bodyPr/>
                    <a:lstStyle/>
                    <a:p>
                      <a:r>
                        <a:rPr sz="919">
                          <a:solidFill>
                            <a:srgbClr val="0F172A"/>
                          </a:solidFill>
                          <a:latin typeface="Arial"/>
                        </a:rPr>
                        <a:t>0.259</a:t>
                      </a:r>
                    </a:p>
                  </a:txBody>
                  <a:tcPr/>
                </a:tc>
                <a:tc>
                  <a:txBody>
                    <a:bodyPr/>
                    <a:lstStyle/>
                    <a:p>
                      <a:r>
                        <a:rPr sz="919">
                          <a:solidFill>
                            <a:srgbClr val="0F172A"/>
                          </a:solidFill>
                          <a:latin typeface="Arial"/>
                        </a:rPr>
                        <a:t>0.961</a:t>
                      </a:r>
                    </a:p>
                  </a:txBody>
                  <a:tcPr/>
                </a:tc>
                <a:tc>
                  <a:txBody>
                    <a:bodyPr/>
                    <a:lstStyle/>
                    <a:p>
                      <a:r>
                        <a:rPr sz="919">
                          <a:solidFill>
                            <a:srgbClr val="0F172A"/>
                          </a:solidFill>
                          <a:latin typeface="Arial"/>
                        </a:rPr>
                        <a:t>0.029</a:t>
                      </a:r>
                    </a:p>
                  </a:txBody>
                  <a:tcPr/>
                </a:tc>
                <a:extLst>
                  <a:ext uri="{0D108BD9-81ED-4DB2-BD59-A6C34878D82A}">
                    <a16:rowId xmlns:a16="http://schemas.microsoft.com/office/drawing/2014/main" val="10001"/>
                  </a:ext>
                </a:extLst>
              </a:tr>
              <a:tr h="468629">
                <a:tc>
                  <a:txBody>
                    <a:bodyPr/>
                    <a:lstStyle/>
                    <a:p>
                      <a:r>
                        <a:rPr sz="919">
                          <a:solidFill>
                            <a:srgbClr val="0F172A"/>
                          </a:solidFill>
                          <a:latin typeface="Arial"/>
                        </a:rPr>
                        <a:t>nflow</a:t>
                      </a:r>
                    </a:p>
                  </a:txBody>
                  <a:tcPr>
                    <a:solidFill>
                      <a:srgbClr val="F8FAFC"/>
                    </a:solidFill>
                  </a:tcPr>
                </a:tc>
                <a:tc>
                  <a:txBody>
                    <a:bodyPr/>
                    <a:lstStyle/>
                    <a:p>
                      <a:r>
                        <a:rPr sz="919">
                          <a:solidFill>
                            <a:srgbClr val="0F172A"/>
                          </a:solidFill>
                          <a:latin typeface="Arial"/>
                        </a:rPr>
                        <a:t>0.113</a:t>
                      </a:r>
                    </a:p>
                  </a:txBody>
                  <a:tcPr>
                    <a:solidFill>
                      <a:srgbClr val="F8FAFC"/>
                    </a:solidFill>
                  </a:tcPr>
                </a:tc>
                <a:tc>
                  <a:txBody>
                    <a:bodyPr/>
                    <a:lstStyle/>
                    <a:p>
                      <a:r>
                        <a:rPr sz="919">
                          <a:solidFill>
                            <a:srgbClr val="0F172A"/>
                          </a:solidFill>
                          <a:latin typeface="Arial"/>
                        </a:rPr>
                        <a:t>0.214</a:t>
                      </a:r>
                    </a:p>
                  </a:txBody>
                  <a:tcPr>
                    <a:solidFill>
                      <a:srgbClr val="F8FAFC"/>
                    </a:solidFill>
                  </a:tcPr>
                </a:tc>
                <a:tc>
                  <a:txBody>
                    <a:bodyPr/>
                    <a:lstStyle/>
                    <a:p>
                      <a:r>
                        <a:rPr sz="919">
                          <a:solidFill>
                            <a:srgbClr val="0F172A"/>
                          </a:solidFill>
                          <a:latin typeface="Arial"/>
                        </a:rPr>
                        <a:t>0.914</a:t>
                      </a:r>
                    </a:p>
                  </a:txBody>
                  <a:tcPr>
                    <a:solidFill>
                      <a:srgbClr val="F8FAFC"/>
                    </a:solidFill>
                  </a:tcPr>
                </a:tc>
                <a:tc>
                  <a:txBody>
                    <a:bodyPr/>
                    <a:lstStyle/>
                    <a:p>
                      <a:r>
                        <a:rPr sz="919">
                          <a:solidFill>
                            <a:srgbClr val="0F172A"/>
                          </a:solidFill>
                          <a:latin typeface="Arial"/>
                        </a:rPr>
                        <a:t>0.030</a:t>
                      </a:r>
                    </a:p>
                  </a:txBody>
                  <a:tcPr>
                    <a:solidFill>
                      <a:srgbClr val="F8FAFC"/>
                    </a:solidFill>
                  </a:tcPr>
                </a:tc>
                <a:extLst>
                  <a:ext uri="{0D108BD9-81ED-4DB2-BD59-A6C34878D82A}">
                    <a16:rowId xmlns:a16="http://schemas.microsoft.com/office/drawing/2014/main" val="10002"/>
                  </a:ext>
                </a:extLst>
              </a:tr>
              <a:tr h="468629">
                <a:tc>
                  <a:txBody>
                    <a:bodyPr/>
                    <a:lstStyle/>
                    <a:p>
                      <a:r>
                        <a:rPr sz="919">
                          <a:solidFill>
                            <a:srgbClr val="0F172A"/>
                          </a:solidFill>
                          <a:latin typeface="Arial"/>
                        </a:rPr>
                        <a:t>rtvae</a:t>
                      </a:r>
                    </a:p>
                  </a:txBody>
                  <a:tcPr/>
                </a:tc>
                <a:tc>
                  <a:txBody>
                    <a:bodyPr/>
                    <a:lstStyle/>
                    <a:p>
                      <a:r>
                        <a:rPr sz="919">
                          <a:solidFill>
                            <a:srgbClr val="0F172A"/>
                          </a:solidFill>
                          <a:latin typeface="Arial"/>
                        </a:rPr>
                        <a:t>0.325</a:t>
                      </a:r>
                    </a:p>
                  </a:txBody>
                  <a:tcPr/>
                </a:tc>
                <a:tc>
                  <a:txBody>
                    <a:bodyPr/>
                    <a:lstStyle/>
                    <a:p>
                      <a:r>
                        <a:rPr sz="919">
                          <a:solidFill>
                            <a:srgbClr val="0F172A"/>
                          </a:solidFill>
                          <a:latin typeface="Arial"/>
                        </a:rPr>
                        <a:t>0.226</a:t>
                      </a:r>
                    </a:p>
                  </a:txBody>
                  <a:tcPr/>
                </a:tc>
                <a:tc>
                  <a:txBody>
                    <a:bodyPr/>
                    <a:lstStyle/>
                    <a:p>
                      <a:r>
                        <a:rPr sz="919">
                          <a:solidFill>
                            <a:srgbClr val="0F172A"/>
                          </a:solidFill>
                          <a:latin typeface="Arial"/>
                        </a:rPr>
                        <a:t>0.964</a:t>
                      </a:r>
                    </a:p>
                  </a:txBody>
                  <a:tcPr/>
                </a:tc>
                <a:tc>
                  <a:txBody>
                    <a:bodyPr/>
                    <a:lstStyle/>
                    <a:p>
                      <a:r>
                        <a:rPr sz="919">
                          <a:solidFill>
                            <a:srgbClr val="0F172A"/>
                          </a:solidFill>
                          <a:latin typeface="Arial"/>
                        </a:rPr>
                        <a:t>0.032</a:t>
                      </a:r>
                    </a:p>
                  </a:txBody>
                  <a:tcPr/>
                </a:tc>
                <a:extLst>
                  <a:ext uri="{0D108BD9-81ED-4DB2-BD59-A6C34878D82A}">
                    <a16:rowId xmlns:a16="http://schemas.microsoft.com/office/drawing/2014/main" val="10003"/>
                  </a:ext>
                </a:extLst>
              </a:tr>
              <a:tr h="468629">
                <a:tc>
                  <a:txBody>
                    <a:bodyPr/>
                    <a:lstStyle/>
                    <a:p>
                      <a:r>
                        <a:rPr sz="919">
                          <a:solidFill>
                            <a:srgbClr val="0F172A"/>
                          </a:solidFill>
                          <a:latin typeface="Arial"/>
                        </a:rPr>
                        <a:t>smote</a:t>
                      </a:r>
                    </a:p>
                  </a:txBody>
                  <a:tcPr>
                    <a:solidFill>
                      <a:srgbClr val="F8FAFC"/>
                    </a:solidFill>
                  </a:tcPr>
                </a:tc>
                <a:tc>
                  <a:txBody>
                    <a:bodyPr/>
                    <a:lstStyle/>
                    <a:p>
                      <a:r>
                        <a:rPr sz="919" dirty="0">
                          <a:solidFill>
                            <a:srgbClr val="0F172A"/>
                          </a:solidFill>
                          <a:latin typeface="Arial"/>
                        </a:rPr>
                        <a:t>0.060</a:t>
                      </a:r>
                    </a:p>
                  </a:txBody>
                  <a:tcPr>
                    <a:solidFill>
                      <a:srgbClr val="F8FAFC"/>
                    </a:solidFill>
                  </a:tcPr>
                </a:tc>
                <a:tc>
                  <a:txBody>
                    <a:bodyPr/>
                    <a:lstStyle/>
                    <a:p>
                      <a:r>
                        <a:rPr sz="919" dirty="0">
                          <a:solidFill>
                            <a:srgbClr val="0F172A"/>
                          </a:solidFill>
                          <a:latin typeface="Arial"/>
                        </a:rPr>
                        <a:t>0.048</a:t>
                      </a:r>
                    </a:p>
                  </a:txBody>
                  <a:tcPr>
                    <a:solidFill>
                      <a:srgbClr val="F8FAFC"/>
                    </a:solidFill>
                  </a:tcPr>
                </a:tc>
                <a:tc>
                  <a:txBody>
                    <a:bodyPr/>
                    <a:lstStyle/>
                    <a:p>
                      <a:r>
                        <a:rPr sz="919" dirty="0">
                          <a:solidFill>
                            <a:srgbClr val="0F172A"/>
                          </a:solidFill>
                          <a:latin typeface="Arial"/>
                        </a:rPr>
                        <a:t>0.582</a:t>
                      </a:r>
                    </a:p>
                  </a:txBody>
                  <a:tcPr>
                    <a:solidFill>
                      <a:srgbClr val="F8FAFC"/>
                    </a:solidFill>
                  </a:tcPr>
                </a:tc>
                <a:tc>
                  <a:txBody>
                    <a:bodyPr/>
                    <a:lstStyle/>
                    <a:p>
                      <a:r>
                        <a:rPr sz="919" dirty="0">
                          <a:solidFill>
                            <a:srgbClr val="0F172A"/>
                          </a:solidFill>
                          <a:latin typeface="Arial"/>
                        </a:rPr>
                        <a:t>0.036</a:t>
                      </a:r>
                    </a:p>
                  </a:txBody>
                  <a:tcPr>
                    <a:solidFill>
                      <a:srgbClr val="F8FAFC"/>
                    </a:solidFill>
                  </a:tcPr>
                </a:tc>
                <a:extLst>
                  <a:ext uri="{0D108BD9-81ED-4DB2-BD59-A6C34878D82A}">
                    <a16:rowId xmlns:a16="http://schemas.microsoft.com/office/drawing/2014/main" val="10004"/>
                  </a:ext>
                </a:extLst>
              </a:tr>
              <a:tr h="468629">
                <a:tc>
                  <a:txBody>
                    <a:bodyPr/>
                    <a:lstStyle/>
                    <a:p>
                      <a:r>
                        <a:rPr sz="919">
                          <a:solidFill>
                            <a:srgbClr val="0F172A"/>
                          </a:solidFill>
                          <a:latin typeface="Arial"/>
                        </a:rPr>
                        <a:t>tabddpm</a:t>
                      </a:r>
                    </a:p>
                  </a:txBody>
                  <a:tcPr/>
                </a:tc>
                <a:tc>
                  <a:txBody>
                    <a:bodyPr/>
                    <a:lstStyle/>
                    <a:p>
                      <a:r>
                        <a:rPr sz="919">
                          <a:solidFill>
                            <a:srgbClr val="0F172A"/>
                          </a:solidFill>
                          <a:latin typeface="Arial"/>
                        </a:rPr>
                        <a:t>0.353</a:t>
                      </a:r>
                    </a:p>
                  </a:txBody>
                  <a:tcPr/>
                </a:tc>
                <a:tc>
                  <a:txBody>
                    <a:bodyPr/>
                    <a:lstStyle/>
                    <a:p>
                      <a:r>
                        <a:rPr sz="919">
                          <a:solidFill>
                            <a:srgbClr val="0F172A"/>
                          </a:solidFill>
                          <a:latin typeface="Arial"/>
                        </a:rPr>
                        <a:t>0.196</a:t>
                      </a:r>
                    </a:p>
                  </a:txBody>
                  <a:tcPr/>
                </a:tc>
                <a:tc>
                  <a:txBody>
                    <a:bodyPr/>
                    <a:lstStyle/>
                    <a:p>
                      <a:r>
                        <a:rPr sz="919">
                          <a:solidFill>
                            <a:srgbClr val="0F172A"/>
                          </a:solidFill>
                          <a:latin typeface="Arial"/>
                        </a:rPr>
                        <a:t>0.862</a:t>
                      </a:r>
                    </a:p>
                  </a:txBody>
                  <a:tcPr/>
                </a:tc>
                <a:tc>
                  <a:txBody>
                    <a:bodyPr/>
                    <a:lstStyle/>
                    <a:p>
                      <a:r>
                        <a:rPr sz="919">
                          <a:solidFill>
                            <a:srgbClr val="0F172A"/>
                          </a:solidFill>
                          <a:latin typeface="Arial"/>
                        </a:rPr>
                        <a:t>0.043</a:t>
                      </a:r>
                    </a:p>
                  </a:txBody>
                  <a:tcPr/>
                </a:tc>
                <a:extLst>
                  <a:ext uri="{0D108BD9-81ED-4DB2-BD59-A6C34878D82A}">
                    <a16:rowId xmlns:a16="http://schemas.microsoft.com/office/drawing/2014/main" val="10005"/>
                  </a:ext>
                </a:extLst>
              </a:tr>
              <a:tr h="468629">
                <a:tc>
                  <a:txBody>
                    <a:bodyPr/>
                    <a:lstStyle/>
                    <a:p>
                      <a:r>
                        <a:rPr sz="919">
                          <a:solidFill>
                            <a:srgbClr val="0F172A"/>
                          </a:solidFill>
                          <a:latin typeface="Arial"/>
                        </a:rPr>
                        <a:t>tabpfgen</a:t>
                      </a:r>
                    </a:p>
                  </a:txBody>
                  <a:tcPr>
                    <a:solidFill>
                      <a:srgbClr val="F8FAFC"/>
                    </a:solidFill>
                  </a:tcPr>
                </a:tc>
                <a:tc>
                  <a:txBody>
                    <a:bodyPr/>
                    <a:lstStyle/>
                    <a:p>
                      <a:r>
                        <a:rPr sz="919" dirty="0">
                          <a:solidFill>
                            <a:srgbClr val="0F172A"/>
                          </a:solidFill>
                          <a:latin typeface="Arial"/>
                        </a:rPr>
                        <a:t>0.113</a:t>
                      </a:r>
                    </a:p>
                  </a:txBody>
                  <a:tcPr>
                    <a:solidFill>
                      <a:srgbClr val="F8FAFC"/>
                    </a:solidFill>
                  </a:tcPr>
                </a:tc>
                <a:tc>
                  <a:txBody>
                    <a:bodyPr/>
                    <a:lstStyle/>
                    <a:p>
                      <a:r>
                        <a:rPr sz="919" dirty="0">
                          <a:solidFill>
                            <a:srgbClr val="0F172A"/>
                          </a:solidFill>
                          <a:latin typeface="Arial"/>
                        </a:rPr>
                        <a:t>0.054</a:t>
                      </a:r>
                    </a:p>
                  </a:txBody>
                  <a:tcPr>
                    <a:solidFill>
                      <a:srgbClr val="F8FAFC"/>
                    </a:solidFill>
                  </a:tcPr>
                </a:tc>
                <a:tc>
                  <a:txBody>
                    <a:bodyPr/>
                    <a:lstStyle/>
                    <a:p>
                      <a:r>
                        <a:rPr sz="919" dirty="0">
                          <a:solidFill>
                            <a:srgbClr val="0F172A"/>
                          </a:solidFill>
                          <a:latin typeface="Arial"/>
                        </a:rPr>
                        <a:t>0.797</a:t>
                      </a:r>
                    </a:p>
                  </a:txBody>
                  <a:tcPr>
                    <a:solidFill>
                      <a:srgbClr val="F8FAFC"/>
                    </a:solidFill>
                  </a:tcPr>
                </a:tc>
                <a:tc>
                  <a:txBody>
                    <a:bodyPr/>
                    <a:lstStyle/>
                    <a:p>
                      <a:r>
                        <a:rPr sz="919" dirty="0">
                          <a:solidFill>
                            <a:srgbClr val="0F172A"/>
                          </a:solidFill>
                          <a:latin typeface="Arial"/>
                        </a:rPr>
                        <a:t>0.000</a:t>
                      </a:r>
                    </a:p>
                  </a:txBody>
                  <a:tcPr>
                    <a:solidFill>
                      <a:srgbClr val="F8FAFC"/>
                    </a:solidFill>
                  </a:tcPr>
                </a:tc>
                <a:extLst>
                  <a:ext uri="{0D108BD9-81ED-4DB2-BD59-A6C34878D82A}">
                    <a16:rowId xmlns:a16="http://schemas.microsoft.com/office/drawing/2014/main" val="10006"/>
                  </a:ext>
                </a:extLst>
              </a:tr>
              <a:tr h="468636">
                <a:tc>
                  <a:txBody>
                    <a:bodyPr/>
                    <a:lstStyle/>
                    <a:p>
                      <a:r>
                        <a:rPr sz="919">
                          <a:solidFill>
                            <a:srgbClr val="0F172A"/>
                          </a:solidFill>
                          <a:latin typeface="Arial"/>
                        </a:rPr>
                        <a:t>tvae</a:t>
                      </a:r>
                    </a:p>
                  </a:txBody>
                  <a:tcPr/>
                </a:tc>
                <a:tc>
                  <a:txBody>
                    <a:bodyPr/>
                    <a:lstStyle/>
                    <a:p>
                      <a:r>
                        <a:rPr sz="919">
                          <a:solidFill>
                            <a:srgbClr val="0F172A"/>
                          </a:solidFill>
                          <a:latin typeface="Arial"/>
                        </a:rPr>
                        <a:t>0.184</a:t>
                      </a:r>
                    </a:p>
                  </a:txBody>
                  <a:tcPr/>
                </a:tc>
                <a:tc>
                  <a:txBody>
                    <a:bodyPr/>
                    <a:lstStyle/>
                    <a:p>
                      <a:r>
                        <a:rPr sz="919">
                          <a:solidFill>
                            <a:srgbClr val="0F172A"/>
                          </a:solidFill>
                          <a:latin typeface="Arial"/>
                        </a:rPr>
                        <a:t>0.184</a:t>
                      </a:r>
                    </a:p>
                  </a:txBody>
                  <a:tcPr/>
                </a:tc>
                <a:tc>
                  <a:txBody>
                    <a:bodyPr/>
                    <a:lstStyle/>
                    <a:p>
                      <a:r>
                        <a:rPr sz="919">
                          <a:solidFill>
                            <a:srgbClr val="0F172A"/>
                          </a:solidFill>
                          <a:latin typeface="Arial"/>
                        </a:rPr>
                        <a:t>0.952</a:t>
                      </a:r>
                    </a:p>
                  </a:txBody>
                  <a:tcPr/>
                </a:tc>
                <a:tc>
                  <a:txBody>
                    <a:bodyPr/>
                    <a:lstStyle/>
                    <a:p>
                      <a:r>
                        <a:rPr sz="919" dirty="0">
                          <a:solidFill>
                            <a:srgbClr val="0F172A"/>
                          </a:solidFill>
                          <a:latin typeface="Arial"/>
                        </a:rPr>
                        <a:t>0.031</a:t>
                      </a:r>
                    </a:p>
                  </a:txBody>
                  <a:tcPr/>
                </a:tc>
                <a:extLst>
                  <a:ext uri="{0D108BD9-81ED-4DB2-BD59-A6C34878D82A}">
                    <a16:rowId xmlns:a16="http://schemas.microsoft.com/office/drawing/2014/main" val="10007"/>
                  </a:ext>
                </a:extLst>
              </a:tr>
            </a:tbl>
          </a:graphicData>
        </a:graphic>
      </p:graphicFrame>
      <p:sp>
        <p:nvSpPr>
          <p:cNvPr id="5" name="TextBox 4"/>
          <p:cNvSpPr txBox="1"/>
          <p:nvPr/>
        </p:nvSpPr>
        <p:spPr>
          <a:xfrm>
            <a:off x="7909560" y="1234440"/>
            <a:ext cx="3017520" cy="274320"/>
          </a:xfrm>
          <a:prstGeom prst="rect">
            <a:avLst/>
          </a:prstGeom>
          <a:noFill/>
        </p:spPr>
        <p:txBody>
          <a:bodyPr wrap="square">
            <a:normAutofit fontScale="85000" lnSpcReduction="20000"/>
          </a:bodyPr>
          <a:lstStyle/>
          <a:p>
            <a:r>
              <a:rPr sz="1700" b="1">
                <a:solidFill>
                  <a:srgbClr val="0F172A"/>
                </a:solidFill>
                <a:latin typeface="Arial"/>
              </a:rPr>
              <a:t>Readout</a:t>
            </a:r>
          </a:p>
        </p:txBody>
      </p:sp>
      <p:sp>
        <p:nvSpPr>
          <p:cNvPr id="6" name="TextBox 5"/>
          <p:cNvSpPr txBox="1"/>
          <p:nvPr/>
        </p:nvSpPr>
        <p:spPr>
          <a:xfrm>
            <a:off x="7909560" y="1645920"/>
            <a:ext cx="3520440" cy="1051560"/>
          </a:xfrm>
          <a:prstGeom prst="rect">
            <a:avLst/>
          </a:prstGeom>
          <a:noFill/>
        </p:spPr>
        <p:txBody>
          <a:bodyPr wrap="square">
            <a:normAutofit/>
          </a:bodyPr>
          <a:lstStyle/>
          <a:p>
            <a:r>
              <a:rPr sz="1350" b="0">
                <a:solidFill>
                  <a:srgbClr val="0F172A"/>
                </a:solidFill>
                <a:latin typeface="Arial"/>
              </a:rPr>
              <a:t>SMOTE is hard for C2ST to detect but has copy-like nearest-neighbor behavior. Neural generators often avoid exact copies but remain distinguishable from real data.</a:t>
            </a:r>
          </a:p>
        </p:txBody>
      </p:sp>
      <p:sp>
        <p:nvSpPr>
          <p:cNvPr id="8" name="TextBox 7"/>
          <p:cNvSpPr txBox="1"/>
          <p:nvPr/>
        </p:nvSpPr>
        <p:spPr>
          <a:xfrm>
            <a:off x="502920" y="6537960"/>
            <a:ext cx="7772400" cy="164592"/>
          </a:xfrm>
          <a:prstGeom prst="rect">
            <a:avLst/>
          </a:prstGeom>
          <a:noFill/>
        </p:spPr>
        <p:txBody>
          <a:bodyPr wrap="square">
            <a:normAutofit fontScale="70000" lnSpcReduction="20000"/>
          </a:bodyPr>
          <a:lstStyle/>
          <a:p>
            <a:r>
              <a:rPr sz="850" b="0">
                <a:solidFill>
                  <a:srgbClr val="64748B"/>
                </a:solidFill>
                <a:latin typeface="Arial"/>
              </a:rPr>
              <a:t>Run: sbatch scripts/slurm/run_extra_synthetic_evaluations.sh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Extra fidelity results</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TabPFGen preserves support well, but SMOTE still wins several low-level distribution metrics</a:t>
            </a:r>
          </a:p>
        </p:txBody>
      </p:sp>
      <p:graphicFrame>
        <p:nvGraphicFramePr>
          <p:cNvPr id="4" name="Table 3"/>
          <p:cNvGraphicFramePr>
            <a:graphicFrameLocks noGrp="1"/>
          </p:cNvGraphicFramePr>
          <p:nvPr>
            <p:extLst>
              <p:ext uri="{D42A27DB-BD31-4B8C-83A1-F6EECF244321}">
                <p14:modId xmlns:p14="http://schemas.microsoft.com/office/powerpoint/2010/main" val="600054135"/>
              </p:ext>
            </p:extLst>
          </p:nvPr>
        </p:nvGraphicFramePr>
        <p:xfrm>
          <a:off x="502920" y="1170432"/>
          <a:ext cx="7132320" cy="4069080"/>
        </p:xfrm>
        <a:graphic>
          <a:graphicData uri="http://schemas.openxmlformats.org/drawingml/2006/table">
            <a:tbl>
              <a:tblPr firstRow="1" bandRow="1">
                <a:tableStyleId>{5C22544A-7EE6-4342-B048-85BDC9FD1C3A}</a:tableStyleId>
              </a:tblPr>
              <a:tblGrid>
                <a:gridCol w="891540">
                  <a:extLst>
                    <a:ext uri="{9D8B030D-6E8A-4147-A177-3AD203B41FA5}">
                      <a16:colId xmlns:a16="http://schemas.microsoft.com/office/drawing/2014/main" val="20000"/>
                    </a:ext>
                  </a:extLst>
                </a:gridCol>
                <a:gridCol w="891540">
                  <a:extLst>
                    <a:ext uri="{9D8B030D-6E8A-4147-A177-3AD203B41FA5}">
                      <a16:colId xmlns:a16="http://schemas.microsoft.com/office/drawing/2014/main" val="20001"/>
                    </a:ext>
                  </a:extLst>
                </a:gridCol>
                <a:gridCol w="89154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891540">
                  <a:extLst>
                    <a:ext uri="{9D8B030D-6E8A-4147-A177-3AD203B41FA5}">
                      <a16:colId xmlns:a16="http://schemas.microsoft.com/office/drawing/2014/main" val="20004"/>
                    </a:ext>
                  </a:extLst>
                </a:gridCol>
                <a:gridCol w="891540">
                  <a:extLst>
                    <a:ext uri="{9D8B030D-6E8A-4147-A177-3AD203B41FA5}">
                      <a16:colId xmlns:a16="http://schemas.microsoft.com/office/drawing/2014/main" val="20005"/>
                    </a:ext>
                  </a:extLst>
                </a:gridCol>
                <a:gridCol w="891540">
                  <a:extLst>
                    <a:ext uri="{9D8B030D-6E8A-4147-A177-3AD203B41FA5}">
                      <a16:colId xmlns:a16="http://schemas.microsoft.com/office/drawing/2014/main" val="20006"/>
                    </a:ext>
                  </a:extLst>
                </a:gridCol>
                <a:gridCol w="891540">
                  <a:extLst>
                    <a:ext uri="{9D8B030D-6E8A-4147-A177-3AD203B41FA5}">
                      <a16:colId xmlns:a16="http://schemas.microsoft.com/office/drawing/2014/main" val="20007"/>
                    </a:ext>
                  </a:extLst>
                </a:gridCol>
              </a:tblGrid>
              <a:tr h="508635">
                <a:tc>
                  <a:txBody>
                    <a:bodyPr/>
                    <a:lstStyle/>
                    <a:p>
                      <a:r>
                        <a:rPr sz="819" b="1">
                          <a:solidFill>
                            <a:srgbClr val="FFFFFF"/>
                          </a:solidFill>
                          <a:latin typeface="Arial"/>
                        </a:rPr>
                        <a:t>Generator</a:t>
                      </a:r>
                    </a:p>
                  </a:txBody>
                  <a:tcPr>
                    <a:solidFill>
                      <a:srgbClr val="0F172A"/>
                    </a:solidFill>
                  </a:tcPr>
                </a:tc>
                <a:tc>
                  <a:txBody>
                    <a:bodyPr/>
                    <a:lstStyle/>
                    <a:p>
                      <a:r>
                        <a:rPr sz="819" b="1" dirty="0">
                          <a:solidFill>
                            <a:srgbClr val="FFFFFF"/>
                          </a:solidFill>
                          <a:latin typeface="Arial"/>
                        </a:rPr>
                        <a:t>Cond. KS</a:t>
                      </a:r>
                    </a:p>
                  </a:txBody>
                  <a:tcPr>
                    <a:solidFill>
                      <a:srgbClr val="0F172A"/>
                    </a:solidFill>
                  </a:tcPr>
                </a:tc>
                <a:tc>
                  <a:txBody>
                    <a:bodyPr/>
                    <a:lstStyle/>
                    <a:p>
                      <a:r>
                        <a:rPr sz="819" b="1">
                          <a:solidFill>
                            <a:srgbClr val="FFFFFF"/>
                          </a:solidFill>
                          <a:latin typeface="Arial"/>
                        </a:rPr>
                        <a:t>PCA L1</a:t>
                      </a:r>
                    </a:p>
                  </a:txBody>
                  <a:tcPr>
                    <a:solidFill>
                      <a:srgbClr val="0F172A"/>
                    </a:solidFill>
                  </a:tcPr>
                </a:tc>
                <a:tc>
                  <a:txBody>
                    <a:bodyPr/>
                    <a:lstStyle/>
                    <a:p>
                      <a:r>
                        <a:rPr sz="819" b="1">
                          <a:solidFill>
                            <a:srgbClr val="FFFFFF"/>
                          </a:solidFill>
                          <a:latin typeface="Arial"/>
                        </a:rPr>
                        <a:t>Partial corr.</a:t>
                      </a:r>
                    </a:p>
                  </a:txBody>
                  <a:tcPr>
                    <a:solidFill>
                      <a:srgbClr val="0F172A"/>
                    </a:solidFill>
                  </a:tcPr>
                </a:tc>
                <a:tc>
                  <a:txBody>
                    <a:bodyPr/>
                    <a:lstStyle/>
                    <a:p>
                      <a:r>
                        <a:rPr sz="819" b="1" dirty="0">
                          <a:solidFill>
                            <a:srgbClr val="FFFFFF"/>
                          </a:solidFill>
                          <a:latin typeface="Arial"/>
                        </a:rPr>
                        <a:t>MI </a:t>
                      </a:r>
                      <a:r>
                        <a:rPr lang="nl-NL" sz="819" b="1" dirty="0">
                          <a:solidFill>
                            <a:srgbClr val="FFFFFF"/>
                          </a:solidFill>
                          <a:latin typeface="Arial"/>
                        </a:rPr>
                        <a:t>feature </a:t>
                      </a:r>
                      <a:r>
                        <a:rPr sz="819" b="1" dirty="0">
                          <a:solidFill>
                            <a:srgbClr val="FFFFFF"/>
                          </a:solidFill>
                          <a:latin typeface="Arial"/>
                        </a:rPr>
                        <a:t>target</a:t>
                      </a:r>
                    </a:p>
                  </a:txBody>
                  <a:tcPr>
                    <a:solidFill>
                      <a:srgbClr val="0F172A"/>
                    </a:solidFill>
                  </a:tcPr>
                </a:tc>
                <a:tc>
                  <a:txBody>
                    <a:bodyPr/>
                    <a:lstStyle/>
                    <a:p>
                      <a:r>
                        <a:rPr sz="819" b="1">
                          <a:solidFill>
                            <a:srgbClr val="FFFFFF"/>
                          </a:solidFill>
                          <a:latin typeface="Arial"/>
                        </a:rPr>
                        <a:t>Precision</a:t>
                      </a:r>
                    </a:p>
                  </a:txBody>
                  <a:tcPr>
                    <a:solidFill>
                      <a:srgbClr val="0F172A"/>
                    </a:solidFill>
                  </a:tcPr>
                </a:tc>
                <a:tc>
                  <a:txBody>
                    <a:bodyPr/>
                    <a:lstStyle/>
                    <a:p>
                      <a:r>
                        <a:rPr sz="819" b="1">
                          <a:solidFill>
                            <a:srgbClr val="FFFFFF"/>
                          </a:solidFill>
                          <a:latin typeface="Arial"/>
                        </a:rPr>
                        <a:t>Coverage</a:t>
                      </a:r>
                    </a:p>
                  </a:txBody>
                  <a:tcPr>
                    <a:solidFill>
                      <a:srgbClr val="0F172A"/>
                    </a:solidFill>
                  </a:tcPr>
                </a:tc>
                <a:tc>
                  <a:txBody>
                    <a:bodyPr/>
                    <a:lstStyle/>
                    <a:p>
                      <a:r>
                        <a:rPr sz="819" b="1">
                          <a:solidFill>
                            <a:srgbClr val="FFFFFF"/>
                          </a:solidFill>
                          <a:latin typeface="Arial"/>
                        </a:rPr>
                        <a:t>Minority cov.</a:t>
                      </a:r>
                    </a:p>
                  </a:txBody>
                  <a:tcPr>
                    <a:solidFill>
                      <a:srgbClr val="0F172A"/>
                    </a:solidFill>
                  </a:tcPr>
                </a:tc>
                <a:extLst>
                  <a:ext uri="{0D108BD9-81ED-4DB2-BD59-A6C34878D82A}">
                    <a16:rowId xmlns:a16="http://schemas.microsoft.com/office/drawing/2014/main" val="10000"/>
                  </a:ext>
                </a:extLst>
              </a:tr>
              <a:tr h="508635">
                <a:tc>
                  <a:txBody>
                    <a:bodyPr/>
                    <a:lstStyle/>
                    <a:p>
                      <a:r>
                        <a:rPr sz="819">
                          <a:solidFill>
                            <a:srgbClr val="0F172A"/>
                          </a:solidFill>
                          <a:latin typeface="Arial"/>
                        </a:rPr>
                        <a:t>smote</a:t>
                      </a:r>
                    </a:p>
                  </a:txBody>
                  <a:tcPr/>
                </a:tc>
                <a:tc>
                  <a:txBody>
                    <a:bodyPr/>
                    <a:lstStyle/>
                    <a:p>
                      <a:r>
                        <a:rPr sz="819" dirty="0">
                          <a:solidFill>
                            <a:srgbClr val="0F172A"/>
                          </a:solidFill>
                          <a:latin typeface="Arial"/>
                        </a:rPr>
                        <a:t>0.101</a:t>
                      </a:r>
                    </a:p>
                  </a:txBody>
                  <a:tcPr/>
                </a:tc>
                <a:tc>
                  <a:txBody>
                    <a:bodyPr/>
                    <a:lstStyle/>
                    <a:p>
                      <a:r>
                        <a:rPr sz="819" dirty="0">
                          <a:solidFill>
                            <a:srgbClr val="0F172A"/>
                          </a:solidFill>
                          <a:latin typeface="Arial"/>
                        </a:rPr>
                        <a:t>0.111</a:t>
                      </a:r>
                    </a:p>
                  </a:txBody>
                  <a:tcPr/>
                </a:tc>
                <a:tc>
                  <a:txBody>
                    <a:bodyPr/>
                    <a:lstStyle/>
                    <a:p>
                      <a:r>
                        <a:rPr sz="819" dirty="0">
                          <a:solidFill>
                            <a:srgbClr val="0F172A"/>
                          </a:solidFill>
                          <a:latin typeface="Arial"/>
                        </a:rPr>
                        <a:t>0.054</a:t>
                      </a:r>
                    </a:p>
                  </a:txBody>
                  <a:tcPr/>
                </a:tc>
                <a:tc>
                  <a:txBody>
                    <a:bodyPr/>
                    <a:lstStyle/>
                    <a:p>
                      <a:r>
                        <a:rPr sz="819">
                          <a:solidFill>
                            <a:srgbClr val="0F172A"/>
                          </a:solidFill>
                          <a:latin typeface="Arial"/>
                        </a:rPr>
                        <a:t>0.044</a:t>
                      </a:r>
                    </a:p>
                  </a:txBody>
                  <a:tcPr/>
                </a:tc>
                <a:tc>
                  <a:txBody>
                    <a:bodyPr/>
                    <a:lstStyle/>
                    <a:p>
                      <a:r>
                        <a:rPr sz="819" dirty="0">
                          <a:solidFill>
                            <a:srgbClr val="0F172A"/>
                          </a:solidFill>
                          <a:latin typeface="Arial"/>
                        </a:rPr>
                        <a:t>0.909</a:t>
                      </a:r>
                    </a:p>
                  </a:txBody>
                  <a:tcPr/>
                </a:tc>
                <a:tc>
                  <a:txBody>
                    <a:bodyPr/>
                    <a:lstStyle/>
                    <a:p>
                      <a:r>
                        <a:rPr sz="819">
                          <a:solidFill>
                            <a:srgbClr val="0F172A"/>
                          </a:solidFill>
                          <a:latin typeface="Arial"/>
                        </a:rPr>
                        <a:t>0.755</a:t>
                      </a:r>
                    </a:p>
                  </a:txBody>
                  <a:tcPr/>
                </a:tc>
                <a:tc>
                  <a:txBody>
                    <a:bodyPr/>
                    <a:lstStyle/>
                    <a:p>
                      <a:r>
                        <a:rPr sz="819">
                          <a:solidFill>
                            <a:srgbClr val="0F172A"/>
                          </a:solidFill>
                          <a:latin typeface="Arial"/>
                        </a:rPr>
                        <a:t>0.754</a:t>
                      </a:r>
                    </a:p>
                  </a:txBody>
                  <a:tcPr/>
                </a:tc>
                <a:extLst>
                  <a:ext uri="{0D108BD9-81ED-4DB2-BD59-A6C34878D82A}">
                    <a16:rowId xmlns:a16="http://schemas.microsoft.com/office/drawing/2014/main" val="10001"/>
                  </a:ext>
                </a:extLst>
              </a:tr>
              <a:tr h="508635">
                <a:tc>
                  <a:txBody>
                    <a:bodyPr/>
                    <a:lstStyle/>
                    <a:p>
                      <a:r>
                        <a:rPr sz="819">
                          <a:solidFill>
                            <a:srgbClr val="0F172A"/>
                          </a:solidFill>
                          <a:latin typeface="Arial"/>
                        </a:rPr>
                        <a:t>tabpfgen</a:t>
                      </a:r>
                    </a:p>
                  </a:txBody>
                  <a:tcPr>
                    <a:solidFill>
                      <a:srgbClr val="F8FAFC"/>
                    </a:solidFill>
                  </a:tcPr>
                </a:tc>
                <a:tc>
                  <a:txBody>
                    <a:bodyPr/>
                    <a:lstStyle/>
                    <a:p>
                      <a:r>
                        <a:rPr sz="819">
                          <a:solidFill>
                            <a:srgbClr val="0F172A"/>
                          </a:solidFill>
                          <a:latin typeface="Arial"/>
                        </a:rPr>
                        <a:t>0.166</a:t>
                      </a:r>
                    </a:p>
                  </a:txBody>
                  <a:tcPr>
                    <a:solidFill>
                      <a:srgbClr val="F8FAFC"/>
                    </a:solidFill>
                  </a:tcPr>
                </a:tc>
                <a:tc>
                  <a:txBody>
                    <a:bodyPr/>
                    <a:lstStyle/>
                    <a:p>
                      <a:r>
                        <a:rPr sz="819">
                          <a:solidFill>
                            <a:srgbClr val="0F172A"/>
                          </a:solidFill>
                          <a:latin typeface="Arial"/>
                        </a:rPr>
                        <a:t>0.089</a:t>
                      </a:r>
                    </a:p>
                  </a:txBody>
                  <a:tcPr>
                    <a:solidFill>
                      <a:srgbClr val="F8FAFC"/>
                    </a:solidFill>
                  </a:tcPr>
                </a:tc>
                <a:tc>
                  <a:txBody>
                    <a:bodyPr/>
                    <a:lstStyle/>
                    <a:p>
                      <a:r>
                        <a:rPr sz="819" dirty="0">
                          <a:solidFill>
                            <a:srgbClr val="0F172A"/>
                          </a:solidFill>
                          <a:latin typeface="Arial"/>
                        </a:rPr>
                        <a:t>0.082</a:t>
                      </a:r>
                    </a:p>
                  </a:txBody>
                  <a:tcPr>
                    <a:solidFill>
                      <a:srgbClr val="F8FAFC"/>
                    </a:solidFill>
                  </a:tcPr>
                </a:tc>
                <a:tc>
                  <a:txBody>
                    <a:bodyPr/>
                    <a:lstStyle/>
                    <a:p>
                      <a:r>
                        <a:rPr sz="819">
                          <a:solidFill>
                            <a:srgbClr val="0F172A"/>
                          </a:solidFill>
                          <a:latin typeface="Arial"/>
                        </a:rPr>
                        <a:t>0.071</a:t>
                      </a:r>
                    </a:p>
                  </a:txBody>
                  <a:tcPr>
                    <a:solidFill>
                      <a:srgbClr val="F8FAFC"/>
                    </a:solidFill>
                  </a:tcPr>
                </a:tc>
                <a:tc>
                  <a:txBody>
                    <a:bodyPr/>
                    <a:lstStyle/>
                    <a:p>
                      <a:r>
                        <a:rPr sz="819" b="1" dirty="0">
                          <a:solidFill>
                            <a:srgbClr val="0F172A"/>
                          </a:solidFill>
                          <a:latin typeface="Arial"/>
                        </a:rPr>
                        <a:t>1.000</a:t>
                      </a:r>
                    </a:p>
                  </a:txBody>
                  <a:tcPr>
                    <a:solidFill>
                      <a:srgbClr val="F8FAFC"/>
                    </a:solidFill>
                  </a:tcPr>
                </a:tc>
                <a:tc>
                  <a:txBody>
                    <a:bodyPr/>
                    <a:lstStyle/>
                    <a:p>
                      <a:r>
                        <a:rPr sz="819">
                          <a:solidFill>
                            <a:srgbClr val="0F172A"/>
                          </a:solidFill>
                          <a:latin typeface="Arial"/>
                        </a:rPr>
                        <a:t>0.781</a:t>
                      </a:r>
                    </a:p>
                  </a:txBody>
                  <a:tcPr>
                    <a:solidFill>
                      <a:srgbClr val="F8FAFC"/>
                    </a:solidFill>
                  </a:tcPr>
                </a:tc>
                <a:tc>
                  <a:txBody>
                    <a:bodyPr/>
                    <a:lstStyle/>
                    <a:p>
                      <a:r>
                        <a:rPr sz="819" dirty="0">
                          <a:solidFill>
                            <a:srgbClr val="0F172A"/>
                          </a:solidFill>
                          <a:latin typeface="Arial"/>
                        </a:rPr>
                        <a:t>0.779</a:t>
                      </a:r>
                    </a:p>
                  </a:txBody>
                  <a:tcPr>
                    <a:solidFill>
                      <a:srgbClr val="F8FAFC"/>
                    </a:solidFill>
                  </a:tcPr>
                </a:tc>
                <a:extLst>
                  <a:ext uri="{0D108BD9-81ED-4DB2-BD59-A6C34878D82A}">
                    <a16:rowId xmlns:a16="http://schemas.microsoft.com/office/drawing/2014/main" val="10002"/>
                  </a:ext>
                </a:extLst>
              </a:tr>
              <a:tr h="508635">
                <a:tc>
                  <a:txBody>
                    <a:bodyPr/>
                    <a:lstStyle/>
                    <a:p>
                      <a:r>
                        <a:rPr sz="819">
                          <a:solidFill>
                            <a:srgbClr val="0F172A"/>
                          </a:solidFill>
                          <a:latin typeface="Arial"/>
                        </a:rPr>
                        <a:t>nflow</a:t>
                      </a:r>
                    </a:p>
                  </a:txBody>
                  <a:tcPr/>
                </a:tc>
                <a:tc>
                  <a:txBody>
                    <a:bodyPr/>
                    <a:lstStyle/>
                    <a:p>
                      <a:r>
                        <a:rPr sz="819">
                          <a:solidFill>
                            <a:srgbClr val="0F172A"/>
                          </a:solidFill>
                          <a:latin typeface="Arial"/>
                        </a:rPr>
                        <a:t>0.207</a:t>
                      </a:r>
                    </a:p>
                  </a:txBody>
                  <a:tcPr/>
                </a:tc>
                <a:tc>
                  <a:txBody>
                    <a:bodyPr/>
                    <a:lstStyle/>
                    <a:p>
                      <a:r>
                        <a:rPr sz="819">
                          <a:solidFill>
                            <a:srgbClr val="0F172A"/>
                          </a:solidFill>
                          <a:latin typeface="Arial"/>
                        </a:rPr>
                        <a:t>0.448</a:t>
                      </a:r>
                    </a:p>
                  </a:txBody>
                  <a:tcPr/>
                </a:tc>
                <a:tc>
                  <a:txBody>
                    <a:bodyPr/>
                    <a:lstStyle/>
                    <a:p>
                      <a:r>
                        <a:rPr sz="819">
                          <a:solidFill>
                            <a:srgbClr val="0F172A"/>
                          </a:solidFill>
                          <a:latin typeface="Arial"/>
                        </a:rPr>
                        <a:t>0.165</a:t>
                      </a:r>
                    </a:p>
                  </a:txBody>
                  <a:tcPr/>
                </a:tc>
                <a:tc>
                  <a:txBody>
                    <a:bodyPr/>
                    <a:lstStyle/>
                    <a:p>
                      <a:r>
                        <a:rPr sz="819">
                          <a:solidFill>
                            <a:srgbClr val="0F172A"/>
                          </a:solidFill>
                          <a:latin typeface="Arial"/>
                        </a:rPr>
                        <a:t>0.104</a:t>
                      </a:r>
                    </a:p>
                  </a:txBody>
                  <a:tcPr/>
                </a:tc>
                <a:tc>
                  <a:txBody>
                    <a:bodyPr/>
                    <a:lstStyle/>
                    <a:p>
                      <a:r>
                        <a:rPr sz="819" dirty="0">
                          <a:solidFill>
                            <a:srgbClr val="0F172A"/>
                          </a:solidFill>
                          <a:latin typeface="Arial"/>
                        </a:rPr>
                        <a:t>0.009</a:t>
                      </a:r>
                    </a:p>
                  </a:txBody>
                  <a:tcPr/>
                </a:tc>
                <a:tc>
                  <a:txBody>
                    <a:bodyPr/>
                    <a:lstStyle/>
                    <a:p>
                      <a:r>
                        <a:rPr sz="819">
                          <a:solidFill>
                            <a:srgbClr val="0F172A"/>
                          </a:solidFill>
                          <a:latin typeface="Arial"/>
                        </a:rPr>
                        <a:t>0.021</a:t>
                      </a:r>
                    </a:p>
                  </a:txBody>
                  <a:tcPr/>
                </a:tc>
                <a:tc>
                  <a:txBody>
                    <a:bodyPr/>
                    <a:lstStyle/>
                    <a:p>
                      <a:r>
                        <a:rPr sz="819">
                          <a:solidFill>
                            <a:srgbClr val="0F172A"/>
                          </a:solidFill>
                          <a:latin typeface="Arial"/>
                        </a:rPr>
                        <a:t>0.006</a:t>
                      </a:r>
                    </a:p>
                  </a:txBody>
                  <a:tcPr/>
                </a:tc>
                <a:extLst>
                  <a:ext uri="{0D108BD9-81ED-4DB2-BD59-A6C34878D82A}">
                    <a16:rowId xmlns:a16="http://schemas.microsoft.com/office/drawing/2014/main" val="10003"/>
                  </a:ext>
                </a:extLst>
              </a:tr>
              <a:tr h="508635">
                <a:tc>
                  <a:txBody>
                    <a:bodyPr/>
                    <a:lstStyle/>
                    <a:p>
                      <a:r>
                        <a:rPr sz="819">
                          <a:solidFill>
                            <a:srgbClr val="0F172A"/>
                          </a:solidFill>
                          <a:latin typeface="Arial"/>
                        </a:rPr>
                        <a:t>tvae</a:t>
                      </a:r>
                    </a:p>
                  </a:txBody>
                  <a:tcPr>
                    <a:solidFill>
                      <a:srgbClr val="F8FAFC"/>
                    </a:solidFill>
                  </a:tcPr>
                </a:tc>
                <a:tc>
                  <a:txBody>
                    <a:bodyPr/>
                    <a:lstStyle/>
                    <a:p>
                      <a:r>
                        <a:rPr sz="819">
                          <a:solidFill>
                            <a:srgbClr val="0F172A"/>
                          </a:solidFill>
                          <a:latin typeface="Arial"/>
                        </a:rPr>
                        <a:t>0.274</a:t>
                      </a:r>
                    </a:p>
                  </a:txBody>
                  <a:tcPr>
                    <a:solidFill>
                      <a:srgbClr val="F8FAFC"/>
                    </a:solidFill>
                  </a:tcPr>
                </a:tc>
                <a:tc>
                  <a:txBody>
                    <a:bodyPr/>
                    <a:lstStyle/>
                    <a:p>
                      <a:r>
                        <a:rPr sz="819">
                          <a:solidFill>
                            <a:srgbClr val="0F172A"/>
                          </a:solidFill>
                          <a:latin typeface="Arial"/>
                        </a:rPr>
                        <a:t>0.399</a:t>
                      </a:r>
                    </a:p>
                  </a:txBody>
                  <a:tcPr>
                    <a:solidFill>
                      <a:srgbClr val="F8FAFC"/>
                    </a:solidFill>
                  </a:tcPr>
                </a:tc>
                <a:tc>
                  <a:txBody>
                    <a:bodyPr/>
                    <a:lstStyle/>
                    <a:p>
                      <a:r>
                        <a:rPr sz="819">
                          <a:solidFill>
                            <a:srgbClr val="0F172A"/>
                          </a:solidFill>
                          <a:latin typeface="Arial"/>
                        </a:rPr>
                        <a:t>0.165</a:t>
                      </a:r>
                    </a:p>
                  </a:txBody>
                  <a:tcPr>
                    <a:solidFill>
                      <a:srgbClr val="F8FAFC"/>
                    </a:solidFill>
                  </a:tcPr>
                </a:tc>
                <a:tc>
                  <a:txBody>
                    <a:bodyPr/>
                    <a:lstStyle/>
                    <a:p>
                      <a:r>
                        <a:rPr sz="819">
                          <a:solidFill>
                            <a:srgbClr val="0F172A"/>
                          </a:solidFill>
                          <a:latin typeface="Arial"/>
                        </a:rPr>
                        <a:t>0.129</a:t>
                      </a:r>
                    </a:p>
                  </a:txBody>
                  <a:tcPr>
                    <a:solidFill>
                      <a:srgbClr val="F8FAFC"/>
                    </a:solidFill>
                  </a:tcPr>
                </a:tc>
                <a:tc>
                  <a:txBody>
                    <a:bodyPr/>
                    <a:lstStyle/>
                    <a:p>
                      <a:r>
                        <a:rPr sz="819">
                          <a:solidFill>
                            <a:srgbClr val="0F172A"/>
                          </a:solidFill>
                          <a:latin typeface="Arial"/>
                        </a:rPr>
                        <a:t>0.108</a:t>
                      </a:r>
                    </a:p>
                  </a:txBody>
                  <a:tcPr>
                    <a:solidFill>
                      <a:srgbClr val="F8FAFC"/>
                    </a:solidFill>
                  </a:tcPr>
                </a:tc>
                <a:tc>
                  <a:txBody>
                    <a:bodyPr/>
                    <a:lstStyle/>
                    <a:p>
                      <a:r>
                        <a:rPr sz="819">
                          <a:solidFill>
                            <a:srgbClr val="0F172A"/>
                          </a:solidFill>
                          <a:latin typeface="Arial"/>
                        </a:rPr>
                        <a:t>0.160</a:t>
                      </a:r>
                    </a:p>
                  </a:txBody>
                  <a:tcPr>
                    <a:solidFill>
                      <a:srgbClr val="F8FAFC"/>
                    </a:solidFill>
                  </a:tcPr>
                </a:tc>
                <a:tc>
                  <a:txBody>
                    <a:bodyPr/>
                    <a:lstStyle/>
                    <a:p>
                      <a:r>
                        <a:rPr sz="819">
                          <a:solidFill>
                            <a:srgbClr val="0F172A"/>
                          </a:solidFill>
                          <a:latin typeface="Arial"/>
                        </a:rPr>
                        <a:t>0.090</a:t>
                      </a:r>
                    </a:p>
                  </a:txBody>
                  <a:tcPr>
                    <a:solidFill>
                      <a:srgbClr val="F8FAFC"/>
                    </a:solidFill>
                  </a:tcPr>
                </a:tc>
                <a:extLst>
                  <a:ext uri="{0D108BD9-81ED-4DB2-BD59-A6C34878D82A}">
                    <a16:rowId xmlns:a16="http://schemas.microsoft.com/office/drawing/2014/main" val="10004"/>
                  </a:ext>
                </a:extLst>
              </a:tr>
              <a:tr h="508635">
                <a:tc>
                  <a:txBody>
                    <a:bodyPr/>
                    <a:lstStyle/>
                    <a:p>
                      <a:r>
                        <a:rPr sz="819">
                          <a:solidFill>
                            <a:srgbClr val="0F172A"/>
                          </a:solidFill>
                          <a:latin typeface="Arial"/>
                        </a:rPr>
                        <a:t>ctgan</a:t>
                      </a:r>
                    </a:p>
                  </a:txBody>
                  <a:tcPr/>
                </a:tc>
                <a:tc>
                  <a:txBody>
                    <a:bodyPr/>
                    <a:lstStyle/>
                    <a:p>
                      <a:r>
                        <a:rPr sz="819">
                          <a:solidFill>
                            <a:srgbClr val="0F172A"/>
                          </a:solidFill>
                          <a:latin typeface="Arial"/>
                        </a:rPr>
                        <a:t>0.409</a:t>
                      </a:r>
                    </a:p>
                  </a:txBody>
                  <a:tcPr/>
                </a:tc>
                <a:tc>
                  <a:txBody>
                    <a:bodyPr/>
                    <a:lstStyle/>
                    <a:p>
                      <a:r>
                        <a:rPr sz="819">
                          <a:solidFill>
                            <a:srgbClr val="0F172A"/>
                          </a:solidFill>
                          <a:latin typeface="Arial"/>
                        </a:rPr>
                        <a:t>0.433</a:t>
                      </a:r>
                    </a:p>
                  </a:txBody>
                  <a:tcPr/>
                </a:tc>
                <a:tc>
                  <a:txBody>
                    <a:bodyPr/>
                    <a:lstStyle/>
                    <a:p>
                      <a:r>
                        <a:rPr sz="819">
                          <a:solidFill>
                            <a:srgbClr val="0F172A"/>
                          </a:solidFill>
                          <a:latin typeface="Arial"/>
                        </a:rPr>
                        <a:t>0.187</a:t>
                      </a:r>
                    </a:p>
                  </a:txBody>
                  <a:tcPr/>
                </a:tc>
                <a:tc>
                  <a:txBody>
                    <a:bodyPr/>
                    <a:lstStyle/>
                    <a:p>
                      <a:r>
                        <a:rPr sz="819">
                          <a:solidFill>
                            <a:srgbClr val="0F172A"/>
                          </a:solidFill>
                          <a:latin typeface="Arial"/>
                        </a:rPr>
                        <a:t>0.129</a:t>
                      </a:r>
                    </a:p>
                  </a:txBody>
                  <a:tcPr/>
                </a:tc>
                <a:tc>
                  <a:txBody>
                    <a:bodyPr/>
                    <a:lstStyle/>
                    <a:p>
                      <a:r>
                        <a:rPr sz="819">
                          <a:solidFill>
                            <a:srgbClr val="0F172A"/>
                          </a:solidFill>
                          <a:latin typeface="Arial"/>
                        </a:rPr>
                        <a:t>0.000</a:t>
                      </a:r>
                    </a:p>
                  </a:txBody>
                  <a:tcPr/>
                </a:tc>
                <a:tc>
                  <a:txBody>
                    <a:bodyPr/>
                    <a:lstStyle/>
                    <a:p>
                      <a:r>
                        <a:rPr sz="819">
                          <a:solidFill>
                            <a:srgbClr val="0F172A"/>
                          </a:solidFill>
                          <a:latin typeface="Arial"/>
                        </a:rPr>
                        <a:t>0.000</a:t>
                      </a:r>
                    </a:p>
                  </a:txBody>
                  <a:tcPr/>
                </a:tc>
                <a:tc>
                  <a:txBody>
                    <a:bodyPr/>
                    <a:lstStyle/>
                    <a:p>
                      <a:r>
                        <a:rPr sz="819">
                          <a:solidFill>
                            <a:srgbClr val="0F172A"/>
                          </a:solidFill>
                          <a:latin typeface="Arial"/>
                        </a:rPr>
                        <a:t>0.000</a:t>
                      </a:r>
                    </a:p>
                  </a:txBody>
                  <a:tcPr/>
                </a:tc>
                <a:extLst>
                  <a:ext uri="{0D108BD9-81ED-4DB2-BD59-A6C34878D82A}">
                    <a16:rowId xmlns:a16="http://schemas.microsoft.com/office/drawing/2014/main" val="10005"/>
                  </a:ext>
                </a:extLst>
              </a:tr>
              <a:tr h="508635">
                <a:tc>
                  <a:txBody>
                    <a:bodyPr/>
                    <a:lstStyle/>
                    <a:p>
                      <a:r>
                        <a:rPr sz="819">
                          <a:solidFill>
                            <a:srgbClr val="0F172A"/>
                          </a:solidFill>
                          <a:latin typeface="Arial"/>
                        </a:rPr>
                        <a:t>rtvae</a:t>
                      </a:r>
                    </a:p>
                  </a:txBody>
                  <a:tcPr>
                    <a:solidFill>
                      <a:srgbClr val="F8FAFC"/>
                    </a:solidFill>
                  </a:tcPr>
                </a:tc>
                <a:tc>
                  <a:txBody>
                    <a:bodyPr/>
                    <a:lstStyle/>
                    <a:p>
                      <a:r>
                        <a:rPr sz="819">
                          <a:solidFill>
                            <a:srgbClr val="0F172A"/>
                          </a:solidFill>
                          <a:latin typeface="Arial"/>
                        </a:rPr>
                        <a:t>0.422</a:t>
                      </a:r>
                    </a:p>
                  </a:txBody>
                  <a:tcPr>
                    <a:solidFill>
                      <a:srgbClr val="F8FAFC"/>
                    </a:solidFill>
                  </a:tcPr>
                </a:tc>
                <a:tc>
                  <a:txBody>
                    <a:bodyPr/>
                    <a:lstStyle/>
                    <a:p>
                      <a:r>
                        <a:rPr sz="819">
                          <a:solidFill>
                            <a:srgbClr val="0F172A"/>
                          </a:solidFill>
                          <a:latin typeface="Arial"/>
                        </a:rPr>
                        <a:t>0.546</a:t>
                      </a:r>
                    </a:p>
                  </a:txBody>
                  <a:tcPr>
                    <a:solidFill>
                      <a:srgbClr val="F8FAFC"/>
                    </a:solidFill>
                  </a:tcPr>
                </a:tc>
                <a:tc>
                  <a:txBody>
                    <a:bodyPr/>
                    <a:lstStyle/>
                    <a:p>
                      <a:r>
                        <a:rPr sz="819">
                          <a:solidFill>
                            <a:srgbClr val="0F172A"/>
                          </a:solidFill>
                          <a:latin typeface="Arial"/>
                        </a:rPr>
                        <a:t>0.172</a:t>
                      </a:r>
                    </a:p>
                  </a:txBody>
                  <a:tcPr>
                    <a:solidFill>
                      <a:srgbClr val="F8FAFC"/>
                    </a:solidFill>
                  </a:tcPr>
                </a:tc>
                <a:tc>
                  <a:txBody>
                    <a:bodyPr/>
                    <a:lstStyle/>
                    <a:p>
                      <a:r>
                        <a:rPr sz="819">
                          <a:solidFill>
                            <a:srgbClr val="0F172A"/>
                          </a:solidFill>
                          <a:latin typeface="Arial"/>
                        </a:rPr>
                        <a:t>0.127</a:t>
                      </a:r>
                    </a:p>
                  </a:txBody>
                  <a:tcPr>
                    <a:solidFill>
                      <a:srgbClr val="F8FAFC"/>
                    </a:solidFill>
                  </a:tcPr>
                </a:tc>
                <a:tc>
                  <a:txBody>
                    <a:bodyPr/>
                    <a:lstStyle/>
                    <a:p>
                      <a:r>
                        <a:rPr sz="819">
                          <a:solidFill>
                            <a:srgbClr val="0F172A"/>
                          </a:solidFill>
                          <a:latin typeface="Arial"/>
                        </a:rPr>
                        <a:t>0.071</a:t>
                      </a:r>
                    </a:p>
                  </a:txBody>
                  <a:tcPr>
                    <a:solidFill>
                      <a:srgbClr val="F8FAFC"/>
                    </a:solidFill>
                  </a:tcPr>
                </a:tc>
                <a:tc>
                  <a:txBody>
                    <a:bodyPr/>
                    <a:lstStyle/>
                    <a:p>
                      <a:r>
                        <a:rPr sz="819">
                          <a:solidFill>
                            <a:srgbClr val="0F172A"/>
                          </a:solidFill>
                          <a:latin typeface="Arial"/>
                        </a:rPr>
                        <a:t>0.041</a:t>
                      </a:r>
                    </a:p>
                  </a:txBody>
                  <a:tcPr>
                    <a:solidFill>
                      <a:srgbClr val="F8FAFC"/>
                    </a:solidFill>
                  </a:tcPr>
                </a:tc>
                <a:tc>
                  <a:txBody>
                    <a:bodyPr/>
                    <a:lstStyle/>
                    <a:p>
                      <a:r>
                        <a:rPr sz="819">
                          <a:solidFill>
                            <a:srgbClr val="0F172A"/>
                          </a:solidFill>
                          <a:latin typeface="Arial"/>
                        </a:rPr>
                        <a:t>0.024</a:t>
                      </a:r>
                    </a:p>
                  </a:txBody>
                  <a:tcPr>
                    <a:solidFill>
                      <a:srgbClr val="F8FAFC"/>
                    </a:solidFill>
                  </a:tcPr>
                </a:tc>
                <a:extLst>
                  <a:ext uri="{0D108BD9-81ED-4DB2-BD59-A6C34878D82A}">
                    <a16:rowId xmlns:a16="http://schemas.microsoft.com/office/drawing/2014/main" val="10006"/>
                  </a:ext>
                </a:extLst>
              </a:tr>
              <a:tr h="508635">
                <a:tc>
                  <a:txBody>
                    <a:bodyPr/>
                    <a:lstStyle/>
                    <a:p>
                      <a:r>
                        <a:rPr sz="819">
                          <a:solidFill>
                            <a:srgbClr val="0F172A"/>
                          </a:solidFill>
                          <a:latin typeface="Arial"/>
                        </a:rPr>
                        <a:t>tabddpm</a:t>
                      </a:r>
                    </a:p>
                  </a:txBody>
                  <a:tcPr/>
                </a:tc>
                <a:tc>
                  <a:txBody>
                    <a:bodyPr/>
                    <a:lstStyle/>
                    <a:p>
                      <a:r>
                        <a:rPr sz="819">
                          <a:solidFill>
                            <a:srgbClr val="0F172A"/>
                          </a:solidFill>
                          <a:latin typeface="Arial"/>
                        </a:rPr>
                        <a:t>0.508</a:t>
                      </a:r>
                    </a:p>
                  </a:txBody>
                  <a:tcPr/>
                </a:tc>
                <a:tc>
                  <a:txBody>
                    <a:bodyPr/>
                    <a:lstStyle/>
                    <a:p>
                      <a:r>
                        <a:rPr sz="819">
                          <a:solidFill>
                            <a:srgbClr val="0F172A"/>
                          </a:solidFill>
                          <a:latin typeface="Arial"/>
                        </a:rPr>
                        <a:t>0.226</a:t>
                      </a:r>
                    </a:p>
                  </a:txBody>
                  <a:tcPr/>
                </a:tc>
                <a:tc>
                  <a:txBody>
                    <a:bodyPr/>
                    <a:lstStyle/>
                    <a:p>
                      <a:r>
                        <a:rPr sz="819">
                          <a:solidFill>
                            <a:srgbClr val="0F172A"/>
                          </a:solidFill>
                          <a:latin typeface="Arial"/>
                        </a:rPr>
                        <a:t>0.152</a:t>
                      </a:r>
                    </a:p>
                  </a:txBody>
                  <a:tcPr/>
                </a:tc>
                <a:tc>
                  <a:txBody>
                    <a:bodyPr/>
                    <a:lstStyle/>
                    <a:p>
                      <a:r>
                        <a:rPr sz="819">
                          <a:solidFill>
                            <a:srgbClr val="0F172A"/>
                          </a:solidFill>
                          <a:latin typeface="Arial"/>
                        </a:rPr>
                        <a:t>0.056</a:t>
                      </a:r>
                    </a:p>
                  </a:txBody>
                  <a:tcPr/>
                </a:tc>
                <a:tc>
                  <a:txBody>
                    <a:bodyPr/>
                    <a:lstStyle/>
                    <a:p>
                      <a:r>
                        <a:rPr sz="819">
                          <a:solidFill>
                            <a:srgbClr val="0F172A"/>
                          </a:solidFill>
                          <a:latin typeface="Arial"/>
                        </a:rPr>
                        <a:t>0.006</a:t>
                      </a:r>
                    </a:p>
                  </a:txBody>
                  <a:tcPr/>
                </a:tc>
                <a:tc>
                  <a:txBody>
                    <a:bodyPr/>
                    <a:lstStyle/>
                    <a:p>
                      <a:r>
                        <a:rPr sz="819">
                          <a:solidFill>
                            <a:srgbClr val="0F172A"/>
                          </a:solidFill>
                          <a:latin typeface="Arial"/>
                        </a:rPr>
                        <a:t>0.021</a:t>
                      </a:r>
                    </a:p>
                  </a:txBody>
                  <a:tcPr/>
                </a:tc>
                <a:tc>
                  <a:txBody>
                    <a:bodyPr/>
                    <a:lstStyle/>
                    <a:p>
                      <a:r>
                        <a:rPr sz="819" dirty="0">
                          <a:solidFill>
                            <a:srgbClr val="0F172A"/>
                          </a:solidFill>
                          <a:latin typeface="Arial"/>
                        </a:rPr>
                        <a:t>0.000</a:t>
                      </a:r>
                    </a:p>
                  </a:txBody>
                  <a:tcPr/>
                </a:tc>
                <a:extLst>
                  <a:ext uri="{0D108BD9-81ED-4DB2-BD59-A6C34878D82A}">
                    <a16:rowId xmlns:a16="http://schemas.microsoft.com/office/drawing/2014/main" val="10007"/>
                  </a:ext>
                </a:extLst>
              </a:tr>
            </a:tbl>
          </a:graphicData>
        </a:graphic>
      </p:graphicFrame>
      <p:sp>
        <p:nvSpPr>
          <p:cNvPr id="5" name="TextBox 4"/>
          <p:cNvSpPr txBox="1"/>
          <p:nvPr/>
        </p:nvSpPr>
        <p:spPr>
          <a:xfrm>
            <a:off x="8001000" y="1234440"/>
            <a:ext cx="3108960" cy="274320"/>
          </a:xfrm>
          <a:prstGeom prst="rect">
            <a:avLst/>
          </a:prstGeom>
          <a:noFill/>
        </p:spPr>
        <p:txBody>
          <a:bodyPr wrap="square">
            <a:normAutofit fontScale="85000" lnSpcReduction="20000"/>
          </a:bodyPr>
          <a:lstStyle/>
          <a:p>
            <a:r>
              <a:rPr sz="1700" b="1">
                <a:solidFill>
                  <a:srgbClr val="0F172A"/>
                </a:solidFill>
                <a:latin typeface="Arial"/>
              </a:rPr>
              <a:t>What to notice</a:t>
            </a:r>
          </a:p>
        </p:txBody>
      </p:sp>
      <p:sp>
        <p:nvSpPr>
          <p:cNvPr id="6" name="TextBox 5"/>
          <p:cNvSpPr txBox="1"/>
          <p:nvPr/>
        </p:nvSpPr>
        <p:spPr>
          <a:xfrm>
            <a:off x="8001000" y="1627632"/>
            <a:ext cx="3474720" cy="1097280"/>
          </a:xfrm>
          <a:prstGeom prst="rect">
            <a:avLst/>
          </a:prstGeom>
          <a:noFill/>
        </p:spPr>
        <p:txBody>
          <a:bodyPr wrap="square">
            <a:normAutofit/>
          </a:bodyPr>
          <a:lstStyle/>
          <a:p>
            <a:r>
              <a:rPr sz="1320" b="0" dirty="0" err="1">
                <a:solidFill>
                  <a:srgbClr val="0F172A"/>
                </a:solidFill>
                <a:latin typeface="Arial"/>
              </a:rPr>
              <a:t>TabPFGen</a:t>
            </a:r>
            <a:r>
              <a:rPr sz="1320" b="0" dirty="0">
                <a:solidFill>
                  <a:srgbClr val="0F172A"/>
                </a:solidFill>
                <a:latin typeface="Arial"/>
              </a:rPr>
              <a:t> has the best median precision and coverage, and the best PCA spectrum match. That means its samples sit close to the real manifold and span much of it.</a:t>
            </a:r>
          </a:p>
        </p:txBody>
      </p:sp>
      <p:sp>
        <p:nvSpPr>
          <p:cNvPr id="7" name="TextBox 6"/>
          <p:cNvSpPr txBox="1"/>
          <p:nvPr/>
        </p:nvSpPr>
        <p:spPr>
          <a:xfrm>
            <a:off x="8001000" y="2971800"/>
            <a:ext cx="3474720" cy="1051560"/>
          </a:xfrm>
          <a:prstGeom prst="rect">
            <a:avLst/>
          </a:prstGeom>
          <a:noFill/>
        </p:spPr>
        <p:txBody>
          <a:bodyPr wrap="square">
            <a:normAutofit/>
          </a:bodyPr>
          <a:lstStyle/>
          <a:p>
            <a:r>
              <a:rPr sz="1320" b="0" dirty="0">
                <a:solidFill>
                  <a:srgbClr val="0F172A"/>
                </a:solidFill>
                <a:latin typeface="Arial"/>
              </a:rPr>
              <a:t>SMOTE has the lowest conditional KS, partial correlation error, and target-MI error. That is expected because it interpolates real rows instead of learning a new distribution.</a:t>
            </a:r>
          </a:p>
        </p:txBody>
      </p:sp>
      <p:sp>
        <p:nvSpPr>
          <p:cNvPr id="9" name="TextBox 8"/>
          <p:cNvSpPr txBox="1"/>
          <p:nvPr/>
        </p:nvSpPr>
        <p:spPr>
          <a:xfrm>
            <a:off x="502920" y="6537960"/>
            <a:ext cx="7772400" cy="164592"/>
          </a:xfrm>
          <a:prstGeom prst="rect">
            <a:avLst/>
          </a:prstGeom>
          <a:noFill/>
        </p:spPr>
        <p:txBody>
          <a:bodyPr wrap="square">
            <a:normAutofit fontScale="70000" lnSpcReduction="20000"/>
          </a:bodyPr>
          <a:lstStyle/>
          <a:p>
            <a:r>
              <a:rPr sz="850" b="0">
                <a:solidFill>
                  <a:srgbClr val="64748B"/>
                </a:solidFill>
                <a:latin typeface="Arial"/>
              </a:rPr>
              <a:t>Source: outputs/analysis_extra/extra_synthetic_diagnostics_summary.csv</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How to read support and copying</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High support can coexist with membership risk</a:t>
            </a:r>
          </a:p>
        </p:txBody>
      </p:sp>
      <p:graphicFrame>
        <p:nvGraphicFramePr>
          <p:cNvPr id="4" name="Table 3"/>
          <p:cNvGraphicFramePr>
            <a:graphicFrameLocks noGrp="1"/>
          </p:cNvGraphicFramePr>
          <p:nvPr/>
        </p:nvGraphicFramePr>
        <p:xfrm>
          <a:off x="640080" y="1234440"/>
          <a:ext cx="5577840" cy="2971800"/>
        </p:xfrm>
        <a:graphic>
          <a:graphicData uri="http://schemas.openxmlformats.org/drawingml/2006/table">
            <a:tbl>
              <a:tblPr firstRow="1" bandRow="1">
                <a:tableStyleId>{5C22544A-7EE6-4342-B048-85BDC9FD1C3A}</a:tableStyleId>
              </a:tblPr>
              <a:tblGrid>
                <a:gridCol w="27889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594360">
                <a:tc>
                  <a:txBody>
                    <a:bodyPr/>
                    <a:lstStyle/>
                    <a:p>
                      <a:r>
                        <a:rPr sz="1000" b="1">
                          <a:solidFill>
                            <a:srgbClr val="FFFFFF"/>
                          </a:solidFill>
                          <a:latin typeface="Arial"/>
                        </a:rPr>
                        <a:t>Metric</a:t>
                      </a:r>
                    </a:p>
                  </a:txBody>
                  <a:tcPr>
                    <a:solidFill>
                      <a:srgbClr val="2563EB"/>
                    </a:solidFill>
                  </a:tcPr>
                </a:tc>
                <a:tc>
                  <a:txBody>
                    <a:bodyPr/>
                    <a:lstStyle/>
                    <a:p>
                      <a:r>
                        <a:rPr sz="1000" b="1">
                          <a:solidFill>
                            <a:srgbClr val="FFFFFF"/>
                          </a:solidFill>
                          <a:latin typeface="Arial"/>
                        </a:rPr>
                        <a:t>Question it answers</a:t>
                      </a:r>
                    </a:p>
                  </a:txBody>
                  <a:tcPr>
                    <a:solidFill>
                      <a:srgbClr val="2563EB"/>
                    </a:solidFill>
                  </a:tcPr>
                </a:tc>
                <a:extLst>
                  <a:ext uri="{0D108BD9-81ED-4DB2-BD59-A6C34878D82A}">
                    <a16:rowId xmlns:a16="http://schemas.microsoft.com/office/drawing/2014/main" val="10000"/>
                  </a:ext>
                </a:extLst>
              </a:tr>
              <a:tr h="594360">
                <a:tc>
                  <a:txBody>
                    <a:bodyPr/>
                    <a:lstStyle/>
                    <a:p>
                      <a:r>
                        <a:rPr sz="1000">
                          <a:solidFill>
                            <a:srgbClr val="0F172A"/>
                          </a:solidFill>
                          <a:latin typeface="Arial"/>
                        </a:rPr>
                        <a:t>Precision</a:t>
                      </a:r>
                    </a:p>
                  </a:txBody>
                  <a:tcPr/>
                </a:tc>
                <a:tc>
                  <a:txBody>
                    <a:bodyPr/>
                    <a:lstStyle/>
                    <a:p>
                      <a:r>
                        <a:rPr sz="1000">
                          <a:solidFill>
                            <a:srgbClr val="0F172A"/>
                          </a:solidFill>
                          <a:latin typeface="Arial"/>
                        </a:rPr>
                        <a:t>Are synthetic rows close to real-data regions?</a:t>
                      </a:r>
                    </a:p>
                  </a:txBody>
                  <a:tcPr/>
                </a:tc>
                <a:extLst>
                  <a:ext uri="{0D108BD9-81ED-4DB2-BD59-A6C34878D82A}">
                    <a16:rowId xmlns:a16="http://schemas.microsoft.com/office/drawing/2014/main" val="10001"/>
                  </a:ext>
                </a:extLst>
              </a:tr>
              <a:tr h="594360">
                <a:tc>
                  <a:txBody>
                    <a:bodyPr/>
                    <a:lstStyle/>
                    <a:p>
                      <a:r>
                        <a:rPr sz="1000">
                          <a:solidFill>
                            <a:srgbClr val="0F172A"/>
                          </a:solidFill>
                          <a:latin typeface="Arial"/>
                        </a:rPr>
                        <a:t>Coverage</a:t>
                      </a:r>
                    </a:p>
                  </a:txBody>
                  <a:tcPr>
                    <a:solidFill>
                      <a:srgbClr val="F8FAFC"/>
                    </a:solidFill>
                  </a:tcPr>
                </a:tc>
                <a:tc>
                  <a:txBody>
                    <a:bodyPr/>
                    <a:lstStyle/>
                    <a:p>
                      <a:r>
                        <a:rPr sz="1000">
                          <a:solidFill>
                            <a:srgbClr val="0F172A"/>
                          </a:solidFill>
                          <a:latin typeface="Arial"/>
                        </a:rPr>
                        <a:t>Do synthetic rows cover many real-data regions?</a:t>
                      </a:r>
                    </a:p>
                  </a:txBody>
                  <a:tcPr>
                    <a:solidFill>
                      <a:srgbClr val="F8FAFC"/>
                    </a:solidFill>
                  </a:tcPr>
                </a:tc>
                <a:extLst>
                  <a:ext uri="{0D108BD9-81ED-4DB2-BD59-A6C34878D82A}">
                    <a16:rowId xmlns:a16="http://schemas.microsoft.com/office/drawing/2014/main" val="10002"/>
                  </a:ext>
                </a:extLst>
              </a:tr>
              <a:tr h="594360">
                <a:tc>
                  <a:txBody>
                    <a:bodyPr/>
                    <a:lstStyle/>
                    <a:p>
                      <a:r>
                        <a:rPr sz="1000">
                          <a:solidFill>
                            <a:srgbClr val="0F172A"/>
                          </a:solidFill>
                          <a:latin typeface="Arial"/>
                        </a:rPr>
                        <a:t>Minority coverage</a:t>
                      </a:r>
                    </a:p>
                  </a:txBody>
                  <a:tcPr/>
                </a:tc>
                <a:tc>
                  <a:txBody>
                    <a:bodyPr/>
                    <a:lstStyle/>
                    <a:p>
                      <a:r>
                        <a:rPr sz="1000">
                          <a:solidFill>
                            <a:srgbClr val="0F172A"/>
                          </a:solidFill>
                          <a:latin typeface="Arial"/>
                        </a:rPr>
                        <a:t>Do synthetic rows cover the minority-class region?</a:t>
                      </a:r>
                    </a:p>
                  </a:txBody>
                  <a:tcPr/>
                </a:tc>
                <a:extLst>
                  <a:ext uri="{0D108BD9-81ED-4DB2-BD59-A6C34878D82A}">
                    <a16:rowId xmlns:a16="http://schemas.microsoft.com/office/drawing/2014/main" val="10003"/>
                  </a:ext>
                </a:extLst>
              </a:tr>
              <a:tr h="594360">
                <a:tc>
                  <a:txBody>
                    <a:bodyPr/>
                    <a:lstStyle/>
                    <a:p>
                      <a:r>
                        <a:rPr sz="1000">
                          <a:solidFill>
                            <a:srgbClr val="0F172A"/>
                          </a:solidFill>
                          <a:latin typeface="Arial"/>
                        </a:rPr>
                        <a:t>Exact duplicate fraction</a:t>
                      </a:r>
                    </a:p>
                  </a:txBody>
                  <a:tcPr>
                    <a:solidFill>
                      <a:srgbClr val="F8FAFC"/>
                    </a:solidFill>
                  </a:tcPr>
                </a:tc>
                <a:tc>
                  <a:txBody>
                    <a:bodyPr/>
                    <a:lstStyle/>
                    <a:p>
                      <a:r>
                        <a:rPr sz="1000">
                          <a:solidFill>
                            <a:srgbClr val="0F172A"/>
                          </a:solidFill>
                          <a:latin typeface="Arial"/>
                        </a:rPr>
                        <a:t>How often a synthetic row exactly matches a train row after preprocessing/inverse output.</a:t>
                      </a:r>
                    </a:p>
                  </a:txBody>
                  <a:tcPr>
                    <a:solidFill>
                      <a:srgbClr val="F8FAFC"/>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720840" y="1234440"/>
            <a:ext cx="3108960" cy="274320"/>
          </a:xfrm>
          <a:prstGeom prst="rect">
            <a:avLst/>
          </a:prstGeom>
          <a:noFill/>
        </p:spPr>
        <p:txBody>
          <a:bodyPr wrap="square">
            <a:normAutofit fontScale="85000" lnSpcReduction="20000"/>
          </a:bodyPr>
          <a:lstStyle/>
          <a:p>
            <a:r>
              <a:rPr sz="1700" b="1">
                <a:solidFill>
                  <a:srgbClr val="0F172A"/>
                </a:solidFill>
                <a:latin typeface="Arial"/>
              </a:rPr>
              <a:t>Manifold support</a:t>
            </a:r>
          </a:p>
        </p:txBody>
      </p:sp>
      <p:sp>
        <p:nvSpPr>
          <p:cNvPr id="6" name="TextBox 5"/>
          <p:cNvSpPr txBox="1"/>
          <p:nvPr/>
        </p:nvSpPr>
        <p:spPr>
          <a:xfrm>
            <a:off x="6720840" y="1627632"/>
            <a:ext cx="4480560" cy="1005840"/>
          </a:xfrm>
          <a:prstGeom prst="rect">
            <a:avLst/>
          </a:prstGeom>
          <a:noFill/>
        </p:spPr>
        <p:txBody>
          <a:bodyPr wrap="square">
            <a:normAutofit/>
          </a:bodyPr>
          <a:lstStyle/>
          <a:p>
            <a:r>
              <a:rPr sz="1330" b="0">
                <a:solidFill>
                  <a:srgbClr val="0F172A"/>
                </a:solidFill>
                <a:latin typeface="Arial"/>
              </a:rPr>
              <a:t>The manifold is the region where realistic rows live. Good support means synthetic rows are near real rows and cover the same regions, instead of drifting into implausible feature combinations.</a:t>
            </a:r>
          </a:p>
        </p:txBody>
      </p:sp>
      <p:sp>
        <p:nvSpPr>
          <p:cNvPr id="7" name="TextBox 6"/>
          <p:cNvSpPr txBox="1"/>
          <p:nvPr/>
        </p:nvSpPr>
        <p:spPr>
          <a:xfrm>
            <a:off x="6720840" y="2793492"/>
            <a:ext cx="3749039" cy="274320"/>
          </a:xfrm>
          <a:prstGeom prst="rect">
            <a:avLst/>
          </a:prstGeom>
          <a:noFill/>
        </p:spPr>
        <p:txBody>
          <a:bodyPr wrap="square">
            <a:normAutofit fontScale="85000" lnSpcReduction="20000"/>
          </a:bodyPr>
          <a:lstStyle/>
          <a:p>
            <a:r>
              <a:rPr sz="1700" b="1" dirty="0">
                <a:solidFill>
                  <a:srgbClr val="0F172A"/>
                </a:solidFill>
                <a:latin typeface="Arial"/>
              </a:rPr>
              <a:t>Why </a:t>
            </a:r>
            <a:r>
              <a:rPr sz="1700" b="1" dirty="0" err="1">
                <a:solidFill>
                  <a:srgbClr val="0F172A"/>
                </a:solidFill>
                <a:latin typeface="Arial"/>
              </a:rPr>
              <a:t>TabPFGen</a:t>
            </a:r>
            <a:r>
              <a:rPr sz="1700" b="1" dirty="0">
                <a:solidFill>
                  <a:srgbClr val="0F172A"/>
                </a:solidFill>
                <a:latin typeface="Arial"/>
              </a:rPr>
              <a:t> has zero exact copies</a:t>
            </a:r>
          </a:p>
        </p:txBody>
      </p:sp>
      <p:sp>
        <p:nvSpPr>
          <p:cNvPr id="8" name="TextBox 7"/>
          <p:cNvSpPr txBox="1"/>
          <p:nvPr/>
        </p:nvSpPr>
        <p:spPr>
          <a:xfrm>
            <a:off x="6720840" y="3364992"/>
            <a:ext cx="4480560" cy="1143000"/>
          </a:xfrm>
          <a:prstGeom prst="rect">
            <a:avLst/>
          </a:prstGeom>
          <a:noFill/>
        </p:spPr>
        <p:txBody>
          <a:bodyPr wrap="square">
            <a:normAutofit/>
          </a:bodyPr>
          <a:lstStyle/>
          <a:p>
            <a:r>
              <a:rPr sz="1330" b="0">
                <a:solidFill>
                  <a:srgbClr val="0F172A"/>
                </a:solidFill>
                <a:latin typeface="Arial"/>
              </a:rPr>
              <a:t>SGLD starts near training rows but adds continuous noise and gradient updates, so exact full-row matches are unlikely. Other generators can recreate exact rows after categorical decoding, rounding, clipping, or interpolation on small datasets.</a:t>
            </a:r>
          </a:p>
        </p:txBody>
      </p:sp>
      <p:sp>
        <p:nvSpPr>
          <p:cNvPr id="9" name="TextBox 8"/>
          <p:cNvSpPr txBox="1"/>
          <p:nvPr/>
        </p:nvSpPr>
        <p:spPr>
          <a:xfrm>
            <a:off x="777240" y="5074920"/>
            <a:ext cx="10332720" cy="502920"/>
          </a:xfrm>
          <a:prstGeom prst="rect">
            <a:avLst/>
          </a:prstGeom>
          <a:noFill/>
        </p:spPr>
        <p:txBody>
          <a:bodyPr wrap="square">
            <a:normAutofit lnSpcReduction="10000"/>
          </a:bodyPr>
          <a:lstStyle/>
          <a:p>
            <a:r>
              <a:rPr sz="1450" b="0">
                <a:solidFill>
                  <a:srgbClr val="DC2626"/>
                </a:solidFill>
                <a:latin typeface="Arial"/>
              </a:rPr>
              <a:t>Key caveat: zero exact duplicates does not imply privacy. Membership attacks can still detect that TabPFGen rows sit closer to train members than to non-members.</a:t>
            </a:r>
          </a:p>
        </p:txBody>
      </p:sp>
      <p:sp>
        <p:nvSpPr>
          <p:cNvPr id="10" name="TextBox 9"/>
          <p:cNvSpPr txBox="1"/>
          <p:nvPr/>
        </p:nvSpPr>
        <p:spPr>
          <a:xfrm>
            <a:off x="502920" y="6537960"/>
            <a:ext cx="7772400" cy="164592"/>
          </a:xfrm>
          <a:prstGeom prst="rect">
            <a:avLst/>
          </a:prstGeom>
          <a:noFill/>
        </p:spPr>
        <p:txBody>
          <a:bodyPr wrap="square">
            <a:normAutofit fontScale="70000" lnSpcReduction="20000"/>
          </a:bodyPr>
          <a:lstStyle/>
          <a:p>
            <a:r>
              <a:rPr sz="850" b="0">
                <a:solidFill>
                  <a:srgbClr val="64748B"/>
                </a:solidFill>
                <a:latin typeface="Arial"/>
              </a:rPr>
              <a:t>Interpretation slide for outputs/analysis_extra and outputs/privacy_attacks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CTGAN repeated seeds</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Best runs can look paper-like while the average remains unstable</a:t>
            </a:r>
          </a:p>
        </p:txBody>
      </p:sp>
      <p:graphicFrame>
        <p:nvGraphicFramePr>
          <p:cNvPr id="4" name="Table 3"/>
          <p:cNvGraphicFramePr>
            <a:graphicFrameLocks noGrp="1"/>
          </p:cNvGraphicFramePr>
          <p:nvPr/>
        </p:nvGraphicFramePr>
        <p:xfrm>
          <a:off x="502920" y="1234440"/>
          <a:ext cx="6903720" cy="4160520"/>
        </p:xfrm>
        <a:graphic>
          <a:graphicData uri="http://schemas.openxmlformats.org/drawingml/2006/table">
            <a:tbl>
              <a:tblPr firstRow="1" bandRow="1">
                <a:tableStyleId>{5C22544A-7EE6-4342-B048-85BDC9FD1C3A}</a:tableStyleId>
              </a:tblPr>
              <a:tblGrid>
                <a:gridCol w="1150620">
                  <a:extLst>
                    <a:ext uri="{9D8B030D-6E8A-4147-A177-3AD203B41FA5}">
                      <a16:colId xmlns:a16="http://schemas.microsoft.com/office/drawing/2014/main" val="20000"/>
                    </a:ext>
                  </a:extLst>
                </a:gridCol>
                <a:gridCol w="1150620">
                  <a:extLst>
                    <a:ext uri="{9D8B030D-6E8A-4147-A177-3AD203B41FA5}">
                      <a16:colId xmlns:a16="http://schemas.microsoft.com/office/drawing/2014/main" val="20001"/>
                    </a:ext>
                  </a:extLst>
                </a:gridCol>
                <a:gridCol w="1150620">
                  <a:extLst>
                    <a:ext uri="{9D8B030D-6E8A-4147-A177-3AD203B41FA5}">
                      <a16:colId xmlns:a16="http://schemas.microsoft.com/office/drawing/2014/main" val="20002"/>
                    </a:ext>
                  </a:extLst>
                </a:gridCol>
                <a:gridCol w="1150620">
                  <a:extLst>
                    <a:ext uri="{9D8B030D-6E8A-4147-A177-3AD203B41FA5}">
                      <a16:colId xmlns:a16="http://schemas.microsoft.com/office/drawing/2014/main" val="20003"/>
                    </a:ext>
                  </a:extLst>
                </a:gridCol>
                <a:gridCol w="1150620">
                  <a:extLst>
                    <a:ext uri="{9D8B030D-6E8A-4147-A177-3AD203B41FA5}">
                      <a16:colId xmlns:a16="http://schemas.microsoft.com/office/drawing/2014/main" val="20004"/>
                    </a:ext>
                  </a:extLst>
                </a:gridCol>
                <a:gridCol w="1150620">
                  <a:extLst>
                    <a:ext uri="{9D8B030D-6E8A-4147-A177-3AD203B41FA5}">
                      <a16:colId xmlns:a16="http://schemas.microsoft.com/office/drawing/2014/main" val="20005"/>
                    </a:ext>
                  </a:extLst>
                </a:gridCol>
              </a:tblGrid>
              <a:tr h="462280">
                <a:tc>
                  <a:txBody>
                    <a:bodyPr/>
                    <a:lstStyle/>
                    <a:p>
                      <a:r>
                        <a:rPr sz="860" b="1">
                          <a:solidFill>
                            <a:srgbClr val="FFFFFF"/>
                          </a:solidFill>
                          <a:latin typeface="Arial"/>
                        </a:rPr>
                        <a:t>Mode</a:t>
                      </a:r>
                    </a:p>
                  </a:txBody>
                  <a:tcPr>
                    <a:solidFill>
                      <a:srgbClr val="0F172A"/>
                    </a:solidFill>
                  </a:tcPr>
                </a:tc>
                <a:tc>
                  <a:txBody>
                    <a:bodyPr/>
                    <a:lstStyle/>
                    <a:p>
                      <a:r>
                        <a:rPr sz="860" b="1">
                          <a:solidFill>
                            <a:srgbClr val="FFFFFF"/>
                          </a:solidFill>
                          <a:latin typeface="Arial"/>
                        </a:rPr>
                        <a:t>Model</a:t>
                      </a:r>
                    </a:p>
                  </a:txBody>
                  <a:tcPr>
                    <a:solidFill>
                      <a:srgbClr val="0F172A"/>
                    </a:solidFill>
                  </a:tcPr>
                </a:tc>
                <a:tc>
                  <a:txBody>
                    <a:bodyPr/>
                    <a:lstStyle/>
                    <a:p>
                      <a:r>
                        <a:rPr sz="860" b="1">
                          <a:solidFill>
                            <a:srgbClr val="FFFFFF"/>
                          </a:solidFill>
                          <a:latin typeface="Arial"/>
                        </a:rPr>
                        <a:t>Mean AUC</a:t>
                      </a:r>
                    </a:p>
                  </a:txBody>
                  <a:tcPr>
                    <a:solidFill>
                      <a:srgbClr val="0F172A"/>
                    </a:solidFill>
                  </a:tcPr>
                </a:tc>
                <a:tc>
                  <a:txBody>
                    <a:bodyPr/>
                    <a:lstStyle/>
                    <a:p>
                      <a:r>
                        <a:rPr sz="860" b="1">
                          <a:solidFill>
                            <a:srgbClr val="FFFFFF"/>
                          </a:solidFill>
                          <a:latin typeface="Arial"/>
                        </a:rPr>
                        <a:t>Std.</a:t>
                      </a:r>
                    </a:p>
                  </a:txBody>
                  <a:tcPr>
                    <a:solidFill>
                      <a:srgbClr val="0F172A"/>
                    </a:solidFill>
                  </a:tcPr>
                </a:tc>
                <a:tc>
                  <a:txBody>
                    <a:bodyPr/>
                    <a:lstStyle/>
                    <a:p>
                      <a:r>
                        <a:rPr sz="860" b="1">
                          <a:solidFill>
                            <a:srgbClr val="FFFFFF"/>
                          </a:solidFill>
                          <a:latin typeface="Arial"/>
                        </a:rPr>
                        <a:t>Best AUC</a:t>
                      </a:r>
                    </a:p>
                  </a:txBody>
                  <a:tcPr>
                    <a:solidFill>
                      <a:srgbClr val="0F172A"/>
                    </a:solidFill>
                  </a:tcPr>
                </a:tc>
                <a:tc>
                  <a:txBody>
                    <a:bodyPr/>
                    <a:lstStyle/>
                    <a:p>
                      <a:r>
                        <a:rPr sz="860" b="1">
                          <a:solidFill>
                            <a:srgbClr val="FFFFFF"/>
                          </a:solidFill>
                          <a:latin typeface="Arial"/>
                        </a:rPr>
                        <a:t>Paper</a:t>
                      </a:r>
                    </a:p>
                  </a:txBody>
                  <a:tcPr>
                    <a:solidFill>
                      <a:srgbClr val="0F172A"/>
                    </a:solidFill>
                  </a:tcPr>
                </a:tc>
                <a:extLst>
                  <a:ext uri="{0D108BD9-81ED-4DB2-BD59-A6C34878D82A}">
                    <a16:rowId xmlns:a16="http://schemas.microsoft.com/office/drawing/2014/main" val="10000"/>
                  </a:ext>
                </a:extLst>
              </a:tr>
              <a:tr h="462280">
                <a:tc>
                  <a:txBody>
                    <a:bodyPr/>
                    <a:lstStyle/>
                    <a:p>
                      <a:r>
                        <a:rPr sz="860">
                          <a:solidFill>
                            <a:srgbClr val="0F172A"/>
                          </a:solidFill>
                          <a:latin typeface="Arial"/>
                        </a:rPr>
                        <a:t>augmentation</a:t>
                      </a:r>
                    </a:p>
                  </a:txBody>
                  <a:tcPr/>
                </a:tc>
                <a:tc>
                  <a:txBody>
                    <a:bodyPr/>
                    <a:lstStyle/>
                    <a:p>
                      <a:r>
                        <a:rPr sz="860">
                          <a:solidFill>
                            <a:srgbClr val="0F172A"/>
                          </a:solidFill>
                          <a:latin typeface="Arial"/>
                        </a:rPr>
                        <a:t>lr</a:t>
                      </a:r>
                    </a:p>
                  </a:txBody>
                  <a:tcPr/>
                </a:tc>
                <a:tc>
                  <a:txBody>
                    <a:bodyPr/>
                    <a:lstStyle/>
                    <a:p>
                      <a:r>
                        <a:rPr sz="860">
                          <a:solidFill>
                            <a:srgbClr val="0F172A"/>
                          </a:solidFill>
                          <a:latin typeface="Arial"/>
                        </a:rPr>
                        <a:t>0.896</a:t>
                      </a:r>
                    </a:p>
                  </a:txBody>
                  <a:tcPr/>
                </a:tc>
                <a:tc>
                  <a:txBody>
                    <a:bodyPr/>
                    <a:lstStyle/>
                    <a:p>
                      <a:r>
                        <a:rPr sz="860">
                          <a:solidFill>
                            <a:srgbClr val="0F172A"/>
                          </a:solidFill>
                          <a:latin typeface="Arial"/>
                        </a:rPr>
                        <a:t>0.084</a:t>
                      </a:r>
                    </a:p>
                  </a:txBody>
                  <a:tcPr/>
                </a:tc>
                <a:tc>
                  <a:txBody>
                    <a:bodyPr/>
                    <a:lstStyle/>
                    <a:p>
                      <a:r>
                        <a:rPr sz="860">
                          <a:solidFill>
                            <a:srgbClr val="0F172A"/>
                          </a:solidFill>
                          <a:latin typeface="Arial"/>
                        </a:rPr>
                        <a:t>1.000</a:t>
                      </a:r>
                    </a:p>
                  </a:txBody>
                  <a:tcPr/>
                </a:tc>
                <a:tc>
                  <a:txBody>
                    <a:bodyPr/>
                    <a:lstStyle/>
                    <a:p>
                      <a:r>
                        <a:rPr sz="860">
                          <a:solidFill>
                            <a:srgbClr val="0F172A"/>
                          </a:solidFill>
                          <a:latin typeface="Arial"/>
                        </a:rPr>
                        <a:t>0.904</a:t>
                      </a:r>
                    </a:p>
                  </a:txBody>
                  <a:tcPr/>
                </a:tc>
                <a:extLst>
                  <a:ext uri="{0D108BD9-81ED-4DB2-BD59-A6C34878D82A}">
                    <a16:rowId xmlns:a16="http://schemas.microsoft.com/office/drawing/2014/main" val="10001"/>
                  </a:ext>
                </a:extLst>
              </a:tr>
              <a:tr h="462280">
                <a:tc>
                  <a:txBody>
                    <a:bodyPr/>
                    <a:lstStyle/>
                    <a:p>
                      <a:r>
                        <a:rPr sz="860">
                          <a:solidFill>
                            <a:srgbClr val="0F172A"/>
                          </a:solidFill>
                          <a:latin typeface="Arial"/>
                        </a:rPr>
                        <a:t>augmentation</a:t>
                      </a:r>
                    </a:p>
                  </a:txBody>
                  <a:tcPr>
                    <a:solidFill>
                      <a:srgbClr val="F8FAFC"/>
                    </a:solidFill>
                  </a:tcPr>
                </a:tc>
                <a:tc>
                  <a:txBody>
                    <a:bodyPr/>
                    <a:lstStyle/>
                    <a:p>
                      <a:r>
                        <a:rPr sz="860">
                          <a:solidFill>
                            <a:srgbClr val="0F172A"/>
                          </a:solidFill>
                          <a:latin typeface="Arial"/>
                        </a:rPr>
                        <a:t>rf</a:t>
                      </a:r>
                    </a:p>
                  </a:txBody>
                  <a:tcPr>
                    <a:solidFill>
                      <a:srgbClr val="F8FAFC"/>
                    </a:solidFill>
                  </a:tcPr>
                </a:tc>
                <a:tc>
                  <a:txBody>
                    <a:bodyPr/>
                    <a:lstStyle/>
                    <a:p>
                      <a:r>
                        <a:rPr sz="860">
                          <a:solidFill>
                            <a:srgbClr val="0F172A"/>
                          </a:solidFill>
                          <a:latin typeface="Arial"/>
                        </a:rPr>
                        <a:t>0.898</a:t>
                      </a:r>
                    </a:p>
                  </a:txBody>
                  <a:tcPr>
                    <a:solidFill>
                      <a:srgbClr val="F8FAFC"/>
                    </a:solidFill>
                  </a:tcPr>
                </a:tc>
                <a:tc>
                  <a:txBody>
                    <a:bodyPr/>
                    <a:lstStyle/>
                    <a:p>
                      <a:r>
                        <a:rPr sz="860">
                          <a:solidFill>
                            <a:srgbClr val="0F172A"/>
                          </a:solidFill>
                          <a:latin typeface="Arial"/>
                        </a:rPr>
                        <a:t>0.096</a:t>
                      </a:r>
                    </a:p>
                  </a:txBody>
                  <a:tcPr>
                    <a:solidFill>
                      <a:srgbClr val="F8FAFC"/>
                    </a:solidFill>
                  </a:tcPr>
                </a:tc>
                <a:tc>
                  <a:txBody>
                    <a:bodyPr/>
                    <a:lstStyle/>
                    <a:p>
                      <a:r>
                        <a:rPr sz="860">
                          <a:solidFill>
                            <a:srgbClr val="0F172A"/>
                          </a:solidFill>
                          <a:latin typeface="Arial"/>
                        </a:rPr>
                        <a:t>1.000</a:t>
                      </a:r>
                    </a:p>
                  </a:txBody>
                  <a:tcPr>
                    <a:solidFill>
                      <a:srgbClr val="F8FAFC"/>
                    </a:solidFill>
                  </a:tcPr>
                </a:tc>
                <a:tc>
                  <a:txBody>
                    <a:bodyPr/>
                    <a:lstStyle/>
                    <a:p>
                      <a:r>
                        <a:rPr sz="860">
                          <a:solidFill>
                            <a:srgbClr val="0F172A"/>
                          </a:solidFill>
                          <a:latin typeface="Arial"/>
                        </a:rPr>
                        <a:t>0.898</a:t>
                      </a:r>
                    </a:p>
                  </a:txBody>
                  <a:tcPr>
                    <a:solidFill>
                      <a:srgbClr val="F8FAFC"/>
                    </a:solidFill>
                  </a:tcPr>
                </a:tc>
                <a:extLst>
                  <a:ext uri="{0D108BD9-81ED-4DB2-BD59-A6C34878D82A}">
                    <a16:rowId xmlns:a16="http://schemas.microsoft.com/office/drawing/2014/main" val="10002"/>
                  </a:ext>
                </a:extLst>
              </a:tr>
              <a:tr h="462280">
                <a:tc>
                  <a:txBody>
                    <a:bodyPr/>
                    <a:lstStyle/>
                    <a:p>
                      <a:r>
                        <a:rPr sz="860">
                          <a:solidFill>
                            <a:srgbClr val="0F172A"/>
                          </a:solidFill>
                          <a:latin typeface="Arial"/>
                        </a:rPr>
                        <a:t>augmentation</a:t>
                      </a:r>
                    </a:p>
                  </a:txBody>
                  <a:tcPr/>
                </a:tc>
                <a:tc>
                  <a:txBody>
                    <a:bodyPr/>
                    <a:lstStyle/>
                    <a:p>
                      <a:r>
                        <a:rPr sz="860">
                          <a:solidFill>
                            <a:srgbClr val="0F172A"/>
                          </a:solidFill>
                          <a:latin typeface="Arial"/>
                        </a:rPr>
                        <a:t>tabpfn</a:t>
                      </a:r>
                    </a:p>
                  </a:txBody>
                  <a:tcPr/>
                </a:tc>
                <a:tc>
                  <a:txBody>
                    <a:bodyPr/>
                    <a:lstStyle/>
                    <a:p>
                      <a:r>
                        <a:rPr sz="860">
                          <a:solidFill>
                            <a:srgbClr val="0F172A"/>
                          </a:solidFill>
                          <a:latin typeface="Arial"/>
                        </a:rPr>
                        <a:t>0.929</a:t>
                      </a:r>
                    </a:p>
                  </a:txBody>
                  <a:tcPr/>
                </a:tc>
                <a:tc>
                  <a:txBody>
                    <a:bodyPr/>
                    <a:lstStyle/>
                    <a:p>
                      <a:r>
                        <a:rPr sz="860">
                          <a:solidFill>
                            <a:srgbClr val="0F172A"/>
                          </a:solidFill>
                          <a:latin typeface="Arial"/>
                        </a:rPr>
                        <a:t>0.076</a:t>
                      </a:r>
                    </a:p>
                  </a:txBody>
                  <a:tcPr/>
                </a:tc>
                <a:tc>
                  <a:txBody>
                    <a:bodyPr/>
                    <a:lstStyle/>
                    <a:p>
                      <a:r>
                        <a:rPr sz="860">
                          <a:solidFill>
                            <a:srgbClr val="0F172A"/>
                          </a:solidFill>
                          <a:latin typeface="Arial"/>
                        </a:rPr>
                        <a:t>1.000</a:t>
                      </a:r>
                    </a:p>
                  </a:txBody>
                  <a:tcPr/>
                </a:tc>
                <a:tc>
                  <a:txBody>
                    <a:bodyPr/>
                    <a:lstStyle/>
                    <a:p>
                      <a:r>
                        <a:rPr sz="860">
                          <a:solidFill>
                            <a:srgbClr val="0F172A"/>
                          </a:solidFill>
                          <a:latin typeface="Arial"/>
                        </a:rPr>
                        <a:t>0.930</a:t>
                      </a:r>
                    </a:p>
                  </a:txBody>
                  <a:tcPr/>
                </a:tc>
                <a:extLst>
                  <a:ext uri="{0D108BD9-81ED-4DB2-BD59-A6C34878D82A}">
                    <a16:rowId xmlns:a16="http://schemas.microsoft.com/office/drawing/2014/main" val="10003"/>
                  </a:ext>
                </a:extLst>
              </a:tr>
              <a:tr h="462280">
                <a:tc>
                  <a:txBody>
                    <a:bodyPr/>
                    <a:lstStyle/>
                    <a:p>
                      <a:r>
                        <a:rPr sz="860">
                          <a:solidFill>
                            <a:srgbClr val="0F172A"/>
                          </a:solidFill>
                          <a:latin typeface="Arial"/>
                        </a:rPr>
                        <a:t>augmentation</a:t>
                      </a:r>
                    </a:p>
                  </a:txBody>
                  <a:tcPr>
                    <a:solidFill>
                      <a:srgbClr val="F8FAFC"/>
                    </a:solidFill>
                  </a:tcPr>
                </a:tc>
                <a:tc>
                  <a:txBody>
                    <a:bodyPr/>
                    <a:lstStyle/>
                    <a:p>
                      <a:r>
                        <a:rPr sz="860">
                          <a:solidFill>
                            <a:srgbClr val="0F172A"/>
                          </a:solidFill>
                          <a:latin typeface="Arial"/>
                        </a:rPr>
                        <a:t>xgb</a:t>
                      </a:r>
                    </a:p>
                  </a:txBody>
                  <a:tcPr>
                    <a:solidFill>
                      <a:srgbClr val="F8FAFC"/>
                    </a:solidFill>
                  </a:tcPr>
                </a:tc>
                <a:tc>
                  <a:txBody>
                    <a:bodyPr/>
                    <a:lstStyle/>
                    <a:p>
                      <a:r>
                        <a:rPr sz="860">
                          <a:solidFill>
                            <a:srgbClr val="0F172A"/>
                          </a:solidFill>
                          <a:latin typeface="Arial"/>
                        </a:rPr>
                        <a:t>0.903</a:t>
                      </a:r>
                    </a:p>
                  </a:txBody>
                  <a:tcPr>
                    <a:solidFill>
                      <a:srgbClr val="F8FAFC"/>
                    </a:solidFill>
                  </a:tcPr>
                </a:tc>
                <a:tc>
                  <a:txBody>
                    <a:bodyPr/>
                    <a:lstStyle/>
                    <a:p>
                      <a:r>
                        <a:rPr sz="860">
                          <a:solidFill>
                            <a:srgbClr val="0F172A"/>
                          </a:solidFill>
                          <a:latin typeface="Arial"/>
                        </a:rPr>
                        <a:t>0.090</a:t>
                      </a:r>
                    </a:p>
                  </a:txBody>
                  <a:tcPr>
                    <a:solidFill>
                      <a:srgbClr val="F8FAFC"/>
                    </a:solidFill>
                  </a:tcPr>
                </a:tc>
                <a:tc>
                  <a:txBody>
                    <a:bodyPr/>
                    <a:lstStyle/>
                    <a:p>
                      <a:r>
                        <a:rPr sz="860">
                          <a:solidFill>
                            <a:srgbClr val="0F172A"/>
                          </a:solidFill>
                          <a:latin typeface="Arial"/>
                        </a:rPr>
                        <a:t>1.000</a:t>
                      </a:r>
                    </a:p>
                  </a:txBody>
                  <a:tcPr>
                    <a:solidFill>
                      <a:srgbClr val="F8FAFC"/>
                    </a:solidFill>
                  </a:tcPr>
                </a:tc>
                <a:tc>
                  <a:txBody>
                    <a:bodyPr/>
                    <a:lstStyle/>
                    <a:p>
                      <a:r>
                        <a:rPr sz="860">
                          <a:solidFill>
                            <a:srgbClr val="0F172A"/>
                          </a:solidFill>
                          <a:latin typeface="Arial"/>
                        </a:rPr>
                        <a:t>0.912</a:t>
                      </a:r>
                    </a:p>
                  </a:txBody>
                  <a:tcPr>
                    <a:solidFill>
                      <a:srgbClr val="F8FAFC"/>
                    </a:solidFill>
                  </a:tcPr>
                </a:tc>
                <a:extLst>
                  <a:ext uri="{0D108BD9-81ED-4DB2-BD59-A6C34878D82A}">
                    <a16:rowId xmlns:a16="http://schemas.microsoft.com/office/drawing/2014/main" val="10004"/>
                  </a:ext>
                </a:extLst>
              </a:tr>
              <a:tr h="462280">
                <a:tc>
                  <a:txBody>
                    <a:bodyPr/>
                    <a:lstStyle/>
                    <a:p>
                      <a:r>
                        <a:rPr sz="860">
                          <a:solidFill>
                            <a:srgbClr val="0F172A"/>
                          </a:solidFill>
                          <a:latin typeface="Arial"/>
                        </a:rPr>
                        <a:t>replacement</a:t>
                      </a:r>
                    </a:p>
                  </a:txBody>
                  <a:tcPr/>
                </a:tc>
                <a:tc>
                  <a:txBody>
                    <a:bodyPr/>
                    <a:lstStyle/>
                    <a:p>
                      <a:r>
                        <a:rPr sz="860">
                          <a:solidFill>
                            <a:srgbClr val="0F172A"/>
                          </a:solidFill>
                          <a:latin typeface="Arial"/>
                        </a:rPr>
                        <a:t>lr</a:t>
                      </a:r>
                    </a:p>
                  </a:txBody>
                  <a:tcPr/>
                </a:tc>
                <a:tc>
                  <a:txBody>
                    <a:bodyPr/>
                    <a:lstStyle/>
                    <a:p>
                      <a:r>
                        <a:rPr sz="860">
                          <a:solidFill>
                            <a:srgbClr val="0F172A"/>
                          </a:solidFill>
                          <a:latin typeface="Arial"/>
                        </a:rPr>
                        <a:t>0.620</a:t>
                      </a:r>
                    </a:p>
                  </a:txBody>
                  <a:tcPr/>
                </a:tc>
                <a:tc>
                  <a:txBody>
                    <a:bodyPr/>
                    <a:lstStyle/>
                    <a:p>
                      <a:r>
                        <a:rPr sz="860">
                          <a:solidFill>
                            <a:srgbClr val="0F172A"/>
                          </a:solidFill>
                          <a:latin typeface="Arial"/>
                        </a:rPr>
                        <a:t>0.190</a:t>
                      </a:r>
                    </a:p>
                  </a:txBody>
                  <a:tcPr/>
                </a:tc>
                <a:tc>
                  <a:txBody>
                    <a:bodyPr/>
                    <a:lstStyle/>
                    <a:p>
                      <a:r>
                        <a:rPr sz="860">
                          <a:solidFill>
                            <a:srgbClr val="0F172A"/>
                          </a:solidFill>
                          <a:latin typeface="Arial"/>
                        </a:rPr>
                        <a:t>0.991</a:t>
                      </a:r>
                    </a:p>
                  </a:txBody>
                  <a:tcPr/>
                </a:tc>
                <a:tc>
                  <a:txBody>
                    <a:bodyPr/>
                    <a:lstStyle/>
                    <a:p>
                      <a:r>
                        <a:rPr sz="860">
                          <a:solidFill>
                            <a:srgbClr val="0F172A"/>
                          </a:solidFill>
                          <a:latin typeface="Arial"/>
                        </a:rPr>
                        <a:t>0.843</a:t>
                      </a:r>
                    </a:p>
                  </a:txBody>
                  <a:tcPr/>
                </a:tc>
                <a:extLst>
                  <a:ext uri="{0D108BD9-81ED-4DB2-BD59-A6C34878D82A}">
                    <a16:rowId xmlns:a16="http://schemas.microsoft.com/office/drawing/2014/main" val="10005"/>
                  </a:ext>
                </a:extLst>
              </a:tr>
              <a:tr h="462280">
                <a:tc>
                  <a:txBody>
                    <a:bodyPr/>
                    <a:lstStyle/>
                    <a:p>
                      <a:r>
                        <a:rPr sz="860">
                          <a:solidFill>
                            <a:srgbClr val="0F172A"/>
                          </a:solidFill>
                          <a:latin typeface="Arial"/>
                        </a:rPr>
                        <a:t>replacement</a:t>
                      </a:r>
                    </a:p>
                  </a:txBody>
                  <a:tcPr>
                    <a:solidFill>
                      <a:srgbClr val="F8FAFC"/>
                    </a:solidFill>
                  </a:tcPr>
                </a:tc>
                <a:tc>
                  <a:txBody>
                    <a:bodyPr/>
                    <a:lstStyle/>
                    <a:p>
                      <a:r>
                        <a:rPr sz="860">
                          <a:solidFill>
                            <a:srgbClr val="0F172A"/>
                          </a:solidFill>
                          <a:latin typeface="Arial"/>
                        </a:rPr>
                        <a:t>rf</a:t>
                      </a:r>
                    </a:p>
                  </a:txBody>
                  <a:tcPr>
                    <a:solidFill>
                      <a:srgbClr val="F8FAFC"/>
                    </a:solidFill>
                  </a:tcPr>
                </a:tc>
                <a:tc>
                  <a:txBody>
                    <a:bodyPr/>
                    <a:lstStyle/>
                    <a:p>
                      <a:r>
                        <a:rPr sz="860">
                          <a:solidFill>
                            <a:srgbClr val="0F172A"/>
                          </a:solidFill>
                          <a:latin typeface="Arial"/>
                        </a:rPr>
                        <a:t>0.605</a:t>
                      </a:r>
                    </a:p>
                  </a:txBody>
                  <a:tcPr>
                    <a:solidFill>
                      <a:srgbClr val="F8FAFC"/>
                    </a:solidFill>
                  </a:tcPr>
                </a:tc>
                <a:tc>
                  <a:txBody>
                    <a:bodyPr/>
                    <a:lstStyle/>
                    <a:p>
                      <a:r>
                        <a:rPr sz="860">
                          <a:solidFill>
                            <a:srgbClr val="0F172A"/>
                          </a:solidFill>
                          <a:latin typeface="Arial"/>
                        </a:rPr>
                        <a:t>0.151</a:t>
                      </a:r>
                    </a:p>
                  </a:txBody>
                  <a:tcPr>
                    <a:solidFill>
                      <a:srgbClr val="F8FAFC"/>
                    </a:solidFill>
                  </a:tcPr>
                </a:tc>
                <a:tc>
                  <a:txBody>
                    <a:bodyPr/>
                    <a:lstStyle/>
                    <a:p>
                      <a:r>
                        <a:rPr sz="860">
                          <a:solidFill>
                            <a:srgbClr val="0F172A"/>
                          </a:solidFill>
                          <a:latin typeface="Arial"/>
                        </a:rPr>
                        <a:t>0.974</a:t>
                      </a:r>
                    </a:p>
                  </a:txBody>
                  <a:tcPr>
                    <a:solidFill>
                      <a:srgbClr val="F8FAFC"/>
                    </a:solidFill>
                  </a:tcPr>
                </a:tc>
                <a:tc>
                  <a:txBody>
                    <a:bodyPr/>
                    <a:lstStyle/>
                    <a:p>
                      <a:r>
                        <a:rPr sz="860">
                          <a:solidFill>
                            <a:srgbClr val="0F172A"/>
                          </a:solidFill>
                          <a:latin typeface="Arial"/>
                        </a:rPr>
                        <a:t>0.837</a:t>
                      </a:r>
                    </a:p>
                  </a:txBody>
                  <a:tcPr>
                    <a:solidFill>
                      <a:srgbClr val="F8FAFC"/>
                    </a:solidFill>
                  </a:tcPr>
                </a:tc>
                <a:extLst>
                  <a:ext uri="{0D108BD9-81ED-4DB2-BD59-A6C34878D82A}">
                    <a16:rowId xmlns:a16="http://schemas.microsoft.com/office/drawing/2014/main" val="10006"/>
                  </a:ext>
                </a:extLst>
              </a:tr>
              <a:tr h="462280">
                <a:tc>
                  <a:txBody>
                    <a:bodyPr/>
                    <a:lstStyle/>
                    <a:p>
                      <a:r>
                        <a:rPr sz="860">
                          <a:solidFill>
                            <a:srgbClr val="0F172A"/>
                          </a:solidFill>
                          <a:latin typeface="Arial"/>
                        </a:rPr>
                        <a:t>replacement</a:t>
                      </a:r>
                    </a:p>
                  </a:txBody>
                  <a:tcPr/>
                </a:tc>
                <a:tc>
                  <a:txBody>
                    <a:bodyPr/>
                    <a:lstStyle/>
                    <a:p>
                      <a:r>
                        <a:rPr sz="860">
                          <a:solidFill>
                            <a:srgbClr val="0F172A"/>
                          </a:solidFill>
                          <a:latin typeface="Arial"/>
                        </a:rPr>
                        <a:t>tabpfn</a:t>
                      </a:r>
                    </a:p>
                  </a:txBody>
                  <a:tcPr/>
                </a:tc>
                <a:tc>
                  <a:txBody>
                    <a:bodyPr/>
                    <a:lstStyle/>
                    <a:p>
                      <a:r>
                        <a:rPr sz="860">
                          <a:solidFill>
                            <a:srgbClr val="0F172A"/>
                          </a:solidFill>
                          <a:latin typeface="Arial"/>
                        </a:rPr>
                        <a:t>0.649</a:t>
                      </a:r>
                    </a:p>
                  </a:txBody>
                  <a:tcPr/>
                </a:tc>
                <a:tc>
                  <a:txBody>
                    <a:bodyPr/>
                    <a:lstStyle/>
                    <a:p>
                      <a:r>
                        <a:rPr sz="860">
                          <a:solidFill>
                            <a:srgbClr val="0F172A"/>
                          </a:solidFill>
                          <a:latin typeface="Arial"/>
                        </a:rPr>
                        <a:t>0.175</a:t>
                      </a:r>
                    </a:p>
                  </a:txBody>
                  <a:tcPr/>
                </a:tc>
                <a:tc>
                  <a:txBody>
                    <a:bodyPr/>
                    <a:lstStyle/>
                    <a:p>
                      <a:r>
                        <a:rPr sz="860">
                          <a:solidFill>
                            <a:srgbClr val="0F172A"/>
                          </a:solidFill>
                          <a:latin typeface="Arial"/>
                        </a:rPr>
                        <a:t>0.990</a:t>
                      </a:r>
                    </a:p>
                  </a:txBody>
                  <a:tcPr/>
                </a:tc>
                <a:tc>
                  <a:txBody>
                    <a:bodyPr/>
                    <a:lstStyle/>
                    <a:p>
                      <a:r>
                        <a:rPr sz="860">
                          <a:solidFill>
                            <a:srgbClr val="0F172A"/>
                          </a:solidFill>
                          <a:latin typeface="Arial"/>
                        </a:rPr>
                        <a:t>0.888</a:t>
                      </a:r>
                    </a:p>
                  </a:txBody>
                  <a:tcPr/>
                </a:tc>
                <a:extLst>
                  <a:ext uri="{0D108BD9-81ED-4DB2-BD59-A6C34878D82A}">
                    <a16:rowId xmlns:a16="http://schemas.microsoft.com/office/drawing/2014/main" val="10007"/>
                  </a:ext>
                </a:extLst>
              </a:tr>
              <a:tr h="462280">
                <a:tc>
                  <a:txBody>
                    <a:bodyPr/>
                    <a:lstStyle/>
                    <a:p>
                      <a:r>
                        <a:rPr sz="860">
                          <a:solidFill>
                            <a:srgbClr val="0F172A"/>
                          </a:solidFill>
                          <a:latin typeface="Arial"/>
                        </a:rPr>
                        <a:t>replacement</a:t>
                      </a:r>
                    </a:p>
                  </a:txBody>
                  <a:tcPr>
                    <a:solidFill>
                      <a:srgbClr val="F8FAFC"/>
                    </a:solidFill>
                  </a:tcPr>
                </a:tc>
                <a:tc>
                  <a:txBody>
                    <a:bodyPr/>
                    <a:lstStyle/>
                    <a:p>
                      <a:r>
                        <a:rPr sz="860">
                          <a:solidFill>
                            <a:srgbClr val="0F172A"/>
                          </a:solidFill>
                          <a:latin typeface="Arial"/>
                        </a:rPr>
                        <a:t>xgb</a:t>
                      </a:r>
                    </a:p>
                  </a:txBody>
                  <a:tcPr>
                    <a:solidFill>
                      <a:srgbClr val="F8FAFC"/>
                    </a:solidFill>
                  </a:tcPr>
                </a:tc>
                <a:tc>
                  <a:txBody>
                    <a:bodyPr/>
                    <a:lstStyle/>
                    <a:p>
                      <a:r>
                        <a:rPr sz="860">
                          <a:solidFill>
                            <a:srgbClr val="0F172A"/>
                          </a:solidFill>
                          <a:latin typeface="Arial"/>
                        </a:rPr>
                        <a:t>0.598</a:t>
                      </a:r>
                    </a:p>
                  </a:txBody>
                  <a:tcPr>
                    <a:solidFill>
                      <a:srgbClr val="F8FAFC"/>
                    </a:solidFill>
                  </a:tcPr>
                </a:tc>
                <a:tc>
                  <a:txBody>
                    <a:bodyPr/>
                    <a:lstStyle/>
                    <a:p>
                      <a:r>
                        <a:rPr sz="860">
                          <a:solidFill>
                            <a:srgbClr val="0F172A"/>
                          </a:solidFill>
                          <a:latin typeface="Arial"/>
                        </a:rPr>
                        <a:t>0.145</a:t>
                      </a:r>
                    </a:p>
                  </a:txBody>
                  <a:tcPr>
                    <a:solidFill>
                      <a:srgbClr val="F8FAFC"/>
                    </a:solidFill>
                  </a:tcPr>
                </a:tc>
                <a:tc>
                  <a:txBody>
                    <a:bodyPr/>
                    <a:lstStyle/>
                    <a:p>
                      <a:r>
                        <a:rPr sz="860">
                          <a:solidFill>
                            <a:srgbClr val="0F172A"/>
                          </a:solidFill>
                          <a:latin typeface="Arial"/>
                        </a:rPr>
                        <a:t>0.968</a:t>
                      </a:r>
                    </a:p>
                  </a:txBody>
                  <a:tcPr>
                    <a:solidFill>
                      <a:srgbClr val="F8FAFC"/>
                    </a:solidFill>
                  </a:tcPr>
                </a:tc>
                <a:tc>
                  <a:txBody>
                    <a:bodyPr/>
                    <a:lstStyle/>
                    <a:p>
                      <a:r>
                        <a:rPr sz="860">
                          <a:solidFill>
                            <a:srgbClr val="0F172A"/>
                          </a:solidFill>
                          <a:latin typeface="Arial"/>
                        </a:rPr>
                        <a:t>0.842</a:t>
                      </a:r>
                    </a:p>
                  </a:txBody>
                  <a:tcPr>
                    <a:solidFill>
                      <a:srgbClr val="F8FAFC"/>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7726679" y="1316736"/>
            <a:ext cx="3749039" cy="201168"/>
          </a:xfrm>
          <a:prstGeom prst="rect">
            <a:avLst/>
          </a:prstGeom>
          <a:noFill/>
        </p:spPr>
        <p:txBody>
          <a:bodyPr wrap="square">
            <a:normAutofit fontScale="77500" lnSpcReduction="20000"/>
          </a:bodyPr>
          <a:lstStyle/>
          <a:p>
            <a:r>
              <a:rPr sz="1150" b="1">
                <a:solidFill>
                  <a:srgbClr val="0F172A"/>
                </a:solidFill>
                <a:latin typeface="Arial"/>
              </a:rPr>
              <a:t>Replacement mean AUC</a:t>
            </a:r>
          </a:p>
        </p:txBody>
      </p:sp>
      <p:sp>
        <p:nvSpPr>
          <p:cNvPr id="6" name="TextBox 5"/>
          <p:cNvSpPr txBox="1"/>
          <p:nvPr/>
        </p:nvSpPr>
        <p:spPr>
          <a:xfrm>
            <a:off x="7726679" y="1591056"/>
            <a:ext cx="1325880" cy="368617"/>
          </a:xfrm>
          <a:prstGeom prst="rect">
            <a:avLst/>
          </a:prstGeom>
          <a:noFill/>
        </p:spPr>
        <p:txBody>
          <a:bodyPr wrap="square">
            <a:normAutofit/>
          </a:bodyPr>
          <a:lstStyle/>
          <a:p>
            <a:r>
              <a:rPr sz="950" b="0">
                <a:solidFill>
                  <a:srgbClr val="475569"/>
                </a:solidFill>
                <a:latin typeface="Arial"/>
              </a:rPr>
              <a:t>xgb</a:t>
            </a:r>
          </a:p>
        </p:txBody>
      </p:sp>
      <p:sp>
        <p:nvSpPr>
          <p:cNvPr id="7" name="Rectangle 6"/>
          <p:cNvSpPr/>
          <p:nvPr/>
        </p:nvSpPr>
        <p:spPr>
          <a:xfrm>
            <a:off x="9144000" y="1636776"/>
            <a:ext cx="1783079" cy="221170"/>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144000" y="1636776"/>
            <a:ext cx="1066729" cy="221170"/>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000232" y="1572768"/>
            <a:ext cx="502920" cy="368617"/>
          </a:xfrm>
          <a:prstGeom prst="rect">
            <a:avLst/>
          </a:prstGeom>
          <a:noFill/>
        </p:spPr>
        <p:txBody>
          <a:bodyPr wrap="square">
            <a:normAutofit/>
          </a:bodyPr>
          <a:lstStyle/>
          <a:p>
            <a:r>
              <a:rPr sz="919" b="0">
                <a:solidFill>
                  <a:srgbClr val="0F172A"/>
                </a:solidFill>
                <a:latin typeface="Arial"/>
              </a:rPr>
              <a:t>0.598</a:t>
            </a:r>
          </a:p>
        </p:txBody>
      </p:sp>
      <p:sp>
        <p:nvSpPr>
          <p:cNvPr id="10" name="TextBox 9"/>
          <p:cNvSpPr txBox="1"/>
          <p:nvPr/>
        </p:nvSpPr>
        <p:spPr>
          <a:xfrm>
            <a:off x="7726679" y="2082545"/>
            <a:ext cx="1325880" cy="368617"/>
          </a:xfrm>
          <a:prstGeom prst="rect">
            <a:avLst/>
          </a:prstGeom>
          <a:noFill/>
        </p:spPr>
        <p:txBody>
          <a:bodyPr wrap="square">
            <a:normAutofit/>
          </a:bodyPr>
          <a:lstStyle/>
          <a:p>
            <a:r>
              <a:rPr sz="950" b="0">
                <a:solidFill>
                  <a:srgbClr val="475569"/>
                </a:solidFill>
                <a:latin typeface="Arial"/>
              </a:rPr>
              <a:t>rf</a:t>
            </a:r>
          </a:p>
        </p:txBody>
      </p:sp>
      <p:sp>
        <p:nvSpPr>
          <p:cNvPr id="11" name="Rectangle 10"/>
          <p:cNvSpPr/>
          <p:nvPr/>
        </p:nvSpPr>
        <p:spPr>
          <a:xfrm>
            <a:off x="9144000" y="2128265"/>
            <a:ext cx="1783079" cy="221170"/>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44000" y="2128265"/>
            <a:ext cx="1078542" cy="221170"/>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000232" y="2064257"/>
            <a:ext cx="502920" cy="368617"/>
          </a:xfrm>
          <a:prstGeom prst="rect">
            <a:avLst/>
          </a:prstGeom>
          <a:noFill/>
        </p:spPr>
        <p:txBody>
          <a:bodyPr wrap="square">
            <a:normAutofit/>
          </a:bodyPr>
          <a:lstStyle/>
          <a:p>
            <a:r>
              <a:rPr sz="919" b="0">
                <a:solidFill>
                  <a:srgbClr val="0F172A"/>
                </a:solidFill>
                <a:latin typeface="Arial"/>
              </a:rPr>
              <a:t>0.605</a:t>
            </a:r>
          </a:p>
        </p:txBody>
      </p:sp>
      <p:sp>
        <p:nvSpPr>
          <p:cNvPr id="14" name="TextBox 13"/>
          <p:cNvSpPr txBox="1"/>
          <p:nvPr/>
        </p:nvSpPr>
        <p:spPr>
          <a:xfrm>
            <a:off x="7726679" y="2574036"/>
            <a:ext cx="1325880" cy="368617"/>
          </a:xfrm>
          <a:prstGeom prst="rect">
            <a:avLst/>
          </a:prstGeom>
          <a:noFill/>
        </p:spPr>
        <p:txBody>
          <a:bodyPr wrap="square">
            <a:normAutofit/>
          </a:bodyPr>
          <a:lstStyle/>
          <a:p>
            <a:r>
              <a:rPr sz="950" b="0">
                <a:solidFill>
                  <a:srgbClr val="475569"/>
                </a:solidFill>
                <a:latin typeface="Arial"/>
              </a:rPr>
              <a:t>lr</a:t>
            </a:r>
          </a:p>
        </p:txBody>
      </p:sp>
      <p:sp>
        <p:nvSpPr>
          <p:cNvPr id="15" name="Rectangle 14"/>
          <p:cNvSpPr/>
          <p:nvPr/>
        </p:nvSpPr>
        <p:spPr>
          <a:xfrm>
            <a:off x="9144000" y="2619756"/>
            <a:ext cx="1783079" cy="221170"/>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144000" y="2619756"/>
            <a:ext cx="1105976" cy="221170"/>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000232" y="2555748"/>
            <a:ext cx="502920" cy="368617"/>
          </a:xfrm>
          <a:prstGeom prst="rect">
            <a:avLst/>
          </a:prstGeom>
          <a:noFill/>
        </p:spPr>
        <p:txBody>
          <a:bodyPr wrap="square">
            <a:normAutofit/>
          </a:bodyPr>
          <a:lstStyle/>
          <a:p>
            <a:r>
              <a:rPr sz="919" b="0">
                <a:solidFill>
                  <a:srgbClr val="0F172A"/>
                </a:solidFill>
                <a:latin typeface="Arial"/>
              </a:rPr>
              <a:t>0.620</a:t>
            </a:r>
          </a:p>
        </p:txBody>
      </p:sp>
      <p:sp>
        <p:nvSpPr>
          <p:cNvPr id="18" name="TextBox 17"/>
          <p:cNvSpPr txBox="1"/>
          <p:nvPr/>
        </p:nvSpPr>
        <p:spPr>
          <a:xfrm>
            <a:off x="7726679" y="3065525"/>
            <a:ext cx="1325880" cy="368617"/>
          </a:xfrm>
          <a:prstGeom prst="rect">
            <a:avLst/>
          </a:prstGeom>
          <a:noFill/>
        </p:spPr>
        <p:txBody>
          <a:bodyPr wrap="square">
            <a:normAutofit/>
          </a:bodyPr>
          <a:lstStyle/>
          <a:p>
            <a:r>
              <a:rPr sz="950" b="0">
                <a:solidFill>
                  <a:srgbClr val="475569"/>
                </a:solidFill>
                <a:latin typeface="Arial"/>
              </a:rPr>
              <a:t>tabpfn</a:t>
            </a:r>
          </a:p>
        </p:txBody>
      </p:sp>
      <p:sp>
        <p:nvSpPr>
          <p:cNvPr id="19" name="Rectangle 18"/>
          <p:cNvSpPr/>
          <p:nvPr/>
        </p:nvSpPr>
        <p:spPr>
          <a:xfrm>
            <a:off x="9144000" y="3111245"/>
            <a:ext cx="1783079" cy="221170"/>
          </a:xfrm>
          <a:prstGeom prst="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144000" y="3111245"/>
            <a:ext cx="1158007" cy="221170"/>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000232" y="3047237"/>
            <a:ext cx="502920" cy="368617"/>
          </a:xfrm>
          <a:prstGeom prst="rect">
            <a:avLst/>
          </a:prstGeom>
          <a:noFill/>
        </p:spPr>
        <p:txBody>
          <a:bodyPr wrap="square">
            <a:normAutofit/>
          </a:bodyPr>
          <a:lstStyle/>
          <a:p>
            <a:r>
              <a:rPr sz="919" b="0">
                <a:solidFill>
                  <a:srgbClr val="0F172A"/>
                </a:solidFill>
                <a:latin typeface="Arial"/>
              </a:rPr>
              <a:t>0.649</a:t>
            </a:r>
          </a:p>
        </p:txBody>
      </p:sp>
      <p:sp>
        <p:nvSpPr>
          <p:cNvPr id="22" name="TextBox 21"/>
          <p:cNvSpPr txBox="1"/>
          <p:nvPr/>
        </p:nvSpPr>
        <p:spPr>
          <a:xfrm>
            <a:off x="7726679" y="3977639"/>
            <a:ext cx="3703320" cy="777240"/>
          </a:xfrm>
          <a:prstGeom prst="rect">
            <a:avLst/>
          </a:prstGeom>
          <a:noFill/>
        </p:spPr>
        <p:txBody>
          <a:bodyPr wrap="square">
            <a:normAutofit fontScale="92500"/>
          </a:bodyPr>
          <a:lstStyle/>
          <a:p>
            <a:r>
              <a:rPr sz="1350" b="0">
                <a:solidFill>
                  <a:srgbClr val="0F172A"/>
                </a:solidFill>
                <a:latin typeface="Arial"/>
              </a:rPr>
              <a:t>Why the best AUC can be very high: the best run often comes from easy datasets and seed selection. It is not a stable estimate of CTGAN performance.</a:t>
            </a:r>
          </a:p>
        </p:txBody>
      </p:sp>
      <p:sp>
        <p:nvSpPr>
          <p:cNvPr id="23" name="TextBox 22"/>
          <p:cNvSpPr txBox="1"/>
          <p:nvPr/>
        </p:nvSpPr>
        <p:spPr>
          <a:xfrm>
            <a:off x="502920" y="6537960"/>
            <a:ext cx="7772400" cy="164592"/>
          </a:xfrm>
          <a:prstGeom prst="rect">
            <a:avLst/>
          </a:prstGeom>
          <a:noFill/>
        </p:spPr>
        <p:txBody>
          <a:bodyPr wrap="square">
            <a:normAutofit fontScale="70000" lnSpcReduction="20000"/>
          </a:bodyPr>
          <a:lstStyle/>
          <a:p>
            <a:r>
              <a:rPr sz="850" b="0">
                <a:solidFill>
                  <a:srgbClr val="64748B"/>
                </a:solidFill>
                <a:latin typeface="Arial"/>
              </a:rPr>
              <a:t>Source: outputs/analysis/ctgan_repeats_summary.csv</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Privacy attack results</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TabPFGen and SMOTE show the clearest membership signal</a:t>
            </a:r>
          </a:p>
        </p:txBody>
      </p:sp>
      <p:graphicFrame>
        <p:nvGraphicFramePr>
          <p:cNvPr id="4" name="Table 3"/>
          <p:cNvGraphicFramePr>
            <a:graphicFrameLocks noGrp="1"/>
          </p:cNvGraphicFramePr>
          <p:nvPr>
            <p:extLst>
              <p:ext uri="{D42A27DB-BD31-4B8C-83A1-F6EECF244321}">
                <p14:modId xmlns:p14="http://schemas.microsoft.com/office/powerpoint/2010/main" val="3430226533"/>
              </p:ext>
            </p:extLst>
          </p:nvPr>
        </p:nvGraphicFramePr>
        <p:xfrm>
          <a:off x="502920" y="1170432"/>
          <a:ext cx="6074229" cy="3886200"/>
        </p:xfrm>
        <a:graphic>
          <a:graphicData uri="http://schemas.openxmlformats.org/drawingml/2006/table">
            <a:tbl>
              <a:tblPr firstRow="1" bandRow="1">
                <a:tableStyleId>{5C22544A-7EE6-4342-B048-85BDC9FD1C3A}</a:tableStyleId>
              </a:tblPr>
              <a:tblGrid>
                <a:gridCol w="1012371">
                  <a:extLst>
                    <a:ext uri="{9D8B030D-6E8A-4147-A177-3AD203B41FA5}">
                      <a16:colId xmlns:a16="http://schemas.microsoft.com/office/drawing/2014/main" val="20000"/>
                    </a:ext>
                  </a:extLst>
                </a:gridCol>
                <a:gridCol w="1012371">
                  <a:extLst>
                    <a:ext uri="{9D8B030D-6E8A-4147-A177-3AD203B41FA5}">
                      <a16:colId xmlns:a16="http://schemas.microsoft.com/office/drawing/2014/main" val="20002"/>
                    </a:ext>
                  </a:extLst>
                </a:gridCol>
                <a:gridCol w="1012371">
                  <a:extLst>
                    <a:ext uri="{9D8B030D-6E8A-4147-A177-3AD203B41FA5}">
                      <a16:colId xmlns:a16="http://schemas.microsoft.com/office/drawing/2014/main" val="20003"/>
                    </a:ext>
                  </a:extLst>
                </a:gridCol>
                <a:gridCol w="1012371">
                  <a:extLst>
                    <a:ext uri="{9D8B030D-6E8A-4147-A177-3AD203B41FA5}">
                      <a16:colId xmlns:a16="http://schemas.microsoft.com/office/drawing/2014/main" val="20004"/>
                    </a:ext>
                  </a:extLst>
                </a:gridCol>
                <a:gridCol w="1012371">
                  <a:extLst>
                    <a:ext uri="{9D8B030D-6E8A-4147-A177-3AD203B41FA5}">
                      <a16:colId xmlns:a16="http://schemas.microsoft.com/office/drawing/2014/main" val="20005"/>
                    </a:ext>
                  </a:extLst>
                </a:gridCol>
                <a:gridCol w="1012374">
                  <a:extLst>
                    <a:ext uri="{9D8B030D-6E8A-4147-A177-3AD203B41FA5}">
                      <a16:colId xmlns:a16="http://schemas.microsoft.com/office/drawing/2014/main" val="20006"/>
                    </a:ext>
                  </a:extLst>
                </a:gridCol>
              </a:tblGrid>
              <a:tr h="485775">
                <a:tc>
                  <a:txBody>
                    <a:bodyPr/>
                    <a:lstStyle/>
                    <a:p>
                      <a:r>
                        <a:rPr sz="840" b="1">
                          <a:solidFill>
                            <a:srgbClr val="FFFFFF"/>
                          </a:solidFill>
                          <a:latin typeface="Arial"/>
                        </a:rPr>
                        <a:t>Generator</a:t>
                      </a:r>
                    </a:p>
                  </a:txBody>
                  <a:tcPr>
                    <a:solidFill>
                      <a:srgbClr val="DC2626"/>
                    </a:solidFill>
                  </a:tcPr>
                </a:tc>
                <a:tc>
                  <a:txBody>
                    <a:bodyPr/>
                    <a:lstStyle/>
                    <a:p>
                      <a:r>
                        <a:rPr sz="840" b="1" dirty="0">
                          <a:solidFill>
                            <a:srgbClr val="FFFFFF"/>
                          </a:solidFill>
                          <a:latin typeface="Arial"/>
                        </a:rPr>
                        <a:t>RF </a:t>
                      </a:r>
                      <a:r>
                        <a:rPr lang="nl-NL" sz="840" b="1" dirty="0">
                          <a:solidFill>
                            <a:srgbClr val="FFFFFF"/>
                          </a:solidFill>
                          <a:latin typeface="Arial"/>
                        </a:rPr>
                        <a:t>mem. </a:t>
                      </a:r>
                      <a:r>
                        <a:rPr sz="840" b="1" dirty="0">
                          <a:solidFill>
                            <a:srgbClr val="FFFFFF"/>
                          </a:solidFill>
                          <a:latin typeface="Arial"/>
                        </a:rPr>
                        <a:t>AUC</a:t>
                      </a:r>
                    </a:p>
                  </a:txBody>
                  <a:tcPr>
                    <a:solidFill>
                      <a:srgbClr val="DC2626"/>
                    </a:solidFill>
                  </a:tcPr>
                </a:tc>
                <a:tc>
                  <a:txBody>
                    <a:bodyPr/>
                    <a:lstStyle/>
                    <a:p>
                      <a:r>
                        <a:rPr sz="840" b="1" dirty="0">
                          <a:solidFill>
                            <a:srgbClr val="FFFFFF"/>
                          </a:solidFill>
                          <a:latin typeface="Arial"/>
                        </a:rPr>
                        <a:t>R</a:t>
                      </a:r>
                      <a:r>
                        <a:rPr lang="en-GB" sz="840" b="1" dirty="0">
                          <a:solidFill>
                            <a:srgbClr val="FFFFFF"/>
                          </a:solidFill>
                          <a:latin typeface="Arial"/>
                        </a:rPr>
                        <a:t>f </a:t>
                      </a:r>
                      <a:r>
                        <a:rPr lang="nl-NL" sz="840" b="1" dirty="0">
                          <a:solidFill>
                            <a:srgbClr val="FFFFFF"/>
                          </a:solidFill>
                          <a:latin typeface="Arial"/>
                        </a:rPr>
                        <a:t>mem.</a:t>
                      </a:r>
                      <a:r>
                        <a:rPr sz="840" b="1" dirty="0">
                          <a:solidFill>
                            <a:srgbClr val="FFFFFF"/>
                          </a:solidFill>
                          <a:latin typeface="Arial"/>
                        </a:rPr>
                        <a:t> acc.</a:t>
                      </a:r>
                    </a:p>
                  </a:txBody>
                  <a:tcPr>
                    <a:solidFill>
                      <a:srgbClr val="DC2626"/>
                    </a:solidFill>
                  </a:tcPr>
                </a:tc>
                <a:tc>
                  <a:txBody>
                    <a:bodyPr/>
                    <a:lstStyle/>
                    <a:p>
                      <a:r>
                        <a:rPr sz="840" b="1">
                          <a:solidFill>
                            <a:srgbClr val="FFFFFF"/>
                          </a:solidFill>
                          <a:latin typeface="Arial"/>
                        </a:rPr>
                        <a:t>Exact frac.</a:t>
                      </a:r>
                    </a:p>
                  </a:txBody>
                  <a:tcPr>
                    <a:solidFill>
                      <a:srgbClr val="DC2626"/>
                    </a:solidFill>
                  </a:tcPr>
                </a:tc>
                <a:tc>
                  <a:txBody>
                    <a:bodyPr/>
                    <a:lstStyle/>
                    <a:p>
                      <a:r>
                        <a:rPr sz="840" b="1" dirty="0" err="1">
                          <a:solidFill>
                            <a:srgbClr val="FFFFFF"/>
                          </a:solidFill>
                          <a:latin typeface="Arial"/>
                        </a:rPr>
                        <a:t>Attr</a:t>
                      </a:r>
                      <a:r>
                        <a:rPr sz="840" b="1" dirty="0">
                          <a:solidFill>
                            <a:srgbClr val="FFFFFF"/>
                          </a:solidFill>
                          <a:latin typeface="Arial"/>
                        </a:rPr>
                        <a:t>. acc.</a:t>
                      </a:r>
                    </a:p>
                  </a:txBody>
                  <a:tcPr>
                    <a:solidFill>
                      <a:srgbClr val="DC2626"/>
                    </a:solidFill>
                  </a:tcPr>
                </a:tc>
                <a:tc>
                  <a:txBody>
                    <a:bodyPr/>
                    <a:lstStyle/>
                    <a:p>
                      <a:r>
                        <a:rPr sz="840" b="1">
                          <a:solidFill>
                            <a:srgbClr val="FFFFFF"/>
                          </a:solidFill>
                          <a:latin typeface="Arial"/>
                        </a:rPr>
                        <a:t>Attr. MAE</a:t>
                      </a:r>
                    </a:p>
                  </a:txBody>
                  <a:tcPr>
                    <a:solidFill>
                      <a:srgbClr val="DC2626"/>
                    </a:solidFill>
                  </a:tcPr>
                </a:tc>
                <a:extLst>
                  <a:ext uri="{0D108BD9-81ED-4DB2-BD59-A6C34878D82A}">
                    <a16:rowId xmlns:a16="http://schemas.microsoft.com/office/drawing/2014/main" val="10000"/>
                  </a:ext>
                </a:extLst>
              </a:tr>
              <a:tr h="485775">
                <a:tc>
                  <a:txBody>
                    <a:bodyPr/>
                    <a:lstStyle/>
                    <a:p>
                      <a:r>
                        <a:rPr sz="840">
                          <a:solidFill>
                            <a:srgbClr val="0F172A"/>
                          </a:solidFill>
                          <a:latin typeface="Arial"/>
                        </a:rPr>
                        <a:t>tabpfgen</a:t>
                      </a:r>
                    </a:p>
                  </a:txBody>
                  <a:tcPr/>
                </a:tc>
                <a:tc>
                  <a:txBody>
                    <a:bodyPr/>
                    <a:lstStyle/>
                    <a:p>
                      <a:r>
                        <a:rPr sz="840" dirty="0">
                          <a:solidFill>
                            <a:srgbClr val="0F172A"/>
                          </a:solidFill>
                          <a:latin typeface="Arial"/>
                        </a:rPr>
                        <a:t>0.771</a:t>
                      </a:r>
                    </a:p>
                  </a:txBody>
                  <a:tcPr/>
                </a:tc>
                <a:tc>
                  <a:txBody>
                    <a:bodyPr/>
                    <a:lstStyle/>
                    <a:p>
                      <a:r>
                        <a:rPr sz="840">
                          <a:solidFill>
                            <a:srgbClr val="0F172A"/>
                          </a:solidFill>
                          <a:latin typeface="Arial"/>
                        </a:rPr>
                        <a:t>0.739</a:t>
                      </a:r>
                    </a:p>
                  </a:txBody>
                  <a:tcPr/>
                </a:tc>
                <a:tc>
                  <a:txBody>
                    <a:bodyPr/>
                    <a:lstStyle/>
                    <a:p>
                      <a:r>
                        <a:rPr sz="840" dirty="0">
                          <a:solidFill>
                            <a:srgbClr val="0F172A"/>
                          </a:solidFill>
                          <a:latin typeface="Arial"/>
                        </a:rPr>
                        <a:t>0.000</a:t>
                      </a:r>
                    </a:p>
                  </a:txBody>
                  <a:tcPr/>
                </a:tc>
                <a:tc>
                  <a:txBody>
                    <a:bodyPr/>
                    <a:lstStyle/>
                    <a:p>
                      <a:r>
                        <a:rPr sz="840" b="1" dirty="0">
                          <a:solidFill>
                            <a:srgbClr val="0F172A"/>
                          </a:solidFill>
                          <a:latin typeface="Arial"/>
                        </a:rPr>
                        <a:t>0.035</a:t>
                      </a:r>
                    </a:p>
                  </a:txBody>
                  <a:tcPr/>
                </a:tc>
                <a:tc>
                  <a:txBody>
                    <a:bodyPr/>
                    <a:lstStyle/>
                    <a:p>
                      <a:r>
                        <a:rPr sz="840">
                          <a:solidFill>
                            <a:srgbClr val="0F172A"/>
                          </a:solidFill>
                          <a:latin typeface="Arial"/>
                        </a:rPr>
                        <a:t>4.987</a:t>
                      </a:r>
                    </a:p>
                  </a:txBody>
                  <a:tcPr/>
                </a:tc>
                <a:extLst>
                  <a:ext uri="{0D108BD9-81ED-4DB2-BD59-A6C34878D82A}">
                    <a16:rowId xmlns:a16="http://schemas.microsoft.com/office/drawing/2014/main" val="10001"/>
                  </a:ext>
                </a:extLst>
              </a:tr>
              <a:tr h="485775">
                <a:tc>
                  <a:txBody>
                    <a:bodyPr/>
                    <a:lstStyle/>
                    <a:p>
                      <a:r>
                        <a:rPr sz="840">
                          <a:solidFill>
                            <a:srgbClr val="0F172A"/>
                          </a:solidFill>
                          <a:latin typeface="Arial"/>
                        </a:rPr>
                        <a:t>smote</a:t>
                      </a:r>
                    </a:p>
                  </a:txBody>
                  <a:tcPr>
                    <a:solidFill>
                      <a:srgbClr val="F8FAFC"/>
                    </a:solidFill>
                  </a:tcPr>
                </a:tc>
                <a:tc>
                  <a:txBody>
                    <a:bodyPr/>
                    <a:lstStyle/>
                    <a:p>
                      <a:r>
                        <a:rPr sz="840">
                          <a:solidFill>
                            <a:srgbClr val="0F172A"/>
                          </a:solidFill>
                          <a:latin typeface="Arial"/>
                        </a:rPr>
                        <a:t>0.725</a:t>
                      </a:r>
                    </a:p>
                  </a:txBody>
                  <a:tcPr>
                    <a:solidFill>
                      <a:srgbClr val="F8FAFC"/>
                    </a:solidFill>
                  </a:tcPr>
                </a:tc>
                <a:tc>
                  <a:txBody>
                    <a:bodyPr/>
                    <a:lstStyle/>
                    <a:p>
                      <a:r>
                        <a:rPr sz="840">
                          <a:solidFill>
                            <a:srgbClr val="0F172A"/>
                          </a:solidFill>
                          <a:latin typeface="Arial"/>
                        </a:rPr>
                        <a:t>0.684</a:t>
                      </a:r>
                    </a:p>
                  </a:txBody>
                  <a:tcPr>
                    <a:solidFill>
                      <a:srgbClr val="F8FAFC"/>
                    </a:solidFill>
                  </a:tcPr>
                </a:tc>
                <a:tc>
                  <a:txBody>
                    <a:bodyPr/>
                    <a:lstStyle/>
                    <a:p>
                      <a:r>
                        <a:rPr sz="840" dirty="0">
                          <a:solidFill>
                            <a:srgbClr val="0F172A"/>
                          </a:solidFill>
                          <a:latin typeface="Arial"/>
                        </a:rPr>
                        <a:t>0.000</a:t>
                      </a:r>
                    </a:p>
                  </a:txBody>
                  <a:tcPr>
                    <a:solidFill>
                      <a:srgbClr val="F8FAFC"/>
                    </a:solidFill>
                  </a:tcPr>
                </a:tc>
                <a:tc>
                  <a:txBody>
                    <a:bodyPr/>
                    <a:lstStyle/>
                    <a:p>
                      <a:r>
                        <a:rPr sz="840" dirty="0">
                          <a:solidFill>
                            <a:srgbClr val="0F172A"/>
                          </a:solidFill>
                          <a:latin typeface="Arial"/>
                        </a:rPr>
                        <a:t>0.841</a:t>
                      </a:r>
                    </a:p>
                  </a:txBody>
                  <a:tcPr>
                    <a:solidFill>
                      <a:srgbClr val="F8FAFC"/>
                    </a:solidFill>
                  </a:tcPr>
                </a:tc>
                <a:tc>
                  <a:txBody>
                    <a:bodyPr/>
                    <a:lstStyle/>
                    <a:p>
                      <a:r>
                        <a:rPr sz="840">
                          <a:solidFill>
                            <a:srgbClr val="0F172A"/>
                          </a:solidFill>
                          <a:latin typeface="Arial"/>
                        </a:rPr>
                        <a:t>8.054</a:t>
                      </a:r>
                    </a:p>
                  </a:txBody>
                  <a:tcPr>
                    <a:solidFill>
                      <a:srgbClr val="F8FAFC"/>
                    </a:solidFill>
                  </a:tcPr>
                </a:tc>
                <a:extLst>
                  <a:ext uri="{0D108BD9-81ED-4DB2-BD59-A6C34878D82A}">
                    <a16:rowId xmlns:a16="http://schemas.microsoft.com/office/drawing/2014/main" val="10002"/>
                  </a:ext>
                </a:extLst>
              </a:tr>
              <a:tr h="485775">
                <a:tc>
                  <a:txBody>
                    <a:bodyPr/>
                    <a:lstStyle/>
                    <a:p>
                      <a:r>
                        <a:rPr sz="840">
                          <a:solidFill>
                            <a:srgbClr val="0F172A"/>
                          </a:solidFill>
                          <a:latin typeface="Arial"/>
                        </a:rPr>
                        <a:t>tvae</a:t>
                      </a:r>
                    </a:p>
                  </a:txBody>
                  <a:tcPr/>
                </a:tc>
                <a:tc>
                  <a:txBody>
                    <a:bodyPr/>
                    <a:lstStyle/>
                    <a:p>
                      <a:r>
                        <a:rPr sz="840">
                          <a:solidFill>
                            <a:srgbClr val="0F172A"/>
                          </a:solidFill>
                          <a:latin typeface="Arial"/>
                        </a:rPr>
                        <a:t>0.499</a:t>
                      </a:r>
                    </a:p>
                  </a:txBody>
                  <a:tcPr/>
                </a:tc>
                <a:tc>
                  <a:txBody>
                    <a:bodyPr/>
                    <a:lstStyle/>
                    <a:p>
                      <a:r>
                        <a:rPr sz="840">
                          <a:solidFill>
                            <a:srgbClr val="0F172A"/>
                          </a:solidFill>
                          <a:latin typeface="Arial"/>
                        </a:rPr>
                        <a:t>0.499</a:t>
                      </a:r>
                    </a:p>
                  </a:txBody>
                  <a:tcPr/>
                </a:tc>
                <a:tc>
                  <a:txBody>
                    <a:bodyPr/>
                    <a:lstStyle/>
                    <a:p>
                      <a:r>
                        <a:rPr sz="840">
                          <a:solidFill>
                            <a:srgbClr val="0F172A"/>
                          </a:solidFill>
                          <a:latin typeface="Arial"/>
                        </a:rPr>
                        <a:t>0.000</a:t>
                      </a:r>
                    </a:p>
                  </a:txBody>
                  <a:tcPr/>
                </a:tc>
                <a:tc>
                  <a:txBody>
                    <a:bodyPr/>
                    <a:lstStyle/>
                    <a:p>
                      <a:r>
                        <a:rPr sz="840">
                          <a:solidFill>
                            <a:srgbClr val="0F172A"/>
                          </a:solidFill>
                          <a:latin typeface="Arial"/>
                        </a:rPr>
                        <a:t>0.628</a:t>
                      </a:r>
                    </a:p>
                  </a:txBody>
                  <a:tcPr/>
                </a:tc>
                <a:tc>
                  <a:txBody>
                    <a:bodyPr/>
                    <a:lstStyle/>
                    <a:p>
                      <a:r>
                        <a:rPr sz="840">
                          <a:solidFill>
                            <a:srgbClr val="0F172A"/>
                          </a:solidFill>
                          <a:latin typeface="Arial"/>
                        </a:rPr>
                        <a:t>41.685</a:t>
                      </a:r>
                    </a:p>
                  </a:txBody>
                  <a:tcPr/>
                </a:tc>
                <a:extLst>
                  <a:ext uri="{0D108BD9-81ED-4DB2-BD59-A6C34878D82A}">
                    <a16:rowId xmlns:a16="http://schemas.microsoft.com/office/drawing/2014/main" val="10003"/>
                  </a:ext>
                </a:extLst>
              </a:tr>
              <a:tr h="485775">
                <a:tc>
                  <a:txBody>
                    <a:bodyPr/>
                    <a:lstStyle/>
                    <a:p>
                      <a:r>
                        <a:rPr sz="840">
                          <a:solidFill>
                            <a:srgbClr val="0F172A"/>
                          </a:solidFill>
                          <a:latin typeface="Arial"/>
                        </a:rPr>
                        <a:t>tabddpm</a:t>
                      </a:r>
                    </a:p>
                  </a:txBody>
                  <a:tcPr>
                    <a:solidFill>
                      <a:srgbClr val="F8FAFC"/>
                    </a:solidFill>
                  </a:tcPr>
                </a:tc>
                <a:tc>
                  <a:txBody>
                    <a:bodyPr/>
                    <a:lstStyle/>
                    <a:p>
                      <a:r>
                        <a:rPr sz="840">
                          <a:solidFill>
                            <a:srgbClr val="0F172A"/>
                          </a:solidFill>
                          <a:latin typeface="Arial"/>
                        </a:rPr>
                        <a:t>0.499</a:t>
                      </a:r>
                    </a:p>
                  </a:txBody>
                  <a:tcPr>
                    <a:solidFill>
                      <a:srgbClr val="F8FAFC"/>
                    </a:solidFill>
                  </a:tcPr>
                </a:tc>
                <a:tc>
                  <a:txBody>
                    <a:bodyPr/>
                    <a:lstStyle/>
                    <a:p>
                      <a:r>
                        <a:rPr sz="840">
                          <a:solidFill>
                            <a:srgbClr val="0F172A"/>
                          </a:solidFill>
                          <a:latin typeface="Arial"/>
                        </a:rPr>
                        <a:t>0.496</a:t>
                      </a:r>
                    </a:p>
                  </a:txBody>
                  <a:tcPr>
                    <a:solidFill>
                      <a:srgbClr val="F8FAFC"/>
                    </a:solidFill>
                  </a:tcPr>
                </a:tc>
                <a:tc>
                  <a:txBody>
                    <a:bodyPr/>
                    <a:lstStyle/>
                    <a:p>
                      <a:r>
                        <a:rPr sz="840">
                          <a:solidFill>
                            <a:srgbClr val="0F172A"/>
                          </a:solidFill>
                          <a:latin typeface="Arial"/>
                        </a:rPr>
                        <a:t>0.000</a:t>
                      </a:r>
                    </a:p>
                  </a:txBody>
                  <a:tcPr>
                    <a:solidFill>
                      <a:srgbClr val="F8FAFC"/>
                    </a:solidFill>
                  </a:tcPr>
                </a:tc>
                <a:tc>
                  <a:txBody>
                    <a:bodyPr/>
                    <a:lstStyle/>
                    <a:p>
                      <a:r>
                        <a:rPr sz="840">
                          <a:solidFill>
                            <a:srgbClr val="0F172A"/>
                          </a:solidFill>
                          <a:latin typeface="Arial"/>
                        </a:rPr>
                        <a:t>0.042</a:t>
                      </a:r>
                    </a:p>
                  </a:txBody>
                  <a:tcPr>
                    <a:solidFill>
                      <a:srgbClr val="F8FAFC"/>
                    </a:solidFill>
                  </a:tcPr>
                </a:tc>
                <a:tc>
                  <a:txBody>
                    <a:bodyPr/>
                    <a:lstStyle/>
                    <a:p>
                      <a:r>
                        <a:rPr sz="840">
                          <a:solidFill>
                            <a:srgbClr val="0F172A"/>
                          </a:solidFill>
                          <a:latin typeface="Arial"/>
                        </a:rPr>
                        <a:t>13.708</a:t>
                      </a:r>
                    </a:p>
                  </a:txBody>
                  <a:tcPr>
                    <a:solidFill>
                      <a:srgbClr val="F8FAFC"/>
                    </a:solidFill>
                  </a:tcPr>
                </a:tc>
                <a:extLst>
                  <a:ext uri="{0D108BD9-81ED-4DB2-BD59-A6C34878D82A}">
                    <a16:rowId xmlns:a16="http://schemas.microsoft.com/office/drawing/2014/main" val="10004"/>
                  </a:ext>
                </a:extLst>
              </a:tr>
              <a:tr h="485775">
                <a:tc>
                  <a:txBody>
                    <a:bodyPr/>
                    <a:lstStyle/>
                    <a:p>
                      <a:r>
                        <a:rPr sz="840">
                          <a:solidFill>
                            <a:srgbClr val="0F172A"/>
                          </a:solidFill>
                          <a:latin typeface="Arial"/>
                        </a:rPr>
                        <a:t>ctgan</a:t>
                      </a:r>
                    </a:p>
                  </a:txBody>
                  <a:tcPr/>
                </a:tc>
                <a:tc>
                  <a:txBody>
                    <a:bodyPr/>
                    <a:lstStyle/>
                    <a:p>
                      <a:r>
                        <a:rPr sz="840">
                          <a:solidFill>
                            <a:srgbClr val="0F172A"/>
                          </a:solidFill>
                          <a:latin typeface="Arial"/>
                        </a:rPr>
                        <a:t>0.497</a:t>
                      </a:r>
                    </a:p>
                  </a:txBody>
                  <a:tcPr/>
                </a:tc>
                <a:tc>
                  <a:txBody>
                    <a:bodyPr/>
                    <a:lstStyle/>
                    <a:p>
                      <a:r>
                        <a:rPr sz="840">
                          <a:solidFill>
                            <a:srgbClr val="0F172A"/>
                          </a:solidFill>
                          <a:latin typeface="Arial"/>
                        </a:rPr>
                        <a:t>0.501</a:t>
                      </a:r>
                    </a:p>
                  </a:txBody>
                  <a:tcPr/>
                </a:tc>
                <a:tc>
                  <a:txBody>
                    <a:bodyPr/>
                    <a:lstStyle/>
                    <a:p>
                      <a:r>
                        <a:rPr sz="840">
                          <a:solidFill>
                            <a:srgbClr val="0F172A"/>
                          </a:solidFill>
                          <a:latin typeface="Arial"/>
                        </a:rPr>
                        <a:t>0.000</a:t>
                      </a:r>
                    </a:p>
                  </a:txBody>
                  <a:tcPr/>
                </a:tc>
                <a:tc>
                  <a:txBody>
                    <a:bodyPr/>
                    <a:lstStyle/>
                    <a:p>
                      <a:r>
                        <a:rPr sz="840">
                          <a:solidFill>
                            <a:srgbClr val="0F172A"/>
                          </a:solidFill>
                          <a:latin typeface="Arial"/>
                        </a:rPr>
                        <a:t>0.474</a:t>
                      </a:r>
                    </a:p>
                  </a:txBody>
                  <a:tcPr/>
                </a:tc>
                <a:tc>
                  <a:txBody>
                    <a:bodyPr/>
                    <a:lstStyle/>
                    <a:p>
                      <a:r>
                        <a:rPr sz="840">
                          <a:solidFill>
                            <a:srgbClr val="0F172A"/>
                          </a:solidFill>
                          <a:latin typeface="Arial"/>
                        </a:rPr>
                        <a:t>80.078</a:t>
                      </a:r>
                    </a:p>
                  </a:txBody>
                  <a:tcPr/>
                </a:tc>
                <a:extLst>
                  <a:ext uri="{0D108BD9-81ED-4DB2-BD59-A6C34878D82A}">
                    <a16:rowId xmlns:a16="http://schemas.microsoft.com/office/drawing/2014/main" val="10005"/>
                  </a:ext>
                </a:extLst>
              </a:tr>
              <a:tr h="485775">
                <a:tc>
                  <a:txBody>
                    <a:bodyPr/>
                    <a:lstStyle/>
                    <a:p>
                      <a:r>
                        <a:rPr sz="840">
                          <a:solidFill>
                            <a:srgbClr val="0F172A"/>
                          </a:solidFill>
                          <a:latin typeface="Arial"/>
                        </a:rPr>
                        <a:t>rtvae</a:t>
                      </a:r>
                    </a:p>
                  </a:txBody>
                  <a:tcPr>
                    <a:solidFill>
                      <a:srgbClr val="F8FAFC"/>
                    </a:solidFill>
                  </a:tcPr>
                </a:tc>
                <a:tc>
                  <a:txBody>
                    <a:bodyPr/>
                    <a:lstStyle/>
                    <a:p>
                      <a:r>
                        <a:rPr sz="840">
                          <a:solidFill>
                            <a:srgbClr val="0F172A"/>
                          </a:solidFill>
                          <a:latin typeface="Arial"/>
                        </a:rPr>
                        <a:t>0.497</a:t>
                      </a:r>
                    </a:p>
                  </a:txBody>
                  <a:tcPr>
                    <a:solidFill>
                      <a:srgbClr val="F8FAFC"/>
                    </a:solidFill>
                  </a:tcPr>
                </a:tc>
                <a:tc>
                  <a:txBody>
                    <a:bodyPr/>
                    <a:lstStyle/>
                    <a:p>
                      <a:r>
                        <a:rPr sz="840">
                          <a:solidFill>
                            <a:srgbClr val="0F172A"/>
                          </a:solidFill>
                          <a:latin typeface="Arial"/>
                        </a:rPr>
                        <a:t>0.497</a:t>
                      </a:r>
                    </a:p>
                  </a:txBody>
                  <a:tcPr>
                    <a:solidFill>
                      <a:srgbClr val="F8FAFC"/>
                    </a:solidFill>
                  </a:tcPr>
                </a:tc>
                <a:tc>
                  <a:txBody>
                    <a:bodyPr/>
                    <a:lstStyle/>
                    <a:p>
                      <a:r>
                        <a:rPr sz="840">
                          <a:solidFill>
                            <a:srgbClr val="0F172A"/>
                          </a:solidFill>
                          <a:latin typeface="Arial"/>
                        </a:rPr>
                        <a:t>0.000</a:t>
                      </a:r>
                    </a:p>
                  </a:txBody>
                  <a:tcPr>
                    <a:solidFill>
                      <a:srgbClr val="F8FAFC"/>
                    </a:solidFill>
                  </a:tcPr>
                </a:tc>
                <a:tc>
                  <a:txBody>
                    <a:bodyPr/>
                    <a:lstStyle/>
                    <a:p>
                      <a:r>
                        <a:rPr sz="840">
                          <a:solidFill>
                            <a:srgbClr val="0F172A"/>
                          </a:solidFill>
                          <a:latin typeface="Arial"/>
                        </a:rPr>
                        <a:t>0.017</a:t>
                      </a:r>
                    </a:p>
                  </a:txBody>
                  <a:tcPr>
                    <a:solidFill>
                      <a:srgbClr val="F8FAFC"/>
                    </a:solidFill>
                  </a:tcPr>
                </a:tc>
                <a:tc>
                  <a:txBody>
                    <a:bodyPr/>
                    <a:lstStyle/>
                    <a:p>
                      <a:r>
                        <a:rPr sz="840">
                          <a:solidFill>
                            <a:srgbClr val="0F172A"/>
                          </a:solidFill>
                          <a:latin typeface="Arial"/>
                        </a:rPr>
                        <a:t>43.089</a:t>
                      </a:r>
                    </a:p>
                  </a:txBody>
                  <a:tcPr>
                    <a:solidFill>
                      <a:srgbClr val="F8FAFC"/>
                    </a:solidFill>
                  </a:tcPr>
                </a:tc>
                <a:extLst>
                  <a:ext uri="{0D108BD9-81ED-4DB2-BD59-A6C34878D82A}">
                    <a16:rowId xmlns:a16="http://schemas.microsoft.com/office/drawing/2014/main" val="10006"/>
                  </a:ext>
                </a:extLst>
              </a:tr>
              <a:tr h="485775">
                <a:tc>
                  <a:txBody>
                    <a:bodyPr/>
                    <a:lstStyle/>
                    <a:p>
                      <a:r>
                        <a:rPr sz="840">
                          <a:solidFill>
                            <a:srgbClr val="0F172A"/>
                          </a:solidFill>
                          <a:latin typeface="Arial"/>
                        </a:rPr>
                        <a:t>nflow</a:t>
                      </a:r>
                    </a:p>
                  </a:txBody>
                  <a:tcPr/>
                </a:tc>
                <a:tc>
                  <a:txBody>
                    <a:bodyPr/>
                    <a:lstStyle/>
                    <a:p>
                      <a:r>
                        <a:rPr sz="840" dirty="0">
                          <a:solidFill>
                            <a:srgbClr val="0F172A"/>
                          </a:solidFill>
                          <a:latin typeface="Arial"/>
                        </a:rPr>
                        <a:t>0.488</a:t>
                      </a:r>
                    </a:p>
                  </a:txBody>
                  <a:tcPr/>
                </a:tc>
                <a:tc>
                  <a:txBody>
                    <a:bodyPr/>
                    <a:lstStyle/>
                    <a:p>
                      <a:r>
                        <a:rPr sz="840">
                          <a:solidFill>
                            <a:srgbClr val="0F172A"/>
                          </a:solidFill>
                          <a:latin typeface="Arial"/>
                        </a:rPr>
                        <a:t>0.488</a:t>
                      </a:r>
                    </a:p>
                  </a:txBody>
                  <a:tcPr/>
                </a:tc>
                <a:tc>
                  <a:txBody>
                    <a:bodyPr/>
                    <a:lstStyle/>
                    <a:p>
                      <a:r>
                        <a:rPr sz="840">
                          <a:solidFill>
                            <a:srgbClr val="0F172A"/>
                          </a:solidFill>
                          <a:latin typeface="Arial"/>
                        </a:rPr>
                        <a:t>0.000</a:t>
                      </a:r>
                    </a:p>
                  </a:txBody>
                  <a:tcPr/>
                </a:tc>
                <a:tc>
                  <a:txBody>
                    <a:bodyPr/>
                    <a:lstStyle/>
                    <a:p>
                      <a:r>
                        <a:rPr sz="840">
                          <a:solidFill>
                            <a:srgbClr val="0F172A"/>
                          </a:solidFill>
                          <a:latin typeface="Arial"/>
                        </a:rPr>
                        <a:t>0.471</a:t>
                      </a:r>
                    </a:p>
                  </a:txBody>
                  <a:tcPr/>
                </a:tc>
                <a:tc>
                  <a:txBody>
                    <a:bodyPr/>
                    <a:lstStyle/>
                    <a:p>
                      <a:r>
                        <a:rPr sz="840" dirty="0">
                          <a:solidFill>
                            <a:srgbClr val="0F172A"/>
                          </a:solidFill>
                          <a:latin typeface="Arial"/>
                        </a:rPr>
                        <a:t>28.194</a:t>
                      </a:r>
                    </a:p>
                  </a:txBody>
                  <a:tcPr/>
                </a:tc>
                <a:extLst>
                  <a:ext uri="{0D108BD9-81ED-4DB2-BD59-A6C34878D82A}">
                    <a16:rowId xmlns:a16="http://schemas.microsoft.com/office/drawing/2014/main" val="10007"/>
                  </a:ext>
                </a:extLst>
              </a:tr>
            </a:tbl>
          </a:graphicData>
        </a:graphic>
      </p:graphicFrame>
      <p:sp>
        <p:nvSpPr>
          <p:cNvPr id="5" name="TextBox 4"/>
          <p:cNvSpPr txBox="1"/>
          <p:nvPr/>
        </p:nvSpPr>
        <p:spPr>
          <a:xfrm>
            <a:off x="8001000" y="1234440"/>
            <a:ext cx="3108960" cy="274320"/>
          </a:xfrm>
          <a:prstGeom prst="rect">
            <a:avLst/>
          </a:prstGeom>
          <a:noFill/>
        </p:spPr>
        <p:txBody>
          <a:bodyPr wrap="square">
            <a:normAutofit fontScale="85000" lnSpcReduction="20000"/>
          </a:bodyPr>
          <a:lstStyle/>
          <a:p>
            <a:r>
              <a:rPr sz="1700" b="1" dirty="0">
                <a:solidFill>
                  <a:srgbClr val="0F172A"/>
                </a:solidFill>
                <a:latin typeface="Arial"/>
              </a:rPr>
              <a:t>What to notice</a:t>
            </a:r>
          </a:p>
        </p:txBody>
      </p:sp>
      <p:sp>
        <p:nvSpPr>
          <p:cNvPr id="6" name="TextBox 5"/>
          <p:cNvSpPr txBox="1"/>
          <p:nvPr/>
        </p:nvSpPr>
        <p:spPr>
          <a:xfrm>
            <a:off x="8001000" y="1627632"/>
            <a:ext cx="3520440" cy="1097280"/>
          </a:xfrm>
          <a:prstGeom prst="rect">
            <a:avLst/>
          </a:prstGeom>
          <a:noFill/>
        </p:spPr>
        <p:txBody>
          <a:bodyPr wrap="square">
            <a:normAutofit/>
          </a:bodyPr>
          <a:lstStyle/>
          <a:p>
            <a:r>
              <a:rPr sz="1320" b="0" dirty="0" err="1">
                <a:solidFill>
                  <a:srgbClr val="0F172A"/>
                </a:solidFill>
                <a:latin typeface="Arial"/>
              </a:rPr>
              <a:t>TabPFGen</a:t>
            </a:r>
            <a:r>
              <a:rPr sz="1320" b="0" dirty="0">
                <a:solidFill>
                  <a:srgbClr val="0F172A"/>
                </a:solidFill>
                <a:latin typeface="Arial"/>
              </a:rPr>
              <a:t> has the highest median membership AUC. Even without exact duplicate rows, the nearest-distance and RF attacks can distinguish train members from non-members.</a:t>
            </a:r>
          </a:p>
        </p:txBody>
      </p:sp>
      <p:sp>
        <p:nvSpPr>
          <p:cNvPr id="7" name="TextBox 6"/>
          <p:cNvSpPr txBox="1"/>
          <p:nvPr/>
        </p:nvSpPr>
        <p:spPr>
          <a:xfrm>
            <a:off x="8001000" y="2926080"/>
            <a:ext cx="3520440" cy="777240"/>
          </a:xfrm>
          <a:prstGeom prst="rect">
            <a:avLst/>
          </a:prstGeom>
          <a:noFill/>
        </p:spPr>
        <p:txBody>
          <a:bodyPr wrap="square">
            <a:normAutofit/>
          </a:bodyPr>
          <a:lstStyle/>
          <a:p>
            <a:r>
              <a:rPr sz="1320" b="0" dirty="0">
                <a:solidFill>
                  <a:srgbClr val="0F172A"/>
                </a:solidFill>
                <a:latin typeface="Arial"/>
              </a:rPr>
              <a:t>SMOTE also has high membership risk and nonzero exact-copy behavior on average. This matches the interpolation mechanism.</a:t>
            </a:r>
          </a:p>
        </p:txBody>
      </p:sp>
      <p:sp>
        <p:nvSpPr>
          <p:cNvPr id="8" name="TextBox 7"/>
          <p:cNvSpPr txBox="1"/>
          <p:nvPr/>
        </p:nvSpPr>
        <p:spPr>
          <a:xfrm>
            <a:off x="8001000" y="3977639"/>
            <a:ext cx="3520440" cy="713232"/>
          </a:xfrm>
          <a:prstGeom prst="rect">
            <a:avLst/>
          </a:prstGeom>
          <a:noFill/>
        </p:spPr>
        <p:txBody>
          <a:bodyPr wrap="square">
            <a:normAutofit/>
          </a:bodyPr>
          <a:lstStyle/>
          <a:p>
            <a:r>
              <a:rPr sz="1320" b="0">
                <a:solidFill>
                  <a:srgbClr val="475569"/>
                </a:solidFill>
                <a:latin typeface="Arial"/>
              </a:rPr>
              <a:t>Most neural baselines sit near 0.5 membership AUC, but that may reflect low fidelity rather than strong privacy.</a:t>
            </a:r>
          </a:p>
        </p:txBody>
      </p:sp>
      <p:sp>
        <p:nvSpPr>
          <p:cNvPr id="9" name="TextBox 8"/>
          <p:cNvSpPr txBox="1"/>
          <p:nvPr/>
        </p:nvSpPr>
        <p:spPr>
          <a:xfrm>
            <a:off x="502920" y="6537960"/>
            <a:ext cx="7772400" cy="164592"/>
          </a:xfrm>
          <a:prstGeom prst="rect">
            <a:avLst/>
          </a:prstGeom>
          <a:noFill/>
        </p:spPr>
        <p:txBody>
          <a:bodyPr wrap="square">
            <a:normAutofit fontScale="70000" lnSpcReduction="20000"/>
          </a:bodyPr>
          <a:lstStyle/>
          <a:p>
            <a:r>
              <a:rPr sz="850" b="0">
                <a:solidFill>
                  <a:srgbClr val="64748B"/>
                </a:solidFill>
                <a:latin typeface="Arial"/>
              </a:rPr>
              <a:t>Source: outputs/privacy_attacks/privacy_attacks_summary.csv</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Evaluation map</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Which insights need only evaluation and which require more training</a:t>
            </a:r>
          </a:p>
        </p:txBody>
      </p:sp>
      <p:graphicFrame>
        <p:nvGraphicFramePr>
          <p:cNvPr id="4" name="Table 3"/>
          <p:cNvGraphicFramePr>
            <a:graphicFrameLocks noGrp="1"/>
          </p:cNvGraphicFramePr>
          <p:nvPr/>
        </p:nvGraphicFramePr>
        <p:xfrm>
          <a:off x="640080" y="1325880"/>
          <a:ext cx="5212080" cy="2880360"/>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480060">
                <a:tc>
                  <a:txBody>
                    <a:bodyPr/>
                    <a:lstStyle/>
                    <a:p>
                      <a:r>
                        <a:rPr sz="1019" b="1">
                          <a:solidFill>
                            <a:srgbClr val="FFFFFF"/>
                          </a:solidFill>
                          <a:latin typeface="Arial"/>
                        </a:rPr>
                        <a:t>Evaluation-only</a:t>
                      </a:r>
                    </a:p>
                  </a:txBody>
                  <a:tcPr>
                    <a:solidFill>
                      <a:srgbClr val="2563EB"/>
                    </a:solidFill>
                  </a:tcPr>
                </a:tc>
                <a:tc>
                  <a:txBody>
                    <a:bodyPr/>
                    <a:lstStyle/>
                    <a:p>
                      <a:r>
                        <a:rPr sz="1019" b="1">
                          <a:solidFill>
                            <a:srgbClr val="FFFFFF"/>
                          </a:solidFill>
                          <a:latin typeface="Arial"/>
                        </a:rPr>
                        <a:t>Readout</a:t>
                      </a:r>
                    </a:p>
                  </a:txBody>
                  <a:tcPr>
                    <a:solidFill>
                      <a:srgbClr val="2563EB"/>
                    </a:solidFill>
                  </a:tcPr>
                </a:tc>
                <a:extLst>
                  <a:ext uri="{0D108BD9-81ED-4DB2-BD59-A6C34878D82A}">
                    <a16:rowId xmlns:a16="http://schemas.microsoft.com/office/drawing/2014/main" val="10000"/>
                  </a:ext>
                </a:extLst>
              </a:tr>
              <a:tr h="480060">
                <a:tc>
                  <a:txBody>
                    <a:bodyPr/>
                    <a:lstStyle/>
                    <a:p>
                      <a:r>
                        <a:rPr sz="1019">
                          <a:solidFill>
                            <a:srgbClr val="0F172A"/>
                          </a:solidFill>
                          <a:latin typeface="Arial"/>
                        </a:rPr>
                        <a:t>Conditional fidelity</a:t>
                      </a:r>
                    </a:p>
                  </a:txBody>
                  <a:tcPr/>
                </a:tc>
                <a:tc>
                  <a:txBody>
                    <a:bodyPr/>
                    <a:lstStyle/>
                    <a:p>
                      <a:r>
                        <a:rPr sz="1019">
                          <a:solidFill>
                            <a:srgbClr val="0F172A"/>
                          </a:solidFill>
                          <a:latin typeface="Arial"/>
                        </a:rPr>
                        <a:t>run extra diagnostics</a:t>
                      </a:r>
                    </a:p>
                  </a:txBody>
                  <a:tcPr/>
                </a:tc>
                <a:extLst>
                  <a:ext uri="{0D108BD9-81ED-4DB2-BD59-A6C34878D82A}">
                    <a16:rowId xmlns:a16="http://schemas.microsoft.com/office/drawing/2014/main" val="10001"/>
                  </a:ext>
                </a:extLst>
              </a:tr>
              <a:tr h="480060">
                <a:tc>
                  <a:txBody>
                    <a:bodyPr/>
                    <a:lstStyle/>
                    <a:p>
                      <a:r>
                        <a:rPr sz="1019">
                          <a:solidFill>
                            <a:srgbClr val="0F172A"/>
                          </a:solidFill>
                          <a:latin typeface="Arial"/>
                        </a:rPr>
                        <a:t>Dependency structure</a:t>
                      </a:r>
                    </a:p>
                  </a:txBody>
                  <a:tcPr>
                    <a:solidFill>
                      <a:srgbClr val="F8FAFC"/>
                    </a:solidFill>
                  </a:tcPr>
                </a:tc>
                <a:tc>
                  <a:txBody>
                    <a:bodyPr/>
                    <a:lstStyle/>
                    <a:p>
                      <a:r>
                        <a:rPr sz="1019">
                          <a:solidFill>
                            <a:srgbClr val="0F172A"/>
                          </a:solidFill>
                          <a:latin typeface="Arial"/>
                        </a:rPr>
                        <a:t>partial corr, MI, PCA</a:t>
                      </a:r>
                    </a:p>
                  </a:txBody>
                  <a:tcPr>
                    <a:solidFill>
                      <a:srgbClr val="F8FAFC"/>
                    </a:solidFill>
                  </a:tcPr>
                </a:tc>
                <a:extLst>
                  <a:ext uri="{0D108BD9-81ED-4DB2-BD59-A6C34878D82A}">
                    <a16:rowId xmlns:a16="http://schemas.microsoft.com/office/drawing/2014/main" val="10002"/>
                  </a:ext>
                </a:extLst>
              </a:tr>
              <a:tr h="480060">
                <a:tc>
                  <a:txBody>
                    <a:bodyPr/>
                    <a:lstStyle/>
                    <a:p>
                      <a:r>
                        <a:rPr sz="1019">
                          <a:solidFill>
                            <a:srgbClr val="0F172A"/>
                          </a:solidFill>
                          <a:latin typeface="Arial"/>
                        </a:rPr>
                        <a:t>Manifold support</a:t>
                      </a:r>
                    </a:p>
                  </a:txBody>
                  <a:tcPr/>
                </a:tc>
                <a:tc>
                  <a:txBody>
                    <a:bodyPr/>
                    <a:lstStyle/>
                    <a:p>
                      <a:r>
                        <a:rPr sz="1019">
                          <a:solidFill>
                            <a:srgbClr val="0F172A"/>
                          </a:solidFill>
                          <a:latin typeface="Arial"/>
                        </a:rPr>
                        <a:t>precision and coverage</a:t>
                      </a:r>
                    </a:p>
                  </a:txBody>
                  <a:tcPr/>
                </a:tc>
                <a:extLst>
                  <a:ext uri="{0D108BD9-81ED-4DB2-BD59-A6C34878D82A}">
                    <a16:rowId xmlns:a16="http://schemas.microsoft.com/office/drawing/2014/main" val="10003"/>
                  </a:ext>
                </a:extLst>
              </a:tr>
              <a:tr h="480060">
                <a:tc>
                  <a:txBody>
                    <a:bodyPr/>
                    <a:lstStyle/>
                    <a:p>
                      <a:r>
                        <a:rPr sz="1019">
                          <a:solidFill>
                            <a:srgbClr val="0F172A"/>
                          </a:solidFill>
                          <a:latin typeface="Arial"/>
                        </a:rPr>
                        <a:t>Privacy risk</a:t>
                      </a:r>
                    </a:p>
                  </a:txBody>
                  <a:tcPr>
                    <a:solidFill>
                      <a:srgbClr val="F8FAFC"/>
                    </a:solidFill>
                  </a:tcPr>
                </a:tc>
                <a:tc>
                  <a:txBody>
                    <a:bodyPr/>
                    <a:lstStyle/>
                    <a:p>
                      <a:r>
                        <a:rPr sz="1019">
                          <a:solidFill>
                            <a:srgbClr val="0F172A"/>
                          </a:solidFill>
                          <a:latin typeface="Arial"/>
                        </a:rPr>
                        <a:t>train attack evaluators</a:t>
                      </a:r>
                    </a:p>
                  </a:txBody>
                  <a:tcPr>
                    <a:solidFill>
                      <a:srgbClr val="F8FAFC"/>
                    </a:solidFill>
                  </a:tcPr>
                </a:tc>
                <a:extLst>
                  <a:ext uri="{0D108BD9-81ED-4DB2-BD59-A6C34878D82A}">
                    <a16:rowId xmlns:a16="http://schemas.microsoft.com/office/drawing/2014/main" val="10004"/>
                  </a:ext>
                </a:extLst>
              </a:tr>
              <a:tr h="480060">
                <a:tc>
                  <a:txBody>
                    <a:bodyPr/>
                    <a:lstStyle/>
                    <a:p>
                      <a:r>
                        <a:rPr sz="1019">
                          <a:solidFill>
                            <a:srgbClr val="0F172A"/>
                          </a:solidFill>
                          <a:latin typeface="Arial"/>
                        </a:rPr>
                        <a:t>Paper comparison</a:t>
                      </a:r>
                    </a:p>
                  </a:txBody>
                  <a:tcPr/>
                </a:tc>
                <a:tc>
                  <a:txBody>
                    <a:bodyPr/>
                    <a:lstStyle/>
                    <a:p>
                      <a:r>
                        <a:rPr sz="1019">
                          <a:solidFill>
                            <a:srgbClr val="0F172A"/>
                          </a:solidFill>
                          <a:latin typeface="Arial"/>
                        </a:rPr>
                        <a:t>refresh summaries</a:t>
                      </a:r>
                    </a:p>
                  </a:txBody>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nvGraphicFramePr>
        <p:xfrm>
          <a:off x="6309360" y="1325880"/>
          <a:ext cx="5212080" cy="2880360"/>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480060">
                <a:tc>
                  <a:txBody>
                    <a:bodyPr/>
                    <a:lstStyle/>
                    <a:p>
                      <a:r>
                        <a:rPr sz="1019" b="1">
                          <a:solidFill>
                            <a:srgbClr val="FFFFFF"/>
                          </a:solidFill>
                          <a:latin typeface="Arial"/>
                        </a:rPr>
                        <a:t>Requires generation/training</a:t>
                      </a:r>
                    </a:p>
                  </a:txBody>
                  <a:tcPr>
                    <a:solidFill>
                      <a:srgbClr val="DC2626"/>
                    </a:solidFill>
                  </a:tcPr>
                </a:tc>
                <a:tc>
                  <a:txBody>
                    <a:bodyPr/>
                    <a:lstStyle/>
                    <a:p>
                      <a:r>
                        <a:rPr sz="1019" b="1">
                          <a:solidFill>
                            <a:srgbClr val="FFFFFF"/>
                          </a:solidFill>
                          <a:latin typeface="Arial"/>
                        </a:rPr>
                        <a:t>Why</a:t>
                      </a:r>
                    </a:p>
                  </a:txBody>
                  <a:tcPr>
                    <a:solidFill>
                      <a:srgbClr val="DC2626"/>
                    </a:solidFill>
                  </a:tcPr>
                </a:tc>
                <a:extLst>
                  <a:ext uri="{0D108BD9-81ED-4DB2-BD59-A6C34878D82A}">
                    <a16:rowId xmlns:a16="http://schemas.microsoft.com/office/drawing/2014/main" val="10000"/>
                  </a:ext>
                </a:extLst>
              </a:tr>
              <a:tr h="480060">
                <a:tc>
                  <a:txBody>
                    <a:bodyPr/>
                    <a:lstStyle/>
                    <a:p>
                      <a:r>
                        <a:rPr sz="1019">
                          <a:solidFill>
                            <a:srgbClr val="0F172A"/>
                          </a:solidFill>
                          <a:latin typeface="Arial"/>
                        </a:rPr>
                        <a:t>CTGAN seeds</a:t>
                      </a:r>
                    </a:p>
                  </a:txBody>
                  <a:tcPr/>
                </a:tc>
                <a:tc>
                  <a:txBody>
                    <a:bodyPr/>
                    <a:lstStyle/>
                    <a:p>
                      <a:r>
                        <a:rPr sz="1019">
                          <a:solidFill>
                            <a:srgbClr val="0F172A"/>
                          </a:solidFill>
                          <a:latin typeface="Arial"/>
                        </a:rPr>
                        <a:t>generator retraining</a:t>
                      </a:r>
                    </a:p>
                  </a:txBody>
                  <a:tcPr/>
                </a:tc>
                <a:extLst>
                  <a:ext uri="{0D108BD9-81ED-4DB2-BD59-A6C34878D82A}">
                    <a16:rowId xmlns:a16="http://schemas.microsoft.com/office/drawing/2014/main" val="10001"/>
                  </a:ext>
                </a:extLst>
              </a:tr>
              <a:tr h="480060">
                <a:tc>
                  <a:txBody>
                    <a:bodyPr/>
                    <a:lstStyle/>
                    <a:p>
                      <a:r>
                        <a:rPr sz="1019">
                          <a:solidFill>
                            <a:srgbClr val="0F172A"/>
                          </a:solidFill>
                          <a:latin typeface="Arial"/>
                        </a:rPr>
                        <a:t>TabPFGen hyperparameters</a:t>
                      </a:r>
                    </a:p>
                  </a:txBody>
                  <a:tcPr>
                    <a:solidFill>
                      <a:srgbClr val="F8FAFC"/>
                    </a:solidFill>
                  </a:tcPr>
                </a:tc>
                <a:tc>
                  <a:txBody>
                    <a:bodyPr/>
                    <a:lstStyle/>
                    <a:p>
                      <a:r>
                        <a:rPr sz="1019">
                          <a:solidFill>
                            <a:srgbClr val="0F172A"/>
                          </a:solidFill>
                          <a:latin typeface="Arial"/>
                        </a:rPr>
                        <a:t>new generations</a:t>
                      </a:r>
                    </a:p>
                  </a:txBody>
                  <a:tcPr>
                    <a:solidFill>
                      <a:srgbClr val="F8FAFC"/>
                    </a:solidFill>
                  </a:tcPr>
                </a:tc>
                <a:extLst>
                  <a:ext uri="{0D108BD9-81ED-4DB2-BD59-A6C34878D82A}">
                    <a16:rowId xmlns:a16="http://schemas.microsoft.com/office/drawing/2014/main" val="10002"/>
                  </a:ext>
                </a:extLst>
              </a:tr>
              <a:tr h="480060">
                <a:tc>
                  <a:txBody>
                    <a:bodyPr/>
                    <a:lstStyle/>
                    <a:p>
                      <a:r>
                        <a:rPr sz="1019">
                          <a:solidFill>
                            <a:srgbClr val="0F172A"/>
                          </a:solidFill>
                          <a:latin typeface="Arial"/>
                        </a:rPr>
                        <a:t>Gradient clipping</a:t>
                      </a:r>
                    </a:p>
                  </a:txBody>
                  <a:tcPr/>
                </a:tc>
                <a:tc>
                  <a:txBody>
                    <a:bodyPr/>
                    <a:lstStyle/>
                    <a:p>
                      <a:r>
                        <a:rPr sz="1019">
                          <a:solidFill>
                            <a:srgbClr val="0F172A"/>
                          </a:solidFill>
                          <a:latin typeface="Arial"/>
                        </a:rPr>
                        <a:t>new TabPFGen runs</a:t>
                      </a:r>
                    </a:p>
                  </a:txBody>
                  <a:tcPr/>
                </a:tc>
                <a:extLst>
                  <a:ext uri="{0D108BD9-81ED-4DB2-BD59-A6C34878D82A}">
                    <a16:rowId xmlns:a16="http://schemas.microsoft.com/office/drawing/2014/main" val="10003"/>
                  </a:ext>
                </a:extLst>
              </a:tr>
              <a:tr h="480060">
                <a:tc>
                  <a:txBody>
                    <a:bodyPr/>
                    <a:lstStyle/>
                    <a:p>
                      <a:r>
                        <a:rPr sz="1019">
                          <a:solidFill>
                            <a:srgbClr val="0F172A"/>
                          </a:solidFill>
                          <a:latin typeface="Arial"/>
                        </a:rPr>
                        <a:t>Label priors</a:t>
                      </a:r>
                    </a:p>
                  </a:txBody>
                  <a:tcPr>
                    <a:solidFill>
                      <a:srgbClr val="F8FAFC"/>
                    </a:solidFill>
                  </a:tcPr>
                </a:tc>
                <a:tc>
                  <a:txBody>
                    <a:bodyPr/>
                    <a:lstStyle/>
                    <a:p>
                      <a:r>
                        <a:rPr sz="1019">
                          <a:solidFill>
                            <a:srgbClr val="0F172A"/>
                          </a:solidFill>
                          <a:latin typeface="Arial"/>
                        </a:rPr>
                        <a:t>new synthetic labels</a:t>
                      </a:r>
                    </a:p>
                  </a:txBody>
                  <a:tcPr>
                    <a:solidFill>
                      <a:srgbClr val="F8FAFC"/>
                    </a:solidFill>
                  </a:tcPr>
                </a:tc>
                <a:extLst>
                  <a:ext uri="{0D108BD9-81ED-4DB2-BD59-A6C34878D82A}">
                    <a16:rowId xmlns:a16="http://schemas.microsoft.com/office/drawing/2014/main" val="10004"/>
                  </a:ext>
                </a:extLst>
              </a:tr>
              <a:tr h="480060">
                <a:tc>
                  <a:txBody>
                    <a:bodyPr/>
                    <a:lstStyle/>
                    <a:p>
                      <a:r>
                        <a:rPr sz="1019">
                          <a:solidFill>
                            <a:srgbClr val="0F172A"/>
                          </a:solidFill>
                          <a:latin typeface="Arial"/>
                        </a:rPr>
                        <a:t>Raw logits vs probabilities</a:t>
                      </a:r>
                    </a:p>
                  </a:txBody>
                  <a:tcPr/>
                </a:tc>
                <a:tc>
                  <a:txBody>
                    <a:bodyPr/>
                    <a:lstStyle/>
                    <a:p>
                      <a:r>
                        <a:rPr sz="1019">
                          <a:solidFill>
                            <a:srgbClr val="0F172A"/>
                          </a:solidFill>
                          <a:latin typeface="Arial"/>
                        </a:rPr>
                        <a:t>ablation generation</a:t>
                      </a:r>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822960" y="4800600"/>
            <a:ext cx="10241280" cy="502920"/>
          </a:xfrm>
          <a:prstGeom prst="rect">
            <a:avLst/>
          </a:prstGeom>
          <a:noFill/>
        </p:spPr>
        <p:txBody>
          <a:bodyPr wrap="square">
            <a:normAutofit lnSpcReduction="10000"/>
          </a:bodyPr>
          <a:lstStyle/>
          <a:p>
            <a:r>
              <a:rPr sz="1500" b="0">
                <a:solidFill>
                  <a:srgbClr val="0F172A"/>
                </a:solidFill>
                <a:latin typeface="Arial"/>
              </a:rPr>
              <a:t>This keeps the reproduction efficient: run evaluation-only diagnostics first, then spend GPU time only where the diagnostics point to a specific failure mode.</a:t>
            </a:r>
          </a:p>
        </p:txBody>
      </p:sp>
      <p:sp>
        <p:nvSpPr>
          <p:cNvPr id="7" name="TextBox 6"/>
          <p:cNvSpPr txBox="1"/>
          <p:nvPr/>
        </p:nvSpPr>
        <p:spPr>
          <a:xfrm>
            <a:off x="502920" y="6537960"/>
            <a:ext cx="7772400" cy="164592"/>
          </a:xfrm>
          <a:prstGeom prst="rect">
            <a:avLst/>
          </a:prstGeom>
          <a:noFill/>
        </p:spPr>
        <p:txBody>
          <a:bodyPr wrap="square">
            <a:normAutofit fontScale="70000" lnSpcReduction="20000"/>
          </a:bodyPr>
          <a:lstStyle/>
          <a:p>
            <a:r>
              <a:rPr sz="850" b="0">
                <a:solidFill>
                  <a:srgbClr val="64748B"/>
                </a:solidFill>
                <a:latin typeface="Arial"/>
              </a:rPr>
              <a:t>Source: current outputs/analysis CSVs and reproduction scripts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411480"/>
          </a:xfrm>
          <a:prstGeom prst="rect">
            <a:avLst/>
          </a:prstGeom>
          <a:noFill/>
        </p:spPr>
        <p:txBody>
          <a:bodyPr wrap="square">
            <a:normAutofit fontScale="92500" lnSpcReduction="20000"/>
          </a:bodyPr>
          <a:lstStyle/>
          <a:p>
            <a:r>
              <a:rPr sz="2800" b="1">
                <a:solidFill>
                  <a:srgbClr val="0F172A"/>
                </a:solidFill>
                <a:latin typeface="Arial"/>
              </a:rPr>
              <a:t>Interpretation to present</a:t>
            </a:r>
          </a:p>
        </p:txBody>
      </p:sp>
      <p:sp>
        <p:nvSpPr>
          <p:cNvPr id="3" name="TextBox 2"/>
          <p:cNvSpPr txBox="1"/>
          <p:nvPr/>
        </p:nvSpPr>
        <p:spPr>
          <a:xfrm>
            <a:off x="521207" y="786384"/>
            <a:ext cx="10698480" cy="274320"/>
          </a:xfrm>
          <a:prstGeom prst="rect">
            <a:avLst/>
          </a:prstGeom>
          <a:noFill/>
        </p:spPr>
        <p:txBody>
          <a:bodyPr wrap="square">
            <a:normAutofit lnSpcReduction="10000"/>
          </a:bodyPr>
          <a:lstStyle/>
          <a:p>
            <a:r>
              <a:rPr sz="1250" b="0">
                <a:solidFill>
                  <a:srgbClr val="475569"/>
                </a:solidFill>
                <a:latin typeface="Arial"/>
              </a:rPr>
              <a:t>What the reproduction currently supports</a:t>
            </a:r>
          </a:p>
        </p:txBody>
      </p:sp>
      <p:sp>
        <p:nvSpPr>
          <p:cNvPr id="4" name="Rectangle 3"/>
          <p:cNvSpPr/>
          <p:nvPr/>
        </p:nvSpPr>
        <p:spPr>
          <a:xfrm>
            <a:off x="777240" y="1325880"/>
            <a:ext cx="301752" cy="3017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5" name="TextBox 4"/>
          <p:cNvSpPr txBox="1"/>
          <p:nvPr/>
        </p:nvSpPr>
        <p:spPr>
          <a:xfrm>
            <a:off x="1234440" y="1307592"/>
            <a:ext cx="9875520" cy="402336"/>
          </a:xfrm>
          <a:prstGeom prst="rect">
            <a:avLst/>
          </a:prstGeom>
          <a:noFill/>
        </p:spPr>
        <p:txBody>
          <a:bodyPr wrap="square">
            <a:normAutofit/>
          </a:bodyPr>
          <a:lstStyle/>
          <a:p>
            <a:r>
              <a:rPr sz="1600" b="0" dirty="0" err="1">
                <a:solidFill>
                  <a:srgbClr val="0F172A"/>
                </a:solidFill>
                <a:latin typeface="Arial"/>
              </a:rPr>
              <a:t>TabPFGen</a:t>
            </a:r>
            <a:r>
              <a:rPr sz="1600" b="0" dirty="0">
                <a:solidFill>
                  <a:srgbClr val="0F172A"/>
                </a:solidFill>
                <a:latin typeface="Arial"/>
              </a:rPr>
              <a:t> broadly matches the paper ranking, but exact numbers still depend on missing reruns.</a:t>
            </a:r>
          </a:p>
        </p:txBody>
      </p:sp>
      <p:sp>
        <p:nvSpPr>
          <p:cNvPr id="6" name="Rectangle 5"/>
          <p:cNvSpPr/>
          <p:nvPr/>
        </p:nvSpPr>
        <p:spPr>
          <a:xfrm>
            <a:off x="777240" y="2039112"/>
            <a:ext cx="301752" cy="3017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7" name="TextBox 6"/>
          <p:cNvSpPr txBox="1"/>
          <p:nvPr/>
        </p:nvSpPr>
        <p:spPr>
          <a:xfrm>
            <a:off x="1234440" y="2020824"/>
            <a:ext cx="9875520" cy="402336"/>
          </a:xfrm>
          <a:prstGeom prst="rect">
            <a:avLst/>
          </a:prstGeom>
          <a:noFill/>
        </p:spPr>
        <p:txBody>
          <a:bodyPr wrap="square">
            <a:normAutofit/>
          </a:bodyPr>
          <a:lstStyle/>
          <a:p>
            <a:r>
              <a:rPr lang="en-NL" sz="1600" dirty="0">
                <a:solidFill>
                  <a:srgbClr val="0F172A"/>
                </a:solidFill>
                <a:latin typeface="Arial"/>
              </a:rPr>
              <a:t>Full TabPFGen is not just “generate plausible samples”</a:t>
            </a:r>
            <a:endParaRPr sz="1600" dirty="0">
              <a:solidFill>
                <a:srgbClr val="0F172A"/>
              </a:solidFill>
              <a:latin typeface="Arial"/>
            </a:endParaRPr>
          </a:p>
        </p:txBody>
      </p:sp>
      <p:sp>
        <p:nvSpPr>
          <p:cNvPr id="8" name="Rectangle 7"/>
          <p:cNvSpPr/>
          <p:nvPr/>
        </p:nvSpPr>
        <p:spPr>
          <a:xfrm>
            <a:off x="777240" y="2752344"/>
            <a:ext cx="301752" cy="3017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9" name="TextBox 8"/>
          <p:cNvSpPr txBox="1"/>
          <p:nvPr/>
        </p:nvSpPr>
        <p:spPr>
          <a:xfrm>
            <a:off x="1234440" y="2734056"/>
            <a:ext cx="9875520" cy="402336"/>
          </a:xfrm>
          <a:prstGeom prst="rect">
            <a:avLst/>
          </a:prstGeom>
          <a:noFill/>
        </p:spPr>
        <p:txBody>
          <a:bodyPr wrap="square">
            <a:normAutofit/>
          </a:bodyPr>
          <a:lstStyle/>
          <a:p>
            <a:r>
              <a:rPr lang="en-NL" sz="1600" dirty="0">
                <a:solidFill>
                  <a:srgbClr val="0F172A"/>
                </a:solidFill>
                <a:latin typeface="Arial"/>
              </a:rPr>
              <a:t>Good partial correlation does not mean good attribute inference</a:t>
            </a:r>
            <a:endParaRPr sz="1600" dirty="0">
              <a:solidFill>
                <a:srgbClr val="0F172A"/>
              </a:solidFill>
              <a:latin typeface="Arial"/>
            </a:endParaRPr>
          </a:p>
        </p:txBody>
      </p:sp>
      <p:sp>
        <p:nvSpPr>
          <p:cNvPr id="10" name="Rectangle 9"/>
          <p:cNvSpPr/>
          <p:nvPr/>
        </p:nvSpPr>
        <p:spPr>
          <a:xfrm>
            <a:off x="777240" y="3465576"/>
            <a:ext cx="301752" cy="3017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4</a:t>
            </a:r>
          </a:p>
        </p:txBody>
      </p:sp>
      <p:sp>
        <p:nvSpPr>
          <p:cNvPr id="11" name="TextBox 10"/>
          <p:cNvSpPr txBox="1"/>
          <p:nvPr/>
        </p:nvSpPr>
        <p:spPr>
          <a:xfrm>
            <a:off x="1234440" y="3447288"/>
            <a:ext cx="9875520" cy="402336"/>
          </a:xfrm>
          <a:prstGeom prst="rect">
            <a:avLst/>
          </a:prstGeom>
          <a:noFill/>
        </p:spPr>
        <p:txBody>
          <a:bodyPr wrap="square">
            <a:normAutofit/>
          </a:bodyPr>
          <a:lstStyle/>
          <a:p>
            <a:r>
              <a:rPr sz="1600" b="0" dirty="0">
                <a:solidFill>
                  <a:srgbClr val="0F172A"/>
                </a:solidFill>
                <a:latin typeface="Arial"/>
              </a:rPr>
              <a:t>Utility, fidelity, dependency preservation, and privacy are separate axes.</a:t>
            </a:r>
          </a:p>
        </p:txBody>
      </p:sp>
      <p:sp>
        <p:nvSpPr>
          <p:cNvPr id="14" name="TextBox 13"/>
          <p:cNvSpPr txBox="1"/>
          <p:nvPr/>
        </p:nvSpPr>
        <p:spPr>
          <a:xfrm>
            <a:off x="777240" y="5349240"/>
            <a:ext cx="10515600" cy="594360"/>
          </a:xfrm>
          <a:prstGeom prst="rect">
            <a:avLst/>
          </a:prstGeom>
          <a:noFill/>
        </p:spPr>
        <p:txBody>
          <a:bodyPr wrap="square">
            <a:normAutofit/>
          </a:bodyPr>
          <a:lstStyle/>
          <a:p>
            <a:r>
              <a:rPr sz="1500" b="0">
                <a:solidFill>
                  <a:srgbClr val="475569"/>
                </a:solidFill>
                <a:latin typeface="Arial"/>
              </a:rPr>
              <a:t>The useful research direction is not only improving average AUC. The stronger direction is explaining when TabPFGen preserves decision-relevant structure without copying real rows or becoming numerically unstable.</a:t>
            </a:r>
          </a:p>
        </p:txBody>
      </p:sp>
      <p:sp>
        <p:nvSpPr>
          <p:cNvPr id="15" name="TextBox 14"/>
          <p:cNvSpPr txBox="1"/>
          <p:nvPr/>
        </p:nvSpPr>
        <p:spPr>
          <a:xfrm>
            <a:off x="502920" y="6537960"/>
            <a:ext cx="7772400" cy="164592"/>
          </a:xfrm>
          <a:prstGeom prst="rect">
            <a:avLst/>
          </a:prstGeom>
          <a:noFill/>
        </p:spPr>
        <p:txBody>
          <a:bodyPr wrap="square">
            <a:normAutofit fontScale="70000" lnSpcReduction="20000"/>
          </a:bodyPr>
          <a:lstStyle/>
          <a:p>
            <a:r>
              <a:rPr sz="850" b="0">
                <a:solidFill>
                  <a:srgbClr val="64748B"/>
                </a:solidFill>
                <a:latin typeface="Arial"/>
              </a:rPr>
              <a:t>Source: current outputs/analysis CSVs and reproduction scripts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5795</TotalTime>
  <Words>3407</Words>
  <Application>Microsoft Macintosh PowerPoint</Application>
  <PresentationFormat>Widescreen</PresentationFormat>
  <Paragraphs>748</Paragraphs>
  <Slides>19</Slides>
  <Notes>18</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Yan, X. (Xinlan)</cp:lastModifiedBy>
  <cp:revision>2</cp:revision>
  <dcterms:created xsi:type="dcterms:W3CDTF">2013-01-27T09:14:16Z</dcterms:created>
  <dcterms:modified xsi:type="dcterms:W3CDTF">2026-10-12T12:47:14Z</dcterms:modified>
  <cp:category/>
</cp:coreProperties>
</file>