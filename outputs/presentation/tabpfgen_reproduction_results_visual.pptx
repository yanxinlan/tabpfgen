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 type="wide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"/>
          <p:cNvSpPr txBox="1"/>
          <p:nvPr/>
        </p:nvSpPr>
        <p:spPr>
          <a:xfrm>
            <a:off x="666750" y="904875"/>
            <a:ext cx="80962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3900" dirty="0">
                <a:solidFill>
                  <a:srgbClr val="0F172A"/>
                </a:solidFill>
                <a:b/>
              </a:rPr>
              <a:t>TabPFGen reproduction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85800" y="1695450"/>
            <a:ext cx="80010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600" dirty="0">
                <a:solidFill>
                  <a:srgbClr val="475569"/>
                </a:solidFill>
              </a:rPr>
              <a:t>What matches the paper, what fails, and what to rerun</a:t>
            </a:r>
          </a:p>
        </p:txBody>
      </p:sp>
      <p:sp>
        <p:nvSpPr>
          <p:cNvPr id="6" name="Shape"/>
          <p:cNvSpPr/>
          <p:nvPr/>
        </p:nvSpPr>
        <p:spPr>
          <a:xfrm>
            <a:off x="685800" y="2762250"/>
            <a:ext cx="2381250" cy="104775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" name="Text"/>
          <p:cNvSpPr txBox="1"/>
          <p:nvPr/>
        </p:nvSpPr>
        <p:spPr>
          <a:xfrm>
            <a:off x="857250" y="2952750"/>
            <a:ext cx="2038349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2500" dirty="0">
                <a:solidFill>
                  <a:srgbClr val="2563EB"/>
                </a:solidFill>
                <a:b/>
              </a:rPr>
              <a:t>3,227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857250" y="3371850"/>
            <a:ext cx="2038349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050" dirty="0">
                <a:solidFill>
                  <a:srgbClr val="475569"/>
                </a:solidFill>
              </a:rPr>
              <a:t>downstream metric files</a:t>
            </a:r>
          </a:p>
        </p:txBody>
      </p:sp>
      <p:sp>
        <p:nvSpPr>
          <p:cNvPr id="9" name="Shape"/>
          <p:cNvSpPr/>
          <p:nvPr/>
        </p:nvSpPr>
        <p:spPr>
          <a:xfrm>
            <a:off x="3333750" y="2762250"/>
            <a:ext cx="2381250" cy="104775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0" name="Text"/>
          <p:cNvSpPr txBox="1"/>
          <p:nvPr/>
        </p:nvSpPr>
        <p:spPr>
          <a:xfrm>
            <a:off x="3505199" y="2952750"/>
            <a:ext cx="2038349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2500" dirty="0">
                <a:solidFill>
                  <a:srgbClr val="DC2626"/>
                </a:solidFill>
                <a:b/>
              </a:rPr>
              <a:t>13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3505199" y="3371850"/>
            <a:ext cx="2038349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050" dirty="0">
                <a:solidFill>
                  <a:srgbClr val="475569"/>
                </a:solidFill>
              </a:rPr>
              <a:t>missing planned cells</a:t>
            </a:r>
          </a:p>
        </p:txBody>
      </p:sp>
      <p:sp>
        <p:nvSpPr>
          <p:cNvPr id="12" name="Shape"/>
          <p:cNvSpPr/>
          <p:nvPr/>
        </p:nvSpPr>
        <p:spPr>
          <a:xfrm>
            <a:off x="5981700" y="2762250"/>
            <a:ext cx="2381250" cy="104775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153149" y="2952750"/>
            <a:ext cx="2038349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2500" dirty="0">
                <a:solidFill>
                  <a:srgbClr val="0891B2"/>
                </a:solidFill>
                <a:b/>
              </a:rPr>
              <a:t>0.017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153149" y="3371850"/>
            <a:ext cx="2038349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050" dirty="0">
                <a:solidFill>
                  <a:srgbClr val="475569"/>
                </a:solidFill>
              </a:rPr>
              <a:t>TabPFGen mean gap</a:t>
            </a:r>
          </a:p>
        </p:txBody>
      </p:sp>
      <p:sp>
        <p:nvSpPr>
          <p:cNvPr id="15" name="Shape"/>
          <p:cNvSpPr/>
          <p:nvPr/>
        </p:nvSpPr>
        <p:spPr>
          <a:xfrm>
            <a:off x="8629650" y="2762250"/>
            <a:ext cx="2381250" cy="104775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8801100" y="2952750"/>
            <a:ext cx="2038349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2500" dirty="0">
                <a:solidFill>
                  <a:srgbClr val="F59E0B"/>
                </a:solidFill>
                <a:b/>
              </a:rPr>
              <a:t>0.077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801100" y="3371850"/>
            <a:ext cx="2038349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050" dirty="0">
                <a:solidFill>
                  <a:srgbClr val="475569"/>
                </a:solidFill>
              </a:rPr>
              <a:t>replacement gap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704850" y="609600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100" dirty="0">
                <a:solidFill>
                  <a:srgbClr val="64748B"/>
                </a:solidFill>
              </a:rPr>
              <a:t>Generated from the current outputs/analysis folder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"/>
          <p:cNvSpPr txBox="1"/>
          <p:nvPr/>
        </p:nvSpPr>
        <p:spPr>
          <a:xfrm>
            <a:off x="571500" y="419100"/>
            <a:ext cx="9334500" cy="552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3000" dirty="0">
                <a:solidFill>
                  <a:srgbClr val="0F172A"/>
                </a:solidFill>
                <a:b/>
              </a:rPr>
              <a:t>Table 1 reproduction gap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590550" y="990599"/>
            <a:ext cx="89535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00" dirty="0">
                <a:solidFill>
                  <a:srgbClr val="64748B"/>
                </a:solidFill>
              </a:rPr>
              <a:t>Mean absolute AUC difference against the paper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666750" y="1447800"/>
            <a:ext cx="142875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smote</a:t>
            </a:r>
          </a:p>
        </p:txBody>
      </p:sp>
      <p:sp>
        <p:nvSpPr>
          <p:cNvPr id="7" name="Shape"/>
          <p:cNvSpPr/>
          <p:nvPr/>
        </p:nvSpPr>
        <p:spPr>
          <a:xfrm>
            <a:off x="2238375" y="1551214"/>
            <a:ext cx="3095625" cy="2449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2238375" y="1551214"/>
            <a:ext cx="164270" cy="244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"/>
          <p:cNvSpPr txBox="1"/>
          <p:nvPr/>
        </p:nvSpPr>
        <p:spPr>
          <a:xfrm>
            <a:off x="5429250" y="1447800"/>
            <a:ext cx="57150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0.006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666750" y="1937657"/>
            <a:ext cx="142875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tabpfgen</a:t>
            </a:r>
          </a:p>
        </p:txBody>
      </p:sp>
      <p:sp>
        <p:nvSpPr>
          <p:cNvPr id="11" name="Shape"/>
          <p:cNvSpPr/>
          <p:nvPr/>
        </p:nvSpPr>
        <p:spPr>
          <a:xfrm>
            <a:off x="2238375" y="2041071"/>
            <a:ext cx="3095625" cy="2449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238375" y="2041071"/>
            <a:ext cx="426353" cy="244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429250" y="1937657"/>
            <a:ext cx="57150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0.017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66750" y="2427514"/>
            <a:ext cx="142875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nflow</a:t>
            </a:r>
          </a:p>
        </p:txBody>
      </p:sp>
      <p:sp>
        <p:nvSpPr>
          <p:cNvPr id="15" name="Shape"/>
          <p:cNvSpPr/>
          <p:nvPr/>
        </p:nvSpPr>
        <p:spPr>
          <a:xfrm>
            <a:off x="2238375" y="2530928"/>
            <a:ext cx="3095625" cy="2449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2238375" y="2530928"/>
            <a:ext cx="569344" cy="244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5429250" y="2427514"/>
            <a:ext cx="57150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0.022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66750" y="2917371"/>
            <a:ext cx="142875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tvae</a:t>
            </a:r>
          </a:p>
        </p:txBody>
      </p:sp>
      <p:sp>
        <p:nvSpPr>
          <p:cNvPr id="19" name="Shape"/>
          <p:cNvSpPr/>
          <p:nvPr/>
        </p:nvSpPr>
        <p:spPr>
          <a:xfrm>
            <a:off x="2238375" y="3020785"/>
            <a:ext cx="3095625" cy="2449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hape"/>
          <p:cNvSpPr/>
          <p:nvPr/>
        </p:nvSpPr>
        <p:spPr>
          <a:xfrm>
            <a:off x="2238375" y="3020785"/>
            <a:ext cx="612152" cy="244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5429250" y="2917371"/>
            <a:ext cx="57150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0.024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66750" y="3407228"/>
            <a:ext cx="142875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rtvae</a:t>
            </a:r>
          </a:p>
        </p:txBody>
      </p:sp>
      <p:sp>
        <p:nvSpPr>
          <p:cNvPr id="23" name="Shape"/>
          <p:cNvSpPr/>
          <p:nvPr/>
        </p:nvSpPr>
        <p:spPr>
          <a:xfrm>
            <a:off x="2238375" y="3510642"/>
            <a:ext cx="3095625" cy="2449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Shape"/>
          <p:cNvSpPr/>
          <p:nvPr/>
        </p:nvSpPr>
        <p:spPr>
          <a:xfrm>
            <a:off x="2238375" y="3510642"/>
            <a:ext cx="890562" cy="244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5429250" y="3407228"/>
            <a:ext cx="57150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0.035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66750" y="3897085"/>
            <a:ext cx="142875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tabddpm</a:t>
            </a:r>
          </a:p>
        </p:txBody>
      </p:sp>
      <p:sp>
        <p:nvSpPr>
          <p:cNvPr id="27" name="Shape"/>
          <p:cNvSpPr/>
          <p:nvPr/>
        </p:nvSpPr>
        <p:spPr>
          <a:xfrm>
            <a:off x="2238375" y="4000500"/>
            <a:ext cx="3095625" cy="2449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Shape"/>
          <p:cNvSpPr/>
          <p:nvPr/>
        </p:nvSpPr>
        <p:spPr>
          <a:xfrm>
            <a:off x="2238375" y="4000500"/>
            <a:ext cx="1722295" cy="244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5429250" y="3897085"/>
            <a:ext cx="57150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0.067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66750" y="4386942"/>
            <a:ext cx="142875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ctgan</a:t>
            </a:r>
          </a:p>
        </p:txBody>
      </p:sp>
      <p:sp>
        <p:nvSpPr>
          <p:cNvPr id="31" name="Shape"/>
          <p:cNvSpPr/>
          <p:nvPr/>
        </p:nvSpPr>
        <p:spPr>
          <a:xfrm>
            <a:off x="2238375" y="4490357"/>
            <a:ext cx="3095625" cy="2449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Shape"/>
          <p:cNvSpPr/>
          <p:nvPr/>
        </p:nvSpPr>
        <p:spPr>
          <a:xfrm>
            <a:off x="2238375" y="4490357"/>
            <a:ext cx="3095625" cy="244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5429250" y="4386942"/>
            <a:ext cx="571500" cy="45175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0.121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762000" y="1123950"/>
            <a:ext cx="4000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400" dirty="0">
                <a:solidFill>
                  <a:srgbClr val="0F172A"/>
                </a:solidFill>
                <a:b/>
              </a:rPr>
              <a:t>Generator-level gap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858000" y="1828800"/>
            <a:ext cx="1428750" cy="6286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augmentation</a:t>
            </a:r>
          </a:p>
        </p:txBody>
      </p:sp>
      <p:sp>
        <p:nvSpPr>
          <p:cNvPr id="36" name="Shape"/>
          <p:cNvSpPr/>
          <p:nvPr/>
        </p:nvSpPr>
        <p:spPr>
          <a:xfrm>
            <a:off x="8429625" y="1976437"/>
            <a:ext cx="1857375" cy="3333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Shape"/>
          <p:cNvSpPr/>
          <p:nvPr/>
        </p:nvSpPr>
        <p:spPr>
          <a:xfrm>
            <a:off x="8429625" y="1976437"/>
            <a:ext cx="158643" cy="333375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ext"/>
          <p:cNvSpPr txBox="1"/>
          <p:nvPr/>
        </p:nvSpPr>
        <p:spPr>
          <a:xfrm>
            <a:off x="10382250" y="1828800"/>
            <a:ext cx="571500" cy="6286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0.007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6858000" y="2495550"/>
            <a:ext cx="1428750" cy="6286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replacement</a:t>
            </a:r>
          </a:p>
        </p:txBody>
      </p:sp>
      <p:sp>
        <p:nvSpPr>
          <p:cNvPr id="40" name="Shape"/>
          <p:cNvSpPr/>
          <p:nvPr/>
        </p:nvSpPr>
        <p:spPr>
          <a:xfrm>
            <a:off x="8429625" y="2643187"/>
            <a:ext cx="1857375" cy="3333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hape"/>
          <p:cNvSpPr/>
          <p:nvPr/>
        </p:nvSpPr>
        <p:spPr>
          <a:xfrm>
            <a:off x="8429625" y="2643187"/>
            <a:ext cx="1857375" cy="333375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"/>
          <p:cNvSpPr txBox="1"/>
          <p:nvPr/>
        </p:nvSpPr>
        <p:spPr>
          <a:xfrm>
            <a:off x="10382250" y="2495550"/>
            <a:ext cx="571500" cy="6286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0.077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858000" y="1219200"/>
            <a:ext cx="43815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800" dirty="0">
                <a:solidFill>
                  <a:srgbClr val="0F172A"/>
                </a:solidFill>
                <a:b/>
              </a:rPr>
              <a:t>Most mismatch is in replacement mode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6858000" y="3333750"/>
            <a:ext cx="42862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00" dirty="0">
                <a:solidFill>
                  <a:srgbClr val="334155"/>
                </a:solidFill>
              </a:rPr>
              <a:t>Interpretation: augmentation is close to the paper; replacement reveals where synthetic data fails to carry the full training signal.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571500" y="65722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Source: outputs/analysis CSVs and reproduction scripts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"/>
          <p:cNvSpPr txBox="1"/>
          <p:nvPr/>
        </p:nvSpPr>
        <p:spPr>
          <a:xfrm>
            <a:off x="571500" y="419100"/>
            <a:ext cx="9334500" cy="552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3000" dirty="0">
                <a:solidFill>
                  <a:srgbClr val="0F172A"/>
                </a:solidFill>
                <a:b/>
              </a:rPr>
              <a:t>TabPFGen cells vs paper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590550" y="990599"/>
            <a:ext cx="89535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00" dirty="0">
                <a:solidFill>
                  <a:srgbClr val="64748B"/>
                </a:solidFill>
              </a:rPr>
              <a:t>Raw-logit sampler after the latest fix</a:t>
            </a:r>
          </a:p>
        </p:txBody>
      </p:sp>
      <p:sp>
        <p:nvSpPr>
          <p:cNvPr id="6" name="Shape"/>
          <p:cNvSpPr/>
          <p:nvPr/>
        </p:nvSpPr>
        <p:spPr>
          <a:xfrm>
            <a:off x="762000" y="1333500"/>
            <a:ext cx="1047750" cy="32385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7" name="Text"/>
          <p:cNvSpPr txBox="1"/>
          <p:nvPr/>
        </p:nvSpPr>
        <p:spPr>
          <a:xfrm>
            <a:off x="819150" y="1390650"/>
            <a:ext cx="9334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Mode</a:t>
            </a:r>
          </a:p>
        </p:txBody>
      </p:sp>
      <p:sp>
        <p:nvSpPr>
          <p:cNvPr id="8" name="Shape"/>
          <p:cNvSpPr/>
          <p:nvPr/>
        </p:nvSpPr>
        <p:spPr>
          <a:xfrm>
            <a:off x="1809750" y="1333500"/>
            <a:ext cx="1524000" cy="32385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9" name="Text"/>
          <p:cNvSpPr txBox="1"/>
          <p:nvPr/>
        </p:nvSpPr>
        <p:spPr>
          <a:xfrm>
            <a:off x="1866900" y="1390650"/>
            <a:ext cx="14097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Model</a:t>
            </a:r>
          </a:p>
        </p:txBody>
      </p:sp>
      <p:sp>
        <p:nvSpPr>
          <p:cNvPr id="10" name="Shape"/>
          <p:cNvSpPr/>
          <p:nvPr/>
        </p:nvSpPr>
        <p:spPr>
          <a:xfrm>
            <a:off x="3333750" y="1333500"/>
            <a:ext cx="1333500" cy="32385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1" name="Text"/>
          <p:cNvSpPr txBox="1"/>
          <p:nvPr/>
        </p:nvSpPr>
        <p:spPr>
          <a:xfrm>
            <a:off x="3390900" y="139065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Repro</a:t>
            </a:r>
          </a:p>
        </p:txBody>
      </p:sp>
      <p:sp>
        <p:nvSpPr>
          <p:cNvPr id="12" name="Shape"/>
          <p:cNvSpPr/>
          <p:nvPr/>
        </p:nvSpPr>
        <p:spPr>
          <a:xfrm>
            <a:off x="4667250" y="1333500"/>
            <a:ext cx="1333500" cy="32385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4724400" y="139065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Paper</a:t>
            </a:r>
          </a:p>
        </p:txBody>
      </p:sp>
      <p:sp>
        <p:nvSpPr>
          <p:cNvPr id="14" name="Shape"/>
          <p:cNvSpPr/>
          <p:nvPr/>
        </p:nvSpPr>
        <p:spPr>
          <a:xfrm>
            <a:off x="6000750" y="1333500"/>
            <a:ext cx="1333500" cy="32385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6057900" y="139065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Delta</a:t>
            </a:r>
          </a:p>
        </p:txBody>
      </p:sp>
      <p:sp>
        <p:nvSpPr>
          <p:cNvPr id="16" name="Shape"/>
          <p:cNvSpPr/>
          <p:nvPr/>
        </p:nvSpPr>
        <p:spPr>
          <a:xfrm>
            <a:off x="762000" y="1657350"/>
            <a:ext cx="104775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19150" y="1704975"/>
            <a:ext cx="9334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augm</a:t>
            </a:r>
          </a:p>
        </p:txBody>
      </p:sp>
      <p:sp>
        <p:nvSpPr>
          <p:cNvPr id="18" name="Shape"/>
          <p:cNvSpPr/>
          <p:nvPr/>
        </p:nvSpPr>
        <p:spPr>
          <a:xfrm>
            <a:off x="1809750" y="1657350"/>
            <a:ext cx="15240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866900" y="1704975"/>
            <a:ext cx="14097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lr</a:t>
            </a:r>
          </a:p>
        </p:txBody>
      </p:sp>
      <p:sp>
        <p:nvSpPr>
          <p:cNvPr id="20" name="Shape"/>
          <p:cNvSpPr/>
          <p:nvPr/>
        </p:nvSpPr>
        <p:spPr>
          <a:xfrm>
            <a:off x="3333750" y="16573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3390900" y="17049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0.923</a:t>
            </a:r>
          </a:p>
        </p:txBody>
      </p:sp>
      <p:sp>
        <p:nvSpPr>
          <p:cNvPr id="22" name="Shape"/>
          <p:cNvSpPr/>
          <p:nvPr/>
        </p:nvSpPr>
        <p:spPr>
          <a:xfrm>
            <a:off x="4667250" y="16573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4724400" y="17049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0.921</a:t>
            </a:r>
          </a:p>
        </p:txBody>
      </p:sp>
      <p:sp>
        <p:nvSpPr>
          <p:cNvPr id="24" name="Shape"/>
          <p:cNvSpPr/>
          <p:nvPr/>
        </p:nvSpPr>
        <p:spPr>
          <a:xfrm>
            <a:off x="6000750" y="16573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057900" y="17049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5803D"/>
                </a:solidFill>
              </a:rPr>
              <a:t>+0.002</a:t>
            </a:r>
          </a:p>
        </p:txBody>
      </p:sp>
      <p:sp>
        <p:nvSpPr>
          <p:cNvPr id="26" name="Shape"/>
          <p:cNvSpPr/>
          <p:nvPr/>
        </p:nvSpPr>
        <p:spPr>
          <a:xfrm>
            <a:off x="762000" y="1981199"/>
            <a:ext cx="104775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819150" y="2028825"/>
            <a:ext cx="9334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augm</a:t>
            </a:r>
          </a:p>
        </p:txBody>
      </p:sp>
      <p:sp>
        <p:nvSpPr>
          <p:cNvPr id="28" name="Shape"/>
          <p:cNvSpPr/>
          <p:nvPr/>
        </p:nvSpPr>
        <p:spPr>
          <a:xfrm>
            <a:off x="1809750" y="1981199"/>
            <a:ext cx="15240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1866900" y="2028825"/>
            <a:ext cx="14097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rf</a:t>
            </a:r>
          </a:p>
        </p:txBody>
      </p:sp>
      <p:sp>
        <p:nvSpPr>
          <p:cNvPr id="30" name="Shape"/>
          <p:cNvSpPr/>
          <p:nvPr/>
        </p:nvSpPr>
        <p:spPr>
          <a:xfrm>
            <a:off x="3333750" y="1981199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3390900" y="20288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0.908</a:t>
            </a:r>
          </a:p>
        </p:txBody>
      </p:sp>
      <p:sp>
        <p:nvSpPr>
          <p:cNvPr id="32" name="Shape"/>
          <p:cNvSpPr/>
          <p:nvPr/>
        </p:nvSpPr>
        <p:spPr>
          <a:xfrm>
            <a:off x="4667250" y="1981199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4724400" y="20288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0.912</a:t>
            </a:r>
          </a:p>
        </p:txBody>
      </p:sp>
      <p:sp>
        <p:nvSpPr>
          <p:cNvPr id="34" name="Shape"/>
          <p:cNvSpPr/>
          <p:nvPr/>
        </p:nvSpPr>
        <p:spPr>
          <a:xfrm>
            <a:off x="6000750" y="1981199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6057900" y="20288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B91C1C"/>
                </a:solidFill>
              </a:rPr>
              <a:t>-0.004</a:t>
            </a:r>
          </a:p>
        </p:txBody>
      </p:sp>
      <p:sp>
        <p:nvSpPr>
          <p:cNvPr id="36" name="Shape"/>
          <p:cNvSpPr/>
          <p:nvPr/>
        </p:nvSpPr>
        <p:spPr>
          <a:xfrm>
            <a:off x="762000" y="2305050"/>
            <a:ext cx="104775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819150" y="2352675"/>
            <a:ext cx="9334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augm</a:t>
            </a:r>
          </a:p>
        </p:txBody>
      </p:sp>
      <p:sp>
        <p:nvSpPr>
          <p:cNvPr id="38" name="Shape"/>
          <p:cNvSpPr/>
          <p:nvPr/>
        </p:nvSpPr>
        <p:spPr>
          <a:xfrm>
            <a:off x="1809750" y="2305050"/>
            <a:ext cx="15240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9" name="Text"/>
          <p:cNvSpPr txBox="1"/>
          <p:nvPr/>
        </p:nvSpPr>
        <p:spPr>
          <a:xfrm>
            <a:off x="1866900" y="2352675"/>
            <a:ext cx="14097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tabpfn</a:t>
            </a:r>
          </a:p>
        </p:txBody>
      </p:sp>
      <p:sp>
        <p:nvSpPr>
          <p:cNvPr id="40" name="Shape"/>
          <p:cNvSpPr/>
          <p:nvPr/>
        </p:nvSpPr>
        <p:spPr>
          <a:xfrm>
            <a:off x="3333750" y="23050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1" name="Text"/>
          <p:cNvSpPr txBox="1"/>
          <p:nvPr/>
        </p:nvSpPr>
        <p:spPr>
          <a:xfrm>
            <a:off x="3390900" y="23526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0.926</a:t>
            </a:r>
          </a:p>
        </p:txBody>
      </p:sp>
      <p:sp>
        <p:nvSpPr>
          <p:cNvPr id="42" name="Shape"/>
          <p:cNvSpPr/>
          <p:nvPr/>
        </p:nvSpPr>
        <p:spPr>
          <a:xfrm>
            <a:off x="4667250" y="23050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3" name="Text"/>
          <p:cNvSpPr txBox="1"/>
          <p:nvPr/>
        </p:nvSpPr>
        <p:spPr>
          <a:xfrm>
            <a:off x="4724400" y="23526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0.935</a:t>
            </a:r>
          </a:p>
        </p:txBody>
      </p:sp>
      <p:sp>
        <p:nvSpPr>
          <p:cNvPr id="44" name="Shape"/>
          <p:cNvSpPr/>
          <p:nvPr/>
        </p:nvSpPr>
        <p:spPr>
          <a:xfrm>
            <a:off x="6000750" y="23050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5" name="Text"/>
          <p:cNvSpPr txBox="1"/>
          <p:nvPr/>
        </p:nvSpPr>
        <p:spPr>
          <a:xfrm>
            <a:off x="6057900" y="23526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B91C1C"/>
                </a:solidFill>
              </a:rPr>
              <a:t>-0.009</a:t>
            </a:r>
          </a:p>
        </p:txBody>
      </p:sp>
      <p:sp>
        <p:nvSpPr>
          <p:cNvPr id="46" name="Shape"/>
          <p:cNvSpPr/>
          <p:nvPr/>
        </p:nvSpPr>
        <p:spPr>
          <a:xfrm>
            <a:off x="762000" y="2628900"/>
            <a:ext cx="104775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7" name="Text"/>
          <p:cNvSpPr txBox="1"/>
          <p:nvPr/>
        </p:nvSpPr>
        <p:spPr>
          <a:xfrm>
            <a:off x="819150" y="2676525"/>
            <a:ext cx="9334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augm</a:t>
            </a:r>
          </a:p>
        </p:txBody>
      </p:sp>
      <p:sp>
        <p:nvSpPr>
          <p:cNvPr id="48" name="Shape"/>
          <p:cNvSpPr/>
          <p:nvPr/>
        </p:nvSpPr>
        <p:spPr>
          <a:xfrm>
            <a:off x="1809750" y="2628900"/>
            <a:ext cx="15240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9" name="Text"/>
          <p:cNvSpPr txBox="1"/>
          <p:nvPr/>
        </p:nvSpPr>
        <p:spPr>
          <a:xfrm>
            <a:off x="1866900" y="2676525"/>
            <a:ext cx="14097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xgb</a:t>
            </a:r>
          </a:p>
        </p:txBody>
      </p:sp>
      <p:sp>
        <p:nvSpPr>
          <p:cNvPr id="50" name="Shape"/>
          <p:cNvSpPr/>
          <p:nvPr/>
        </p:nvSpPr>
        <p:spPr>
          <a:xfrm>
            <a:off x="3333750" y="2628900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1" name="Text"/>
          <p:cNvSpPr txBox="1"/>
          <p:nvPr/>
        </p:nvSpPr>
        <p:spPr>
          <a:xfrm>
            <a:off x="3390900" y="26765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0.912</a:t>
            </a:r>
          </a:p>
        </p:txBody>
      </p:sp>
      <p:sp>
        <p:nvSpPr>
          <p:cNvPr id="52" name="Shape"/>
          <p:cNvSpPr/>
          <p:nvPr/>
        </p:nvSpPr>
        <p:spPr>
          <a:xfrm>
            <a:off x="4667250" y="2628900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3" name="Text"/>
          <p:cNvSpPr txBox="1"/>
          <p:nvPr/>
        </p:nvSpPr>
        <p:spPr>
          <a:xfrm>
            <a:off x="4724400" y="26765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0.934</a:t>
            </a:r>
          </a:p>
        </p:txBody>
      </p:sp>
      <p:sp>
        <p:nvSpPr>
          <p:cNvPr id="54" name="Shape"/>
          <p:cNvSpPr/>
          <p:nvPr/>
        </p:nvSpPr>
        <p:spPr>
          <a:xfrm>
            <a:off x="6000750" y="2628900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5" name="Text"/>
          <p:cNvSpPr txBox="1"/>
          <p:nvPr/>
        </p:nvSpPr>
        <p:spPr>
          <a:xfrm>
            <a:off x="6057900" y="26765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B91C1C"/>
                </a:solidFill>
              </a:rPr>
              <a:t>-0.022</a:t>
            </a:r>
          </a:p>
        </p:txBody>
      </p:sp>
      <p:sp>
        <p:nvSpPr>
          <p:cNvPr id="56" name="Shape"/>
          <p:cNvSpPr/>
          <p:nvPr/>
        </p:nvSpPr>
        <p:spPr>
          <a:xfrm>
            <a:off x="762000" y="2952750"/>
            <a:ext cx="104775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7" name="Text"/>
          <p:cNvSpPr txBox="1"/>
          <p:nvPr/>
        </p:nvSpPr>
        <p:spPr>
          <a:xfrm>
            <a:off x="819150" y="3000375"/>
            <a:ext cx="9334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repl</a:t>
            </a:r>
          </a:p>
        </p:txBody>
      </p:sp>
      <p:sp>
        <p:nvSpPr>
          <p:cNvPr id="58" name="Shape"/>
          <p:cNvSpPr/>
          <p:nvPr/>
        </p:nvSpPr>
        <p:spPr>
          <a:xfrm>
            <a:off x="1809750" y="2952750"/>
            <a:ext cx="15240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9" name="Text"/>
          <p:cNvSpPr txBox="1"/>
          <p:nvPr/>
        </p:nvSpPr>
        <p:spPr>
          <a:xfrm>
            <a:off x="1866900" y="3000375"/>
            <a:ext cx="14097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lr</a:t>
            </a:r>
          </a:p>
        </p:txBody>
      </p:sp>
      <p:sp>
        <p:nvSpPr>
          <p:cNvPr id="60" name="Shape"/>
          <p:cNvSpPr/>
          <p:nvPr/>
        </p:nvSpPr>
        <p:spPr>
          <a:xfrm>
            <a:off x="3333750" y="29527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61" name="Text"/>
          <p:cNvSpPr txBox="1"/>
          <p:nvPr/>
        </p:nvSpPr>
        <p:spPr>
          <a:xfrm>
            <a:off x="3390900" y="30003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0.913</a:t>
            </a:r>
          </a:p>
        </p:txBody>
      </p:sp>
      <p:sp>
        <p:nvSpPr>
          <p:cNvPr id="62" name="Shape"/>
          <p:cNvSpPr/>
          <p:nvPr/>
        </p:nvSpPr>
        <p:spPr>
          <a:xfrm>
            <a:off x="4667250" y="29527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63" name="Text"/>
          <p:cNvSpPr txBox="1"/>
          <p:nvPr/>
        </p:nvSpPr>
        <p:spPr>
          <a:xfrm>
            <a:off x="4724400" y="30003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0.920</a:t>
            </a:r>
          </a:p>
        </p:txBody>
      </p:sp>
      <p:sp>
        <p:nvSpPr>
          <p:cNvPr id="64" name="Shape"/>
          <p:cNvSpPr/>
          <p:nvPr/>
        </p:nvSpPr>
        <p:spPr>
          <a:xfrm>
            <a:off x="6000750" y="29527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65" name="Text"/>
          <p:cNvSpPr txBox="1"/>
          <p:nvPr/>
        </p:nvSpPr>
        <p:spPr>
          <a:xfrm>
            <a:off x="6057900" y="30003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B91C1C"/>
                </a:solidFill>
              </a:rPr>
              <a:t>-0.007</a:t>
            </a:r>
          </a:p>
        </p:txBody>
      </p:sp>
      <p:sp>
        <p:nvSpPr>
          <p:cNvPr id="66" name="Shape"/>
          <p:cNvSpPr/>
          <p:nvPr/>
        </p:nvSpPr>
        <p:spPr>
          <a:xfrm>
            <a:off x="762000" y="3276600"/>
            <a:ext cx="104775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67" name="Text"/>
          <p:cNvSpPr txBox="1"/>
          <p:nvPr/>
        </p:nvSpPr>
        <p:spPr>
          <a:xfrm>
            <a:off x="819150" y="3324225"/>
            <a:ext cx="9334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repl</a:t>
            </a:r>
          </a:p>
        </p:txBody>
      </p:sp>
      <p:sp>
        <p:nvSpPr>
          <p:cNvPr id="68" name="Shape"/>
          <p:cNvSpPr/>
          <p:nvPr/>
        </p:nvSpPr>
        <p:spPr>
          <a:xfrm>
            <a:off x="1809750" y="3276600"/>
            <a:ext cx="15240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69" name="Text"/>
          <p:cNvSpPr txBox="1"/>
          <p:nvPr/>
        </p:nvSpPr>
        <p:spPr>
          <a:xfrm>
            <a:off x="1866900" y="3324225"/>
            <a:ext cx="14097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rf</a:t>
            </a:r>
          </a:p>
        </p:txBody>
      </p:sp>
      <p:sp>
        <p:nvSpPr>
          <p:cNvPr id="70" name="Shape"/>
          <p:cNvSpPr/>
          <p:nvPr/>
        </p:nvSpPr>
        <p:spPr>
          <a:xfrm>
            <a:off x="3333750" y="3276600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1" name="Text"/>
          <p:cNvSpPr txBox="1"/>
          <p:nvPr/>
        </p:nvSpPr>
        <p:spPr>
          <a:xfrm>
            <a:off x="3390900" y="33242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0.876</a:t>
            </a:r>
          </a:p>
        </p:txBody>
      </p:sp>
      <p:sp>
        <p:nvSpPr>
          <p:cNvPr id="72" name="Shape"/>
          <p:cNvSpPr/>
          <p:nvPr/>
        </p:nvSpPr>
        <p:spPr>
          <a:xfrm>
            <a:off x="4667250" y="3276600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3" name="Text"/>
          <p:cNvSpPr txBox="1"/>
          <p:nvPr/>
        </p:nvSpPr>
        <p:spPr>
          <a:xfrm>
            <a:off x="4724400" y="33242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0.906</a:t>
            </a:r>
          </a:p>
        </p:txBody>
      </p:sp>
      <p:sp>
        <p:nvSpPr>
          <p:cNvPr id="74" name="Shape"/>
          <p:cNvSpPr/>
          <p:nvPr/>
        </p:nvSpPr>
        <p:spPr>
          <a:xfrm>
            <a:off x="6000750" y="3276600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5" name="Text"/>
          <p:cNvSpPr txBox="1"/>
          <p:nvPr/>
        </p:nvSpPr>
        <p:spPr>
          <a:xfrm>
            <a:off x="6057900" y="33242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B91C1C"/>
                </a:solidFill>
              </a:rPr>
              <a:t>-0.030</a:t>
            </a:r>
          </a:p>
        </p:txBody>
      </p:sp>
      <p:sp>
        <p:nvSpPr>
          <p:cNvPr id="76" name="Shape"/>
          <p:cNvSpPr/>
          <p:nvPr/>
        </p:nvSpPr>
        <p:spPr>
          <a:xfrm>
            <a:off x="762000" y="3600450"/>
            <a:ext cx="104775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7" name="Text"/>
          <p:cNvSpPr txBox="1"/>
          <p:nvPr/>
        </p:nvSpPr>
        <p:spPr>
          <a:xfrm>
            <a:off x="819150" y="3648075"/>
            <a:ext cx="9334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repl</a:t>
            </a:r>
          </a:p>
        </p:txBody>
      </p:sp>
      <p:sp>
        <p:nvSpPr>
          <p:cNvPr id="78" name="Shape"/>
          <p:cNvSpPr/>
          <p:nvPr/>
        </p:nvSpPr>
        <p:spPr>
          <a:xfrm>
            <a:off x="1809750" y="3600450"/>
            <a:ext cx="15240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9" name="Text"/>
          <p:cNvSpPr txBox="1"/>
          <p:nvPr/>
        </p:nvSpPr>
        <p:spPr>
          <a:xfrm>
            <a:off x="1866900" y="3648075"/>
            <a:ext cx="14097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tabpfn</a:t>
            </a:r>
          </a:p>
        </p:txBody>
      </p:sp>
      <p:sp>
        <p:nvSpPr>
          <p:cNvPr id="80" name="Shape"/>
          <p:cNvSpPr/>
          <p:nvPr/>
        </p:nvSpPr>
        <p:spPr>
          <a:xfrm>
            <a:off x="3333750" y="36004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81" name="Text"/>
          <p:cNvSpPr txBox="1"/>
          <p:nvPr/>
        </p:nvSpPr>
        <p:spPr>
          <a:xfrm>
            <a:off x="3390900" y="36480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0.924</a:t>
            </a:r>
          </a:p>
        </p:txBody>
      </p:sp>
      <p:sp>
        <p:nvSpPr>
          <p:cNvPr id="82" name="Shape"/>
          <p:cNvSpPr/>
          <p:nvPr/>
        </p:nvSpPr>
        <p:spPr>
          <a:xfrm>
            <a:off x="4667250" y="36004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83" name="Text"/>
          <p:cNvSpPr txBox="1"/>
          <p:nvPr/>
        </p:nvSpPr>
        <p:spPr>
          <a:xfrm>
            <a:off x="4724400" y="36480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0.934</a:t>
            </a:r>
          </a:p>
        </p:txBody>
      </p:sp>
      <p:sp>
        <p:nvSpPr>
          <p:cNvPr id="84" name="Shape"/>
          <p:cNvSpPr/>
          <p:nvPr/>
        </p:nvSpPr>
        <p:spPr>
          <a:xfrm>
            <a:off x="6000750" y="3600450"/>
            <a:ext cx="1333500" cy="3238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85" name="Text"/>
          <p:cNvSpPr txBox="1"/>
          <p:nvPr/>
        </p:nvSpPr>
        <p:spPr>
          <a:xfrm>
            <a:off x="6057900" y="364807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B91C1C"/>
                </a:solidFill>
              </a:rPr>
              <a:t>-0.010</a:t>
            </a:r>
          </a:p>
        </p:txBody>
      </p:sp>
      <p:sp>
        <p:nvSpPr>
          <p:cNvPr id="86" name="Shape"/>
          <p:cNvSpPr/>
          <p:nvPr/>
        </p:nvSpPr>
        <p:spPr>
          <a:xfrm>
            <a:off x="762000" y="3924299"/>
            <a:ext cx="104775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87" name="Text"/>
          <p:cNvSpPr txBox="1"/>
          <p:nvPr/>
        </p:nvSpPr>
        <p:spPr>
          <a:xfrm>
            <a:off x="819150" y="3971925"/>
            <a:ext cx="9334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repl</a:t>
            </a:r>
          </a:p>
        </p:txBody>
      </p:sp>
      <p:sp>
        <p:nvSpPr>
          <p:cNvPr id="88" name="Shape"/>
          <p:cNvSpPr/>
          <p:nvPr/>
        </p:nvSpPr>
        <p:spPr>
          <a:xfrm>
            <a:off x="1809750" y="3924299"/>
            <a:ext cx="15240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89" name="Text"/>
          <p:cNvSpPr txBox="1"/>
          <p:nvPr/>
        </p:nvSpPr>
        <p:spPr>
          <a:xfrm>
            <a:off x="1866900" y="3971925"/>
            <a:ext cx="14097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xgb</a:t>
            </a:r>
          </a:p>
        </p:txBody>
      </p:sp>
      <p:sp>
        <p:nvSpPr>
          <p:cNvPr id="90" name="Shape"/>
          <p:cNvSpPr/>
          <p:nvPr/>
        </p:nvSpPr>
        <p:spPr>
          <a:xfrm>
            <a:off x="3333750" y="3924299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91" name="Text"/>
          <p:cNvSpPr txBox="1"/>
          <p:nvPr/>
        </p:nvSpPr>
        <p:spPr>
          <a:xfrm>
            <a:off x="3390900" y="39719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0.878</a:t>
            </a:r>
          </a:p>
        </p:txBody>
      </p:sp>
      <p:sp>
        <p:nvSpPr>
          <p:cNvPr id="92" name="Shape"/>
          <p:cNvSpPr/>
          <p:nvPr/>
        </p:nvSpPr>
        <p:spPr>
          <a:xfrm>
            <a:off x="4667250" y="3924299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93" name="Text"/>
          <p:cNvSpPr txBox="1"/>
          <p:nvPr/>
        </p:nvSpPr>
        <p:spPr>
          <a:xfrm>
            <a:off x="4724400" y="39719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0.927</a:t>
            </a:r>
          </a:p>
        </p:txBody>
      </p:sp>
      <p:sp>
        <p:nvSpPr>
          <p:cNvPr id="94" name="Shape"/>
          <p:cNvSpPr/>
          <p:nvPr/>
        </p:nvSpPr>
        <p:spPr>
          <a:xfrm>
            <a:off x="6000750" y="3924299"/>
            <a:ext cx="1333500" cy="3238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95" name="Text"/>
          <p:cNvSpPr txBox="1"/>
          <p:nvPr/>
        </p:nvSpPr>
        <p:spPr>
          <a:xfrm>
            <a:off x="6057900" y="3971925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B91C1C"/>
                </a:solidFill>
              </a:rPr>
              <a:t>-0.049</a:t>
            </a:r>
          </a:p>
        </p:txBody>
      </p:sp>
      <p:sp>
        <p:nvSpPr>
          <p:cNvPr id="96" name="Text"/>
          <p:cNvSpPr txBox="1"/>
          <p:nvPr/>
        </p:nvSpPr>
        <p:spPr>
          <a:xfrm>
            <a:off x="7810500" y="1809750"/>
            <a:ext cx="314325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500" dirty="0">
                <a:solidFill>
                  <a:srgbClr val="0F172A"/>
                </a:solidFill>
                <a:b/>
              </a:rPr>
              <a:t>Closest: LR and TabPFN cells.</a:t>
            </a:r>
          </a:p>
          <a:p>
            <a:pPr algn="l"/>
            <a:r>
              <a:rPr lang="en-US" sz="1500" dirty="0">
                <a:solidFill>
                  <a:srgbClr val="0F172A"/>
                </a:solidFill>
                <a:b/>
              </a:rPr>
              <a:t>Weakest: XGB replacement and RF replacement.</a:t>
            </a:r>
          </a:p>
        </p:txBody>
      </p:sp>
      <p:sp>
        <p:nvSpPr>
          <p:cNvPr id="97" name="Text"/>
          <p:cNvSpPr txBox="1"/>
          <p:nvPr/>
        </p:nvSpPr>
        <p:spPr>
          <a:xfrm>
            <a:off x="7810500" y="3143250"/>
            <a:ext cx="31432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250" dirty="0">
                <a:solidFill>
                  <a:srgbClr val="475569"/>
                </a:solidFill>
              </a:rPr>
              <a:t>The XGB gap should be checked against downstream hyperparameters and the failed diabetes rows.</a:t>
            </a:r>
          </a:p>
        </p:txBody>
      </p:sp>
      <p:sp>
        <p:nvSpPr>
          <p:cNvPr id="98" name="Text"/>
          <p:cNvSpPr txBox="1"/>
          <p:nvPr/>
        </p:nvSpPr>
        <p:spPr>
          <a:xfrm>
            <a:off x="571500" y="65722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Source: outputs/analysis CSVs and reproduction scripts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"/>
          <p:cNvSpPr txBox="1"/>
          <p:nvPr/>
        </p:nvSpPr>
        <p:spPr>
          <a:xfrm>
            <a:off x="571500" y="419100"/>
            <a:ext cx="9334500" cy="552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3000" dirty="0">
                <a:solidFill>
                  <a:srgbClr val="0F172A"/>
                </a:solidFill>
                <a:b/>
              </a:rPr>
              <a:t>Replacement mode ranking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590550" y="990599"/>
            <a:ext cx="89535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00" dirty="0">
                <a:solidFill>
                  <a:srgbClr val="64748B"/>
                </a:solidFill>
              </a:rPr>
              <a:t>Average AUC when synthetic data replaces the real training split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619125" y="1333500"/>
            <a:ext cx="952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400" dirty="0">
                <a:solidFill>
                  <a:srgbClr val="0F172A"/>
                </a:solidFill>
                <a:b/>
              </a:rPr>
              <a:t>XGB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619125" y="1714500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smote</a:t>
            </a:r>
          </a:p>
        </p:txBody>
      </p:sp>
      <p:sp>
        <p:nvSpPr>
          <p:cNvPr id="8" name="Shape"/>
          <p:cNvSpPr/>
          <p:nvPr/>
        </p:nvSpPr>
        <p:spPr>
          <a:xfrm>
            <a:off x="2190750" y="1776412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190750" y="1776412"/>
            <a:ext cx="2268484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"/>
          <p:cNvSpPr txBox="1"/>
          <p:nvPr/>
        </p:nvSpPr>
        <p:spPr>
          <a:xfrm>
            <a:off x="4810125" y="17145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0.899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19125" y="2038350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tabpfgen</a:t>
            </a:r>
          </a:p>
        </p:txBody>
      </p:sp>
      <p:sp>
        <p:nvSpPr>
          <p:cNvPr id="12" name="Shape"/>
          <p:cNvSpPr/>
          <p:nvPr/>
        </p:nvSpPr>
        <p:spPr>
          <a:xfrm>
            <a:off x="2190750" y="2100262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190750" y="2100262"/>
            <a:ext cx="2214981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ext"/>
          <p:cNvSpPr txBox="1"/>
          <p:nvPr/>
        </p:nvSpPr>
        <p:spPr>
          <a:xfrm>
            <a:off x="4810125" y="203835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0.878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19125" y="2362200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tvae</a:t>
            </a:r>
          </a:p>
        </p:txBody>
      </p:sp>
      <p:sp>
        <p:nvSpPr>
          <p:cNvPr id="16" name="Shape"/>
          <p:cNvSpPr/>
          <p:nvPr/>
        </p:nvSpPr>
        <p:spPr>
          <a:xfrm>
            <a:off x="2190750" y="2424112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hape"/>
          <p:cNvSpPr/>
          <p:nvPr/>
        </p:nvSpPr>
        <p:spPr>
          <a:xfrm>
            <a:off x="2190750" y="2424112"/>
            <a:ext cx="2031588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4810125" y="23622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0.805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19125" y="2686050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rtvae</a:t>
            </a:r>
          </a:p>
        </p:txBody>
      </p:sp>
      <p:sp>
        <p:nvSpPr>
          <p:cNvPr id="20" name="Shape"/>
          <p:cNvSpPr/>
          <p:nvPr/>
        </p:nvSpPr>
        <p:spPr>
          <a:xfrm>
            <a:off x="2190750" y="2747962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"/>
          <p:cNvSpPr/>
          <p:nvPr/>
        </p:nvSpPr>
        <p:spPr>
          <a:xfrm>
            <a:off x="2190750" y="2747962"/>
            <a:ext cx="1860706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4810125" y="268605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0.737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19125" y="3009900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nflow</a:t>
            </a:r>
          </a:p>
        </p:txBody>
      </p:sp>
      <p:sp>
        <p:nvSpPr>
          <p:cNvPr id="24" name="Shape"/>
          <p:cNvSpPr/>
          <p:nvPr/>
        </p:nvSpPr>
        <p:spPr>
          <a:xfrm>
            <a:off x="2190750" y="3071812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hape"/>
          <p:cNvSpPr/>
          <p:nvPr/>
        </p:nvSpPr>
        <p:spPr>
          <a:xfrm>
            <a:off x="2190750" y="3071812"/>
            <a:ext cx="1830851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4810125" y="30099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0.725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238875" y="1333500"/>
            <a:ext cx="952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400" dirty="0">
                <a:solidFill>
                  <a:srgbClr val="0F172A"/>
                </a:solidFill>
                <a:b/>
              </a:rPr>
              <a:t>RF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6238875" y="1714500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smote</a:t>
            </a:r>
          </a:p>
        </p:txBody>
      </p:sp>
      <p:sp>
        <p:nvSpPr>
          <p:cNvPr id="29" name="Shape"/>
          <p:cNvSpPr/>
          <p:nvPr/>
        </p:nvSpPr>
        <p:spPr>
          <a:xfrm>
            <a:off x="7810500" y="1776412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hape"/>
          <p:cNvSpPr/>
          <p:nvPr/>
        </p:nvSpPr>
        <p:spPr>
          <a:xfrm>
            <a:off x="7810500" y="1776412"/>
            <a:ext cx="2264147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10429875" y="17145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0.897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238875" y="2038350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tabpfgen</a:t>
            </a:r>
          </a:p>
        </p:txBody>
      </p:sp>
      <p:sp>
        <p:nvSpPr>
          <p:cNvPr id="33" name="Shape"/>
          <p:cNvSpPr/>
          <p:nvPr/>
        </p:nvSpPr>
        <p:spPr>
          <a:xfrm>
            <a:off x="7810500" y="2100262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hape"/>
          <p:cNvSpPr/>
          <p:nvPr/>
        </p:nvSpPr>
        <p:spPr>
          <a:xfrm>
            <a:off x="7810500" y="2100262"/>
            <a:ext cx="2211195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10429875" y="203835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0.876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6238875" y="2362200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tvae</a:t>
            </a:r>
          </a:p>
        </p:txBody>
      </p:sp>
      <p:sp>
        <p:nvSpPr>
          <p:cNvPr id="37" name="Shape"/>
          <p:cNvSpPr/>
          <p:nvPr/>
        </p:nvSpPr>
        <p:spPr>
          <a:xfrm>
            <a:off x="7810500" y="2424112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Shape"/>
          <p:cNvSpPr/>
          <p:nvPr/>
        </p:nvSpPr>
        <p:spPr>
          <a:xfrm>
            <a:off x="7810500" y="2424112"/>
            <a:ext cx="2010291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ext"/>
          <p:cNvSpPr txBox="1"/>
          <p:nvPr/>
        </p:nvSpPr>
        <p:spPr>
          <a:xfrm>
            <a:off x="10429875" y="23622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0.796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6238875" y="2686050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rtvae</a:t>
            </a:r>
          </a:p>
        </p:txBody>
      </p:sp>
      <p:sp>
        <p:nvSpPr>
          <p:cNvPr id="41" name="Shape"/>
          <p:cNvSpPr/>
          <p:nvPr/>
        </p:nvSpPr>
        <p:spPr>
          <a:xfrm>
            <a:off x="7810500" y="2747962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Shape"/>
          <p:cNvSpPr/>
          <p:nvPr/>
        </p:nvSpPr>
        <p:spPr>
          <a:xfrm>
            <a:off x="7810500" y="2747962"/>
            <a:ext cx="1909020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ext"/>
          <p:cNvSpPr txBox="1"/>
          <p:nvPr/>
        </p:nvSpPr>
        <p:spPr>
          <a:xfrm>
            <a:off x="10429875" y="268605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0.756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6238875" y="3009900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nflow</a:t>
            </a:r>
          </a:p>
        </p:txBody>
      </p:sp>
      <p:sp>
        <p:nvSpPr>
          <p:cNvPr id="45" name="Shape"/>
          <p:cNvSpPr/>
          <p:nvPr/>
        </p:nvSpPr>
        <p:spPr>
          <a:xfrm>
            <a:off x="7810500" y="3071812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Shape"/>
          <p:cNvSpPr/>
          <p:nvPr/>
        </p:nvSpPr>
        <p:spPr>
          <a:xfrm>
            <a:off x="7810500" y="3071812"/>
            <a:ext cx="1830956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ext"/>
          <p:cNvSpPr txBox="1"/>
          <p:nvPr/>
        </p:nvSpPr>
        <p:spPr>
          <a:xfrm>
            <a:off x="10429875" y="30099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0.725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619125" y="3667125"/>
            <a:ext cx="952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400" dirty="0">
                <a:solidFill>
                  <a:srgbClr val="0F172A"/>
                </a:solidFill>
                <a:b/>
              </a:rPr>
              <a:t>LR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619125" y="4048125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tabpfgen</a:t>
            </a:r>
          </a:p>
        </p:txBody>
      </p:sp>
      <p:sp>
        <p:nvSpPr>
          <p:cNvPr id="50" name="Shape"/>
          <p:cNvSpPr/>
          <p:nvPr/>
        </p:nvSpPr>
        <p:spPr>
          <a:xfrm>
            <a:off x="2190750" y="4110037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hape"/>
          <p:cNvSpPr/>
          <p:nvPr/>
        </p:nvSpPr>
        <p:spPr>
          <a:xfrm>
            <a:off x="2190750" y="4110037"/>
            <a:ext cx="2305175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"/>
          <p:cNvSpPr txBox="1"/>
          <p:nvPr/>
        </p:nvSpPr>
        <p:spPr>
          <a:xfrm>
            <a:off x="4810125" y="4048125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0.913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619125" y="4371975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smote</a:t>
            </a:r>
          </a:p>
        </p:txBody>
      </p:sp>
      <p:sp>
        <p:nvSpPr>
          <p:cNvPr id="54" name="Shape"/>
          <p:cNvSpPr/>
          <p:nvPr/>
        </p:nvSpPr>
        <p:spPr>
          <a:xfrm>
            <a:off x="2190750" y="4433887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hape"/>
          <p:cNvSpPr/>
          <p:nvPr/>
        </p:nvSpPr>
        <p:spPr>
          <a:xfrm>
            <a:off x="2190750" y="4433887"/>
            <a:ext cx="2292220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56" name="Text"/>
          <p:cNvSpPr txBox="1"/>
          <p:nvPr/>
        </p:nvSpPr>
        <p:spPr>
          <a:xfrm>
            <a:off x="4810125" y="4371975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0.908</a:t>
            </a:r>
          </a:p>
        </p:txBody>
      </p:sp>
      <p:sp>
        <p:nvSpPr>
          <p:cNvPr id="57" name="Text"/>
          <p:cNvSpPr txBox="1"/>
          <p:nvPr/>
        </p:nvSpPr>
        <p:spPr>
          <a:xfrm>
            <a:off x="619125" y="4695825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tvae</a:t>
            </a:r>
          </a:p>
        </p:txBody>
      </p:sp>
      <p:sp>
        <p:nvSpPr>
          <p:cNvPr id="58" name="Shape"/>
          <p:cNvSpPr/>
          <p:nvPr/>
        </p:nvSpPr>
        <p:spPr>
          <a:xfrm>
            <a:off x="2190750" y="4757737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59" name="Shape"/>
          <p:cNvSpPr/>
          <p:nvPr/>
        </p:nvSpPr>
        <p:spPr>
          <a:xfrm>
            <a:off x="2190750" y="4757737"/>
            <a:ext cx="2116657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60" name="Text"/>
          <p:cNvSpPr txBox="1"/>
          <p:nvPr/>
        </p:nvSpPr>
        <p:spPr>
          <a:xfrm>
            <a:off x="4810125" y="4695825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0.839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619125" y="5019675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nflow</a:t>
            </a:r>
          </a:p>
        </p:txBody>
      </p:sp>
      <p:sp>
        <p:nvSpPr>
          <p:cNvPr id="62" name="Shape"/>
          <p:cNvSpPr/>
          <p:nvPr/>
        </p:nvSpPr>
        <p:spPr>
          <a:xfrm>
            <a:off x="2190750" y="5081587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Shape"/>
          <p:cNvSpPr/>
          <p:nvPr/>
        </p:nvSpPr>
        <p:spPr>
          <a:xfrm>
            <a:off x="2190750" y="5081587"/>
            <a:ext cx="1888881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64" name="Text"/>
          <p:cNvSpPr txBox="1"/>
          <p:nvPr/>
        </p:nvSpPr>
        <p:spPr>
          <a:xfrm>
            <a:off x="4810125" y="5019675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0.748</a:t>
            </a:r>
          </a:p>
        </p:txBody>
      </p:sp>
      <p:sp>
        <p:nvSpPr>
          <p:cNvPr id="65" name="Text"/>
          <p:cNvSpPr txBox="1"/>
          <p:nvPr/>
        </p:nvSpPr>
        <p:spPr>
          <a:xfrm>
            <a:off x="619125" y="5343525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rtvae</a:t>
            </a:r>
          </a:p>
        </p:txBody>
      </p:sp>
      <p:sp>
        <p:nvSpPr>
          <p:cNvPr id="66" name="Shape"/>
          <p:cNvSpPr/>
          <p:nvPr/>
        </p:nvSpPr>
        <p:spPr>
          <a:xfrm>
            <a:off x="2190750" y="5405437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Shape"/>
          <p:cNvSpPr/>
          <p:nvPr/>
        </p:nvSpPr>
        <p:spPr>
          <a:xfrm>
            <a:off x="2190750" y="5405437"/>
            <a:ext cx="1886549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Text"/>
          <p:cNvSpPr txBox="1"/>
          <p:nvPr/>
        </p:nvSpPr>
        <p:spPr>
          <a:xfrm>
            <a:off x="4810125" y="5343525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0.747</a:t>
            </a:r>
          </a:p>
        </p:txBody>
      </p:sp>
      <p:sp>
        <p:nvSpPr>
          <p:cNvPr id="69" name="Text"/>
          <p:cNvSpPr txBox="1"/>
          <p:nvPr/>
        </p:nvSpPr>
        <p:spPr>
          <a:xfrm>
            <a:off x="6238875" y="3667125"/>
            <a:ext cx="952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400" dirty="0">
                <a:solidFill>
                  <a:srgbClr val="0F172A"/>
                </a:solidFill>
                <a:b/>
              </a:rPr>
              <a:t>TABPFN</a:t>
            </a:r>
          </a:p>
        </p:txBody>
      </p:sp>
      <p:sp>
        <p:nvSpPr>
          <p:cNvPr id="70" name="Text"/>
          <p:cNvSpPr txBox="1"/>
          <p:nvPr/>
        </p:nvSpPr>
        <p:spPr>
          <a:xfrm>
            <a:off x="6238875" y="4048125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tabpfgen</a:t>
            </a:r>
          </a:p>
        </p:txBody>
      </p:sp>
      <p:sp>
        <p:nvSpPr>
          <p:cNvPr id="71" name="Shape"/>
          <p:cNvSpPr/>
          <p:nvPr/>
        </p:nvSpPr>
        <p:spPr>
          <a:xfrm>
            <a:off x="7810500" y="4110037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72" name="Shape"/>
          <p:cNvSpPr/>
          <p:nvPr/>
        </p:nvSpPr>
        <p:spPr>
          <a:xfrm>
            <a:off x="7810500" y="4110037"/>
            <a:ext cx="2331287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73" name="Text"/>
          <p:cNvSpPr txBox="1"/>
          <p:nvPr/>
        </p:nvSpPr>
        <p:spPr>
          <a:xfrm>
            <a:off x="10429875" y="4048125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0.924</a:t>
            </a:r>
          </a:p>
        </p:txBody>
      </p:sp>
      <p:sp>
        <p:nvSpPr>
          <p:cNvPr id="74" name="Text"/>
          <p:cNvSpPr txBox="1"/>
          <p:nvPr/>
        </p:nvSpPr>
        <p:spPr>
          <a:xfrm>
            <a:off x="6238875" y="4371975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smote</a:t>
            </a:r>
          </a:p>
        </p:txBody>
      </p:sp>
      <p:sp>
        <p:nvSpPr>
          <p:cNvPr id="75" name="Shape"/>
          <p:cNvSpPr/>
          <p:nvPr/>
        </p:nvSpPr>
        <p:spPr>
          <a:xfrm>
            <a:off x="7810500" y="4433887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76" name="Shape"/>
          <p:cNvSpPr/>
          <p:nvPr/>
        </p:nvSpPr>
        <p:spPr>
          <a:xfrm>
            <a:off x="7810500" y="4433887"/>
            <a:ext cx="2314516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77" name="Text"/>
          <p:cNvSpPr txBox="1"/>
          <p:nvPr/>
        </p:nvSpPr>
        <p:spPr>
          <a:xfrm>
            <a:off x="10429875" y="4371975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0.917</a:t>
            </a:r>
          </a:p>
        </p:txBody>
      </p:sp>
      <p:sp>
        <p:nvSpPr>
          <p:cNvPr id="78" name="Text"/>
          <p:cNvSpPr txBox="1"/>
          <p:nvPr/>
        </p:nvSpPr>
        <p:spPr>
          <a:xfrm>
            <a:off x="6238875" y="4695825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tvae</a:t>
            </a:r>
          </a:p>
        </p:txBody>
      </p:sp>
      <p:sp>
        <p:nvSpPr>
          <p:cNvPr id="79" name="Shape"/>
          <p:cNvSpPr/>
          <p:nvPr/>
        </p:nvSpPr>
        <p:spPr>
          <a:xfrm>
            <a:off x="7810500" y="4757737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80" name="Shape"/>
          <p:cNvSpPr/>
          <p:nvPr/>
        </p:nvSpPr>
        <p:spPr>
          <a:xfrm>
            <a:off x="7810500" y="4757737"/>
            <a:ext cx="2155141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81" name="Text"/>
          <p:cNvSpPr txBox="1"/>
          <p:nvPr/>
        </p:nvSpPr>
        <p:spPr>
          <a:xfrm>
            <a:off x="10429875" y="4695825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0.854</a:t>
            </a:r>
          </a:p>
        </p:txBody>
      </p:sp>
      <p:sp>
        <p:nvSpPr>
          <p:cNvPr id="82" name="Text"/>
          <p:cNvSpPr txBox="1"/>
          <p:nvPr/>
        </p:nvSpPr>
        <p:spPr>
          <a:xfrm>
            <a:off x="6238875" y="5019675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rtvae</a:t>
            </a:r>
          </a:p>
        </p:txBody>
      </p:sp>
      <p:sp>
        <p:nvSpPr>
          <p:cNvPr id="83" name="Shape"/>
          <p:cNvSpPr/>
          <p:nvPr/>
        </p:nvSpPr>
        <p:spPr>
          <a:xfrm>
            <a:off x="7810500" y="5081587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84" name="Shape"/>
          <p:cNvSpPr/>
          <p:nvPr/>
        </p:nvSpPr>
        <p:spPr>
          <a:xfrm>
            <a:off x="7810500" y="5081587"/>
            <a:ext cx="1992975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85" name="Text"/>
          <p:cNvSpPr txBox="1"/>
          <p:nvPr/>
        </p:nvSpPr>
        <p:spPr>
          <a:xfrm>
            <a:off x="10429875" y="5019675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0.790</a:t>
            </a:r>
          </a:p>
        </p:txBody>
      </p:sp>
      <p:sp>
        <p:nvSpPr>
          <p:cNvPr id="86" name="Text"/>
          <p:cNvSpPr txBox="1"/>
          <p:nvPr/>
        </p:nvSpPr>
        <p:spPr>
          <a:xfrm>
            <a:off x="6238875" y="5343525"/>
            <a:ext cx="14287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50" dirty="0">
                <a:solidFill>
                  <a:srgbClr val="334155"/>
                </a:solidFill>
              </a:rPr>
              <a:t>tabddpm</a:t>
            </a:r>
          </a:p>
        </p:txBody>
      </p:sp>
      <p:sp>
        <p:nvSpPr>
          <p:cNvPr id="87" name="Shape"/>
          <p:cNvSpPr/>
          <p:nvPr/>
        </p:nvSpPr>
        <p:spPr>
          <a:xfrm>
            <a:off x="7810500" y="5405437"/>
            <a:ext cx="2524125" cy="1619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88" name="Shape"/>
          <p:cNvSpPr/>
          <p:nvPr/>
        </p:nvSpPr>
        <p:spPr>
          <a:xfrm>
            <a:off x="7810500" y="5405437"/>
            <a:ext cx="1928099" cy="161925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89" name="Text"/>
          <p:cNvSpPr txBox="1"/>
          <p:nvPr/>
        </p:nvSpPr>
        <p:spPr>
          <a:xfrm>
            <a:off x="10429875" y="5343525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lang="en-US" sz="1000" dirty="0">
                <a:solidFill>
                  <a:srgbClr val="0F172A"/>
                </a:solidFill>
                <a:b/>
              </a:rPr>
              <a:t>0.764</a:t>
            </a:r>
          </a:p>
        </p:txBody>
      </p:sp>
      <p:sp>
        <p:nvSpPr>
          <p:cNvPr id="90" name="Text"/>
          <p:cNvSpPr txBox="1"/>
          <p:nvPr/>
        </p:nvSpPr>
        <p:spPr>
          <a:xfrm>
            <a:off x="571500" y="65722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Source: outputs/analysis CSVs and reproduction scripts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"/>
          <p:cNvSpPr txBox="1"/>
          <p:nvPr/>
        </p:nvSpPr>
        <p:spPr>
          <a:xfrm>
            <a:off x="571500" y="419100"/>
            <a:ext cx="9334500" cy="552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3000" dirty="0">
                <a:solidFill>
                  <a:srgbClr val="0F172A"/>
                </a:solidFill>
                <a:b/>
              </a:rPr>
              <a:t>Fidelity and detectability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590550" y="990599"/>
            <a:ext cx="89535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00" dirty="0">
                <a:solidFill>
                  <a:srgbClr val="64748B"/>
                </a:solidFill>
              </a:rPr>
              <a:t>Diagnostics explain why utility and realism do not always agree</a:t>
            </a:r>
          </a:p>
        </p:txBody>
      </p:sp>
      <p:sp>
        <p:nvSpPr>
          <p:cNvPr id="6" name="Shape"/>
          <p:cNvSpPr/>
          <p:nvPr/>
        </p:nvSpPr>
        <p:spPr>
          <a:xfrm>
            <a:off x="666750" y="1238250"/>
            <a:ext cx="1619250" cy="34290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7" name="Text"/>
          <p:cNvSpPr txBox="1"/>
          <p:nvPr/>
        </p:nvSpPr>
        <p:spPr>
          <a:xfrm>
            <a:off x="723900" y="1295400"/>
            <a:ext cx="15049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Generator</a:t>
            </a:r>
          </a:p>
        </p:txBody>
      </p:sp>
      <p:sp>
        <p:nvSpPr>
          <p:cNvPr id="8" name="Shape"/>
          <p:cNvSpPr/>
          <p:nvPr/>
        </p:nvSpPr>
        <p:spPr>
          <a:xfrm>
            <a:off x="2286000" y="1238250"/>
            <a:ext cx="1143000" cy="34290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9" name="Text"/>
          <p:cNvSpPr txBox="1"/>
          <p:nvPr/>
        </p:nvSpPr>
        <p:spPr>
          <a:xfrm>
            <a:off x="2343150" y="1295400"/>
            <a:ext cx="10287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KS</a:t>
            </a:r>
          </a:p>
        </p:txBody>
      </p:sp>
      <p:sp>
        <p:nvSpPr>
          <p:cNvPr id="10" name="Shape"/>
          <p:cNvSpPr/>
          <p:nvPr/>
        </p:nvSpPr>
        <p:spPr>
          <a:xfrm>
            <a:off x="3429000" y="1238250"/>
            <a:ext cx="1428750" cy="34290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1" name="Text"/>
          <p:cNvSpPr txBox="1"/>
          <p:nvPr/>
        </p:nvSpPr>
        <p:spPr>
          <a:xfrm>
            <a:off x="3486150" y="1295400"/>
            <a:ext cx="13144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Corr MAE</a:t>
            </a:r>
          </a:p>
        </p:txBody>
      </p:sp>
      <p:sp>
        <p:nvSpPr>
          <p:cNvPr id="12" name="Shape"/>
          <p:cNvSpPr/>
          <p:nvPr/>
        </p:nvSpPr>
        <p:spPr>
          <a:xfrm>
            <a:off x="4857750" y="1238250"/>
            <a:ext cx="1333500" cy="34290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4914900" y="1295400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Detect</a:t>
            </a:r>
          </a:p>
        </p:txBody>
      </p:sp>
      <p:sp>
        <p:nvSpPr>
          <p:cNvPr id="14" name="Shape"/>
          <p:cNvSpPr/>
          <p:nvPr/>
        </p:nvSpPr>
        <p:spPr>
          <a:xfrm>
            <a:off x="6191250" y="1238250"/>
            <a:ext cx="1333500" cy="34290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6248399" y="1295400"/>
            <a:ext cx="1219200" cy="24764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Dup frac</a:t>
            </a:r>
          </a:p>
        </p:txBody>
      </p:sp>
      <p:sp>
        <p:nvSpPr>
          <p:cNvPr id="16" name="Shape"/>
          <p:cNvSpPr/>
          <p:nvPr/>
        </p:nvSpPr>
        <p:spPr>
          <a:xfrm>
            <a:off x="666750" y="1581150"/>
            <a:ext cx="161925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723900" y="1628775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smote</a:t>
            </a:r>
          </a:p>
        </p:txBody>
      </p:sp>
      <p:sp>
        <p:nvSpPr>
          <p:cNvPr id="18" name="Shape"/>
          <p:cNvSpPr/>
          <p:nvPr/>
        </p:nvSpPr>
        <p:spPr>
          <a:xfrm>
            <a:off x="2286000" y="1581150"/>
            <a:ext cx="11430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2343150" y="1628775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0.060</a:t>
            </a:r>
          </a:p>
        </p:txBody>
      </p:sp>
      <p:sp>
        <p:nvSpPr>
          <p:cNvPr id="20" name="Shape"/>
          <p:cNvSpPr/>
          <p:nvPr/>
        </p:nvSpPr>
        <p:spPr>
          <a:xfrm>
            <a:off x="3429000" y="1581150"/>
            <a:ext cx="142875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3486150" y="1628775"/>
            <a:ext cx="13144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0.048</a:t>
            </a:r>
          </a:p>
        </p:txBody>
      </p:sp>
      <p:sp>
        <p:nvSpPr>
          <p:cNvPr id="22" name="Shape"/>
          <p:cNvSpPr/>
          <p:nvPr/>
        </p:nvSpPr>
        <p:spPr>
          <a:xfrm>
            <a:off x="4857750" y="1581150"/>
            <a:ext cx="13335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4914900" y="16287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0.628</a:t>
            </a:r>
          </a:p>
        </p:txBody>
      </p:sp>
      <p:sp>
        <p:nvSpPr>
          <p:cNvPr id="24" name="Shape"/>
          <p:cNvSpPr/>
          <p:nvPr/>
        </p:nvSpPr>
        <p:spPr>
          <a:xfrm>
            <a:off x="6191250" y="1581150"/>
            <a:ext cx="13335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248399" y="16287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5803D"/>
                </a:solidFill>
              </a:rPr>
              <a:t>0.036</a:t>
            </a:r>
          </a:p>
        </p:txBody>
      </p:sp>
      <p:sp>
        <p:nvSpPr>
          <p:cNvPr id="26" name="Shape"/>
          <p:cNvSpPr/>
          <p:nvPr/>
        </p:nvSpPr>
        <p:spPr>
          <a:xfrm>
            <a:off x="666750" y="1924050"/>
            <a:ext cx="161925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723900" y="1971674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tabpfgen</a:t>
            </a:r>
          </a:p>
        </p:txBody>
      </p:sp>
      <p:sp>
        <p:nvSpPr>
          <p:cNvPr id="28" name="Shape"/>
          <p:cNvSpPr/>
          <p:nvPr/>
        </p:nvSpPr>
        <p:spPr>
          <a:xfrm>
            <a:off x="2286000" y="1924050"/>
            <a:ext cx="114300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2343150" y="1971674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0.113</a:t>
            </a:r>
          </a:p>
        </p:txBody>
      </p:sp>
      <p:sp>
        <p:nvSpPr>
          <p:cNvPr id="30" name="Shape"/>
          <p:cNvSpPr/>
          <p:nvPr/>
        </p:nvSpPr>
        <p:spPr>
          <a:xfrm>
            <a:off x="3429000" y="1924050"/>
            <a:ext cx="142875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3486150" y="1971674"/>
            <a:ext cx="13144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0.054</a:t>
            </a:r>
          </a:p>
        </p:txBody>
      </p:sp>
      <p:sp>
        <p:nvSpPr>
          <p:cNvPr id="32" name="Shape"/>
          <p:cNvSpPr/>
          <p:nvPr/>
        </p:nvSpPr>
        <p:spPr>
          <a:xfrm>
            <a:off x="4857750" y="1924050"/>
            <a:ext cx="133350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4914900" y="1971674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0.904</a:t>
            </a:r>
          </a:p>
        </p:txBody>
      </p:sp>
      <p:sp>
        <p:nvSpPr>
          <p:cNvPr id="34" name="Shape"/>
          <p:cNvSpPr/>
          <p:nvPr/>
        </p:nvSpPr>
        <p:spPr>
          <a:xfrm>
            <a:off x="6191250" y="1924050"/>
            <a:ext cx="133350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6248399" y="1971674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5803D"/>
                </a:solidFill>
              </a:rPr>
              <a:t>0.000</a:t>
            </a:r>
          </a:p>
        </p:txBody>
      </p:sp>
      <p:sp>
        <p:nvSpPr>
          <p:cNvPr id="36" name="Shape"/>
          <p:cNvSpPr/>
          <p:nvPr/>
        </p:nvSpPr>
        <p:spPr>
          <a:xfrm>
            <a:off x="666750" y="2266950"/>
            <a:ext cx="161925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723900" y="2314575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tabddpm</a:t>
            </a:r>
          </a:p>
        </p:txBody>
      </p:sp>
      <p:sp>
        <p:nvSpPr>
          <p:cNvPr id="38" name="Shape"/>
          <p:cNvSpPr/>
          <p:nvPr/>
        </p:nvSpPr>
        <p:spPr>
          <a:xfrm>
            <a:off x="2286000" y="2266950"/>
            <a:ext cx="11430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9" name="Text"/>
          <p:cNvSpPr txBox="1"/>
          <p:nvPr/>
        </p:nvSpPr>
        <p:spPr>
          <a:xfrm>
            <a:off x="2343150" y="2314575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0.353</a:t>
            </a:r>
          </a:p>
        </p:txBody>
      </p:sp>
      <p:sp>
        <p:nvSpPr>
          <p:cNvPr id="40" name="Shape"/>
          <p:cNvSpPr/>
          <p:nvPr/>
        </p:nvSpPr>
        <p:spPr>
          <a:xfrm>
            <a:off x="3429000" y="2266950"/>
            <a:ext cx="142875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1" name="Text"/>
          <p:cNvSpPr txBox="1"/>
          <p:nvPr/>
        </p:nvSpPr>
        <p:spPr>
          <a:xfrm>
            <a:off x="3486150" y="2314575"/>
            <a:ext cx="13144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0.196</a:t>
            </a:r>
          </a:p>
        </p:txBody>
      </p:sp>
      <p:sp>
        <p:nvSpPr>
          <p:cNvPr id="42" name="Shape"/>
          <p:cNvSpPr/>
          <p:nvPr/>
        </p:nvSpPr>
        <p:spPr>
          <a:xfrm>
            <a:off x="4857750" y="2266950"/>
            <a:ext cx="13335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3" name="Text"/>
          <p:cNvSpPr txBox="1"/>
          <p:nvPr/>
        </p:nvSpPr>
        <p:spPr>
          <a:xfrm>
            <a:off x="4914900" y="23145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0.891</a:t>
            </a:r>
          </a:p>
        </p:txBody>
      </p:sp>
      <p:sp>
        <p:nvSpPr>
          <p:cNvPr id="44" name="Shape"/>
          <p:cNvSpPr/>
          <p:nvPr/>
        </p:nvSpPr>
        <p:spPr>
          <a:xfrm>
            <a:off x="6191250" y="2266950"/>
            <a:ext cx="13335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5" name="Text"/>
          <p:cNvSpPr txBox="1"/>
          <p:nvPr/>
        </p:nvSpPr>
        <p:spPr>
          <a:xfrm>
            <a:off x="6248399" y="23145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5803D"/>
                </a:solidFill>
              </a:rPr>
              <a:t>0.043</a:t>
            </a:r>
          </a:p>
        </p:txBody>
      </p:sp>
      <p:sp>
        <p:nvSpPr>
          <p:cNvPr id="46" name="Shape"/>
          <p:cNvSpPr/>
          <p:nvPr/>
        </p:nvSpPr>
        <p:spPr>
          <a:xfrm>
            <a:off x="666750" y="2609850"/>
            <a:ext cx="161925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7" name="Text"/>
          <p:cNvSpPr txBox="1"/>
          <p:nvPr/>
        </p:nvSpPr>
        <p:spPr>
          <a:xfrm>
            <a:off x="723900" y="2657475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nflow</a:t>
            </a:r>
          </a:p>
        </p:txBody>
      </p:sp>
      <p:sp>
        <p:nvSpPr>
          <p:cNvPr id="48" name="Shape"/>
          <p:cNvSpPr/>
          <p:nvPr/>
        </p:nvSpPr>
        <p:spPr>
          <a:xfrm>
            <a:off x="2286000" y="2609850"/>
            <a:ext cx="114300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9" name="Text"/>
          <p:cNvSpPr txBox="1"/>
          <p:nvPr/>
        </p:nvSpPr>
        <p:spPr>
          <a:xfrm>
            <a:off x="2343150" y="2657475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0.113</a:t>
            </a:r>
          </a:p>
        </p:txBody>
      </p:sp>
      <p:sp>
        <p:nvSpPr>
          <p:cNvPr id="50" name="Shape"/>
          <p:cNvSpPr/>
          <p:nvPr/>
        </p:nvSpPr>
        <p:spPr>
          <a:xfrm>
            <a:off x="3429000" y="2609850"/>
            <a:ext cx="142875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1" name="Text"/>
          <p:cNvSpPr txBox="1"/>
          <p:nvPr/>
        </p:nvSpPr>
        <p:spPr>
          <a:xfrm>
            <a:off x="3486150" y="2657475"/>
            <a:ext cx="13144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0.214</a:t>
            </a:r>
          </a:p>
        </p:txBody>
      </p:sp>
      <p:sp>
        <p:nvSpPr>
          <p:cNvPr id="52" name="Shape"/>
          <p:cNvSpPr/>
          <p:nvPr/>
        </p:nvSpPr>
        <p:spPr>
          <a:xfrm>
            <a:off x="4857750" y="2609850"/>
            <a:ext cx="133350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3" name="Text"/>
          <p:cNvSpPr txBox="1"/>
          <p:nvPr/>
        </p:nvSpPr>
        <p:spPr>
          <a:xfrm>
            <a:off x="4914900" y="26574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0.925</a:t>
            </a:r>
          </a:p>
        </p:txBody>
      </p:sp>
      <p:sp>
        <p:nvSpPr>
          <p:cNvPr id="54" name="Shape"/>
          <p:cNvSpPr/>
          <p:nvPr/>
        </p:nvSpPr>
        <p:spPr>
          <a:xfrm>
            <a:off x="6191250" y="2609850"/>
            <a:ext cx="133350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5" name="Text"/>
          <p:cNvSpPr txBox="1"/>
          <p:nvPr/>
        </p:nvSpPr>
        <p:spPr>
          <a:xfrm>
            <a:off x="6248399" y="26574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5803D"/>
                </a:solidFill>
              </a:rPr>
              <a:t>0.030</a:t>
            </a:r>
          </a:p>
        </p:txBody>
      </p:sp>
      <p:sp>
        <p:nvSpPr>
          <p:cNvPr id="56" name="Shape"/>
          <p:cNvSpPr/>
          <p:nvPr/>
        </p:nvSpPr>
        <p:spPr>
          <a:xfrm>
            <a:off x="666750" y="2952750"/>
            <a:ext cx="161925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7" name="Text"/>
          <p:cNvSpPr txBox="1"/>
          <p:nvPr/>
        </p:nvSpPr>
        <p:spPr>
          <a:xfrm>
            <a:off x="723900" y="3000375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tvae</a:t>
            </a:r>
          </a:p>
        </p:txBody>
      </p:sp>
      <p:sp>
        <p:nvSpPr>
          <p:cNvPr id="58" name="Shape"/>
          <p:cNvSpPr/>
          <p:nvPr/>
        </p:nvSpPr>
        <p:spPr>
          <a:xfrm>
            <a:off x="2286000" y="2952750"/>
            <a:ext cx="11430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9" name="Text"/>
          <p:cNvSpPr txBox="1"/>
          <p:nvPr/>
        </p:nvSpPr>
        <p:spPr>
          <a:xfrm>
            <a:off x="2343150" y="3000375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0.184</a:t>
            </a:r>
          </a:p>
        </p:txBody>
      </p:sp>
      <p:sp>
        <p:nvSpPr>
          <p:cNvPr id="60" name="Shape"/>
          <p:cNvSpPr/>
          <p:nvPr/>
        </p:nvSpPr>
        <p:spPr>
          <a:xfrm>
            <a:off x="3429000" y="2952750"/>
            <a:ext cx="142875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61" name="Text"/>
          <p:cNvSpPr txBox="1"/>
          <p:nvPr/>
        </p:nvSpPr>
        <p:spPr>
          <a:xfrm>
            <a:off x="3486150" y="3000375"/>
            <a:ext cx="13144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0.184</a:t>
            </a:r>
          </a:p>
        </p:txBody>
      </p:sp>
      <p:sp>
        <p:nvSpPr>
          <p:cNvPr id="62" name="Shape"/>
          <p:cNvSpPr/>
          <p:nvPr/>
        </p:nvSpPr>
        <p:spPr>
          <a:xfrm>
            <a:off x="4857750" y="2952750"/>
            <a:ext cx="13335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63" name="Text"/>
          <p:cNvSpPr txBox="1"/>
          <p:nvPr/>
        </p:nvSpPr>
        <p:spPr>
          <a:xfrm>
            <a:off x="4914900" y="30003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0.969</a:t>
            </a:r>
          </a:p>
        </p:txBody>
      </p:sp>
      <p:sp>
        <p:nvSpPr>
          <p:cNvPr id="64" name="Shape"/>
          <p:cNvSpPr/>
          <p:nvPr/>
        </p:nvSpPr>
        <p:spPr>
          <a:xfrm>
            <a:off x="6191250" y="2952750"/>
            <a:ext cx="13335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65" name="Text"/>
          <p:cNvSpPr txBox="1"/>
          <p:nvPr/>
        </p:nvSpPr>
        <p:spPr>
          <a:xfrm>
            <a:off x="6248399" y="30003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5803D"/>
                </a:solidFill>
              </a:rPr>
              <a:t>0.031</a:t>
            </a:r>
          </a:p>
        </p:txBody>
      </p:sp>
      <p:sp>
        <p:nvSpPr>
          <p:cNvPr id="66" name="Shape"/>
          <p:cNvSpPr/>
          <p:nvPr/>
        </p:nvSpPr>
        <p:spPr>
          <a:xfrm>
            <a:off x="666750" y="3295650"/>
            <a:ext cx="161925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67" name="Text"/>
          <p:cNvSpPr txBox="1"/>
          <p:nvPr/>
        </p:nvSpPr>
        <p:spPr>
          <a:xfrm>
            <a:off x="723900" y="3343275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ctgan</a:t>
            </a:r>
          </a:p>
        </p:txBody>
      </p:sp>
      <p:sp>
        <p:nvSpPr>
          <p:cNvPr id="68" name="Shape"/>
          <p:cNvSpPr/>
          <p:nvPr/>
        </p:nvSpPr>
        <p:spPr>
          <a:xfrm>
            <a:off x="2286000" y="3295650"/>
            <a:ext cx="114300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69" name="Text"/>
          <p:cNvSpPr txBox="1"/>
          <p:nvPr/>
        </p:nvSpPr>
        <p:spPr>
          <a:xfrm>
            <a:off x="2343150" y="3343275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0.343</a:t>
            </a:r>
          </a:p>
        </p:txBody>
      </p:sp>
      <p:sp>
        <p:nvSpPr>
          <p:cNvPr id="70" name="Shape"/>
          <p:cNvSpPr/>
          <p:nvPr/>
        </p:nvSpPr>
        <p:spPr>
          <a:xfrm>
            <a:off x="3429000" y="3295650"/>
            <a:ext cx="142875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1" name="Text"/>
          <p:cNvSpPr txBox="1"/>
          <p:nvPr/>
        </p:nvSpPr>
        <p:spPr>
          <a:xfrm>
            <a:off x="3486150" y="3343275"/>
            <a:ext cx="13144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0.259</a:t>
            </a:r>
          </a:p>
        </p:txBody>
      </p:sp>
      <p:sp>
        <p:nvSpPr>
          <p:cNvPr id="72" name="Shape"/>
          <p:cNvSpPr/>
          <p:nvPr/>
        </p:nvSpPr>
        <p:spPr>
          <a:xfrm>
            <a:off x="4857750" y="3295650"/>
            <a:ext cx="133350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3" name="Text"/>
          <p:cNvSpPr txBox="1"/>
          <p:nvPr/>
        </p:nvSpPr>
        <p:spPr>
          <a:xfrm>
            <a:off x="4914900" y="33432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0.976</a:t>
            </a:r>
          </a:p>
        </p:txBody>
      </p:sp>
      <p:sp>
        <p:nvSpPr>
          <p:cNvPr id="74" name="Shape"/>
          <p:cNvSpPr/>
          <p:nvPr/>
        </p:nvSpPr>
        <p:spPr>
          <a:xfrm>
            <a:off x="6191250" y="3295650"/>
            <a:ext cx="1333500" cy="34290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5" name="Text"/>
          <p:cNvSpPr txBox="1"/>
          <p:nvPr/>
        </p:nvSpPr>
        <p:spPr>
          <a:xfrm>
            <a:off x="6248399" y="33432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5803D"/>
                </a:solidFill>
              </a:rPr>
              <a:t>0.029</a:t>
            </a:r>
          </a:p>
        </p:txBody>
      </p:sp>
      <p:sp>
        <p:nvSpPr>
          <p:cNvPr id="76" name="Shape"/>
          <p:cNvSpPr/>
          <p:nvPr/>
        </p:nvSpPr>
        <p:spPr>
          <a:xfrm>
            <a:off x="666750" y="3638550"/>
            <a:ext cx="161925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7" name="Text"/>
          <p:cNvSpPr txBox="1"/>
          <p:nvPr/>
        </p:nvSpPr>
        <p:spPr>
          <a:xfrm>
            <a:off x="723900" y="3686175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rtvae</a:t>
            </a:r>
          </a:p>
        </p:txBody>
      </p:sp>
      <p:sp>
        <p:nvSpPr>
          <p:cNvPr id="78" name="Shape"/>
          <p:cNvSpPr/>
          <p:nvPr/>
        </p:nvSpPr>
        <p:spPr>
          <a:xfrm>
            <a:off x="2286000" y="3638550"/>
            <a:ext cx="11430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9" name="Text"/>
          <p:cNvSpPr txBox="1"/>
          <p:nvPr/>
        </p:nvSpPr>
        <p:spPr>
          <a:xfrm>
            <a:off x="2343150" y="3686175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0.325</a:t>
            </a:r>
          </a:p>
        </p:txBody>
      </p:sp>
      <p:sp>
        <p:nvSpPr>
          <p:cNvPr id="80" name="Shape"/>
          <p:cNvSpPr/>
          <p:nvPr/>
        </p:nvSpPr>
        <p:spPr>
          <a:xfrm>
            <a:off x="3429000" y="3638550"/>
            <a:ext cx="142875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81" name="Text"/>
          <p:cNvSpPr txBox="1"/>
          <p:nvPr/>
        </p:nvSpPr>
        <p:spPr>
          <a:xfrm>
            <a:off x="3486150" y="3686175"/>
            <a:ext cx="13144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0.226</a:t>
            </a:r>
          </a:p>
        </p:txBody>
      </p:sp>
      <p:sp>
        <p:nvSpPr>
          <p:cNvPr id="82" name="Shape"/>
          <p:cNvSpPr/>
          <p:nvPr/>
        </p:nvSpPr>
        <p:spPr>
          <a:xfrm>
            <a:off x="4857750" y="3638550"/>
            <a:ext cx="13335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83" name="Text"/>
          <p:cNvSpPr txBox="1"/>
          <p:nvPr/>
        </p:nvSpPr>
        <p:spPr>
          <a:xfrm>
            <a:off x="4914900" y="36861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0.980</a:t>
            </a:r>
          </a:p>
        </p:txBody>
      </p:sp>
      <p:sp>
        <p:nvSpPr>
          <p:cNvPr id="84" name="Shape"/>
          <p:cNvSpPr/>
          <p:nvPr/>
        </p:nvSpPr>
        <p:spPr>
          <a:xfrm>
            <a:off x="6191250" y="3638550"/>
            <a:ext cx="1333500" cy="34290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85" name="Text"/>
          <p:cNvSpPr txBox="1"/>
          <p:nvPr/>
        </p:nvSpPr>
        <p:spPr>
          <a:xfrm>
            <a:off x="6248399" y="3686175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5803D"/>
                </a:solidFill>
              </a:rPr>
              <a:t>0.032</a:t>
            </a:r>
          </a:p>
        </p:txBody>
      </p:sp>
      <p:sp>
        <p:nvSpPr>
          <p:cNvPr id="86" name="Text"/>
          <p:cNvSpPr txBox="1"/>
          <p:nvPr/>
        </p:nvSpPr>
        <p:spPr>
          <a:xfrm>
            <a:off x="7810500" y="1333500"/>
            <a:ext cx="2476500" cy="3238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700" dirty="0">
                <a:solidFill>
                  <a:srgbClr val="0F172A"/>
                </a:solidFill>
                <a:b/>
              </a:rPr>
              <a:t>Readout</a:t>
            </a:r>
          </a:p>
        </p:txBody>
      </p:sp>
      <p:sp>
        <p:nvSpPr>
          <p:cNvPr id="87" name="Text"/>
          <p:cNvSpPr txBox="1"/>
          <p:nvPr/>
        </p:nvSpPr>
        <p:spPr>
          <a:xfrm>
            <a:off x="7810500" y="1809750"/>
            <a:ext cx="3333750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250" dirty="0">
                <a:solidFill>
                  <a:srgbClr val="334155"/>
                </a:solidFill>
              </a:rPr>
              <a:t>SMOTE is hardest to distinguish from real data.</a:t>
            </a:r>
          </a:p>
          <a:p>
            <a:pPr algn="l"/>
            <a:r>
              <a:rPr lang="en-US" sz="1250" dirty="0">
                <a:solidFill>
                  <a:srgbClr val="334155"/>
                </a:solidFill>
              </a:rPr>
              <a:t/>
            </a:r>
          </a:p>
          <a:p>
            <a:pPr algn="l"/>
            <a:r>
              <a:rPr lang="en-US" sz="1250" dirty="0">
                <a:solidFill>
                  <a:srgbClr val="334155"/>
                </a:solidFill>
              </a:rPr>
              <a:t>TabPFGen preserves correlations well and avoids exact duplicates, but remains detectable.</a:t>
            </a:r>
          </a:p>
          <a:p>
            <a:pPr algn="l"/>
            <a:r>
              <a:rPr lang="en-US" sz="1250" dirty="0">
                <a:solidFill>
                  <a:srgbClr val="334155"/>
                </a:solidFill>
              </a:rPr>
              <a:t/>
            </a:r>
          </a:p>
          <a:p>
            <a:pPr algn="l"/>
            <a:r>
              <a:rPr lang="en-US" sz="1250" dirty="0">
                <a:solidFill>
                  <a:srgbClr val="334155"/>
                </a:solidFill>
              </a:rPr>
              <a:t>That supports a utility-first interpretation rather than a perfect-realism claim.</a:t>
            </a:r>
          </a:p>
        </p:txBody>
      </p:sp>
      <p:sp>
        <p:nvSpPr>
          <p:cNvPr id="88" name="Text"/>
          <p:cNvSpPr txBox="1"/>
          <p:nvPr/>
        </p:nvSpPr>
        <p:spPr>
          <a:xfrm>
            <a:off x="571500" y="65722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Source: outputs/analysis CSVs and reproduction scripts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"/>
          <p:cNvSpPr txBox="1"/>
          <p:nvPr/>
        </p:nvSpPr>
        <p:spPr>
          <a:xfrm>
            <a:off x="571500" y="419100"/>
            <a:ext cx="9334500" cy="552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3000" dirty="0">
                <a:solidFill>
                  <a:srgbClr val="0F172A"/>
                </a:solidFill>
                <a:b/>
              </a:rPr>
              <a:t>Diabetes failure diagnosis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590550" y="990599"/>
            <a:ext cx="89535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00" dirty="0">
                <a:solidFill>
                  <a:srgbClr val="64748B"/>
                </a:solidFill>
              </a:rPr>
              <a:t>Blank feature columns point to non-finite synthetic values</a:t>
            </a:r>
          </a:p>
        </p:txBody>
      </p:sp>
      <p:sp>
        <p:nvSpPr>
          <p:cNvPr id="6" name="Shape"/>
          <p:cNvSpPr/>
          <p:nvPr/>
        </p:nvSpPr>
        <p:spPr>
          <a:xfrm>
            <a:off x="762000" y="1381125"/>
            <a:ext cx="4476750" cy="904875"/>
          </a:xfrm>
          <a:prstGeom prst="roundRect">
            <a:avLst/>
          </a:prstGeom>
          <a:solidFill>
            <a:srgbClr val="FEF2F2"/>
          </a:solidFill>
          <a:ln w="10000">
            <a:solidFill>
              <a:srgbClr val="FECACA"/>
            </a:solidFill>
          </a:ln>
        </p:spPr>
        <p:txBody>
          <a:bodyPr/>
          <a:lstStyle/>
          <a:p/>
        </p:txBody>
      </p:sp>
      <p:sp>
        <p:nvSpPr>
          <p:cNvPr id="7" name="Text"/>
          <p:cNvSpPr txBox="1"/>
          <p:nvPr/>
        </p:nvSpPr>
        <p:spPr>
          <a:xfrm>
            <a:off x="1000125" y="1581150"/>
            <a:ext cx="39052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50" dirty="0">
                <a:solidFill>
                  <a:srgbClr val="991B1B"/>
                </a:solidFill>
                <a:b/>
              </a:rPr>
              <a:t>Observed file pattern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1000125" y="1943100"/>
            <a:ext cx="381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00" dirty="0">
                <a:solidFill>
                  <a:srgbClr val="7F1D1D"/>
                </a:solidFill>
              </a:rPr>
              <a:t>,,,,,,,,tested_negative</a:t>
            </a:r>
          </a:p>
        </p:txBody>
      </p:sp>
      <p:sp>
        <p:nvSpPr>
          <p:cNvPr id="9" name="Shape"/>
          <p:cNvSpPr/>
          <p:nvPr/>
        </p:nvSpPr>
        <p:spPr>
          <a:xfrm>
            <a:off x="6143625" y="1381125"/>
            <a:ext cx="4476750" cy="904875"/>
          </a:xfrm>
          <a:prstGeom prst="roundRect">
            <a:avLst/>
          </a:prstGeom>
          <a:solidFill>
            <a:srgbClr val="EFF6FF"/>
          </a:solidFill>
          <a:ln w="10000">
            <a:solidFill>
              <a:srgbClr val="BFDBFE"/>
            </a:solidFill>
          </a:ln>
        </p:spPr>
        <p:txBody>
          <a:bodyPr/>
          <a:lstStyle/>
          <a:p/>
        </p:txBody>
      </p:sp>
      <p:sp>
        <p:nvSpPr>
          <p:cNvPr id="10" name="Text"/>
          <p:cNvSpPr txBox="1"/>
          <p:nvPr/>
        </p:nvSpPr>
        <p:spPr>
          <a:xfrm>
            <a:off x="6381750" y="1581150"/>
            <a:ext cx="3905250" cy="247649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50" dirty="0">
                <a:solidFill>
                  <a:srgbClr val="1E40AF"/>
                </a:solidFill>
                <a:b/>
              </a:rPr>
              <a:t>Likely cause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381750" y="1943100"/>
            <a:ext cx="381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200" dirty="0">
                <a:solidFill>
                  <a:srgbClr val="1E3A8A"/>
                </a:solidFill>
              </a:rPr>
              <a:t>SGLD produced NaN features; labels still wrote correctly</a:t>
            </a:r>
          </a:p>
        </p:txBody>
      </p:sp>
      <p:sp>
        <p:nvSpPr>
          <p:cNvPr id="12" name="Shape"/>
          <p:cNvSpPr/>
          <p:nvPr/>
        </p:nvSpPr>
        <p:spPr>
          <a:xfrm>
            <a:off x="809625" y="3381375"/>
            <a:ext cx="1809750" cy="762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23924" y="3543300"/>
            <a:ext cx="15811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</a:rPr>
              <a:t>Energy or gradient</a:t>
            </a:r>
          </a:p>
          <a:p>
            <a:pPr algn="ctr"/>
            <a:r>
              <a:rPr lang="en-US" sz="1050" dirty="0">
                <a:solidFill>
                  <a:srgbClr val="111827"/>
                </a:solidFill>
              </a:rPr>
              <a:t>becomes non-finite</a:t>
            </a:r>
          </a:p>
        </p:txBody>
      </p:sp>
      <p:cxnSp>
        <p:nvCxnSpPr>
          <p:cNvPr id="14" name="Line"/>
          <p:cNvCxnSpPr/>
          <p:nvPr/>
        </p:nvCxnSpPr>
        <p:spPr>
          <a:xfrm>
            <a:off x="2667000" y="3762375"/>
            <a:ext cx="476250" cy="0"/>
          </a:xfrm>
          <a:prstGeom prst="line">
            <a:avLst/>
          </a:prstGeom>
          <a:ln w="16000">
            <a:solidFill>
              <a:srgbClr val="64748B"/>
            </a:solidFill>
          </a:ln>
        </p:spPr>
      </p:cxnSp>
      <p:sp>
        <p:nvSpPr>
          <p:cNvPr id="15" name="Shape"/>
          <p:cNvSpPr/>
          <p:nvPr/>
        </p:nvSpPr>
        <p:spPr>
          <a:xfrm>
            <a:off x="3190875" y="3381375"/>
            <a:ext cx="1809750" cy="762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3305175" y="3543300"/>
            <a:ext cx="15811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</a:rPr>
              <a:t>Sample update</a:t>
            </a:r>
          </a:p>
          <a:p>
            <a:pPr algn="ctr"/>
            <a:r>
              <a:rPr lang="en-US" sz="1050" dirty="0">
                <a:solidFill>
                  <a:srgbClr val="111827"/>
                </a:solidFill>
              </a:rPr>
              <a:t>becomes non-finite</a:t>
            </a:r>
          </a:p>
        </p:txBody>
      </p:sp>
      <p:cxnSp>
        <p:nvCxnSpPr>
          <p:cNvPr id="17" name="Line"/>
          <p:cNvCxnSpPr/>
          <p:nvPr/>
        </p:nvCxnSpPr>
        <p:spPr>
          <a:xfrm>
            <a:off x="5048250" y="3762375"/>
            <a:ext cx="476250" cy="0"/>
          </a:xfrm>
          <a:prstGeom prst="line">
            <a:avLst/>
          </a:prstGeom>
          <a:ln w="16000">
            <a:solidFill>
              <a:srgbClr val="64748B"/>
            </a:solidFill>
          </a:ln>
        </p:spPr>
      </p:cxnSp>
      <p:sp>
        <p:nvSpPr>
          <p:cNvPr id="18" name="Shape"/>
          <p:cNvSpPr/>
          <p:nvPr/>
        </p:nvSpPr>
        <p:spPr>
          <a:xfrm>
            <a:off x="5572125" y="3381375"/>
            <a:ext cx="1809750" cy="762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5686425" y="3543300"/>
            <a:ext cx="15811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</a:rPr>
              <a:t>Inverse scaling</a:t>
            </a:r>
          </a:p>
          <a:p>
            <a:pPr algn="ctr"/>
            <a:r>
              <a:rPr lang="en-US" sz="1050" dirty="0">
                <a:solidFill>
                  <a:srgbClr val="111827"/>
                </a:solidFill>
              </a:rPr>
              <a:t>returns NaNs</a:t>
            </a:r>
          </a:p>
        </p:txBody>
      </p:sp>
      <p:cxnSp>
        <p:nvCxnSpPr>
          <p:cNvPr id="20" name="Line"/>
          <p:cNvCxnSpPr/>
          <p:nvPr/>
        </p:nvCxnSpPr>
        <p:spPr>
          <a:xfrm>
            <a:off x="7429500" y="3762375"/>
            <a:ext cx="476250" cy="0"/>
          </a:xfrm>
          <a:prstGeom prst="line">
            <a:avLst/>
          </a:prstGeom>
          <a:ln w="16000">
            <a:solidFill>
              <a:srgbClr val="64748B"/>
            </a:solidFill>
          </a:ln>
        </p:spPr>
      </p:cxnSp>
      <p:sp>
        <p:nvSpPr>
          <p:cNvPr id="21" name="Shape"/>
          <p:cNvSpPr/>
          <p:nvPr/>
        </p:nvSpPr>
        <p:spPr>
          <a:xfrm>
            <a:off x="7953375" y="3381375"/>
            <a:ext cx="1809750" cy="762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8067675" y="3543300"/>
            <a:ext cx="15811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</a:rPr>
              <a:t>CSV writer emits</a:t>
            </a:r>
          </a:p>
          <a:p>
            <a:pPr algn="ctr"/>
            <a:r>
              <a:rPr lang="en-US" sz="1050" dirty="0">
                <a:solidFill>
                  <a:srgbClr val="111827"/>
                </a:solidFill>
              </a:rPr>
              <a:t>empty fields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04875" y="4905375"/>
            <a:ext cx="9334500" cy="3238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450" dirty="0">
                <a:solidFill>
                  <a:srgbClr val="0F172A"/>
                </a:solidFill>
                <a:b/>
              </a:rPr>
              <a:t>Fix added: fail fast, retry with smaller step/noise, and record fallback metadata.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71500" y="65722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Source: outputs/analysis CSVs and reproduction scripts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"/>
          <p:cNvSpPr txBox="1"/>
          <p:nvPr/>
        </p:nvSpPr>
        <p:spPr>
          <a:xfrm>
            <a:off x="571500" y="419100"/>
            <a:ext cx="9334500" cy="552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3000" dirty="0">
                <a:solidFill>
                  <a:srgbClr val="0F172A"/>
                </a:solidFill>
                <a:b/>
              </a:rPr>
              <a:t>CTGAN repeat experiment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590550" y="990599"/>
            <a:ext cx="89535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00" dirty="0">
                <a:solidFill>
                  <a:srgbClr val="64748B"/>
                </a:solidFill>
              </a:rPr>
              <a:t>Separate generator instability from implementation error</a:t>
            </a:r>
          </a:p>
        </p:txBody>
      </p:sp>
      <p:sp>
        <p:nvSpPr>
          <p:cNvPr id="6" name="Shape"/>
          <p:cNvSpPr/>
          <p:nvPr/>
        </p:nvSpPr>
        <p:spPr>
          <a:xfrm>
            <a:off x="857250" y="1428750"/>
            <a:ext cx="2000250" cy="104775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7" name="Text"/>
          <p:cNvSpPr txBox="1"/>
          <p:nvPr/>
        </p:nvSpPr>
        <p:spPr>
          <a:xfrm>
            <a:off x="1028700" y="1619250"/>
            <a:ext cx="1657349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2500" dirty="0">
                <a:solidFill>
                  <a:srgbClr val="2563EB"/>
                </a:solidFill>
                <a:b/>
              </a:rPr>
              <a:t>3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1028700" y="2038350"/>
            <a:ext cx="1657349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050" dirty="0">
                <a:solidFill>
                  <a:srgbClr val="475569"/>
                </a:solidFill>
              </a:rPr>
              <a:t>dataset split seeds</a:t>
            </a:r>
          </a:p>
        </p:txBody>
      </p:sp>
      <p:sp>
        <p:nvSpPr>
          <p:cNvPr id="9" name="Shape"/>
          <p:cNvSpPr/>
          <p:nvPr/>
        </p:nvSpPr>
        <p:spPr>
          <a:xfrm>
            <a:off x="3238500" y="1428750"/>
            <a:ext cx="2190750" cy="104775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0" name="Text"/>
          <p:cNvSpPr txBox="1"/>
          <p:nvPr/>
        </p:nvSpPr>
        <p:spPr>
          <a:xfrm>
            <a:off x="3409949" y="1619250"/>
            <a:ext cx="1847849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2500" dirty="0">
                <a:solidFill>
                  <a:srgbClr val="2563EB"/>
                </a:solidFill>
                <a:b/>
              </a:rPr>
              <a:t>10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3409949" y="2038350"/>
            <a:ext cx="1847849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050" dirty="0">
                <a:solidFill>
                  <a:srgbClr val="475569"/>
                </a:solidFill>
              </a:rPr>
              <a:t>CTGAN seeds per split</a:t>
            </a:r>
          </a:p>
        </p:txBody>
      </p:sp>
      <p:sp>
        <p:nvSpPr>
          <p:cNvPr id="12" name="Shape"/>
          <p:cNvSpPr/>
          <p:nvPr/>
        </p:nvSpPr>
        <p:spPr>
          <a:xfrm>
            <a:off x="5810250" y="1428750"/>
            <a:ext cx="2000250" cy="104775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981700" y="1619250"/>
            <a:ext cx="1657349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2500" dirty="0">
                <a:solidFill>
                  <a:srgbClr val="2563EB"/>
                </a:solidFill>
                <a:b/>
              </a:rPr>
              <a:t>540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981700" y="2038350"/>
            <a:ext cx="1657349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050" dirty="0">
                <a:solidFill>
                  <a:srgbClr val="475569"/>
                </a:solidFill>
              </a:rPr>
              <a:t>generator jobs</a:t>
            </a:r>
          </a:p>
        </p:txBody>
      </p:sp>
      <p:sp>
        <p:nvSpPr>
          <p:cNvPr id="15" name="Shape"/>
          <p:cNvSpPr/>
          <p:nvPr/>
        </p:nvSpPr>
        <p:spPr>
          <a:xfrm>
            <a:off x="8191500" y="1428750"/>
            <a:ext cx="2190750" cy="104775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8362950" y="1619250"/>
            <a:ext cx="1847849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2500" dirty="0">
                <a:solidFill>
                  <a:srgbClr val="2563EB"/>
                </a:solidFill>
                <a:b/>
              </a:rPr>
              <a:t>4,320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362950" y="2038350"/>
            <a:ext cx="1847849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050" dirty="0">
                <a:solidFill>
                  <a:srgbClr val="475569"/>
                </a:solidFill>
              </a:rPr>
              <a:t>evaluation jobs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952500" y="3143250"/>
            <a:ext cx="22860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600" dirty="0">
                <a:solidFill>
                  <a:srgbClr val="0F172A"/>
                </a:solidFill>
                <a:b/>
              </a:rPr>
              <a:t>Summary output</a:t>
            </a:r>
          </a:p>
        </p:txBody>
      </p:sp>
      <p:sp>
        <p:nvSpPr>
          <p:cNvPr id="19" name="Shape"/>
          <p:cNvSpPr/>
          <p:nvPr/>
        </p:nvSpPr>
        <p:spPr>
          <a:xfrm>
            <a:off x="952500" y="3619500"/>
            <a:ext cx="2000250" cy="36195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20" name="Text"/>
          <p:cNvSpPr txBox="1"/>
          <p:nvPr/>
        </p:nvSpPr>
        <p:spPr>
          <a:xfrm>
            <a:off x="1009650" y="3676650"/>
            <a:ext cx="1885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Report</a:t>
            </a:r>
          </a:p>
        </p:txBody>
      </p:sp>
      <p:sp>
        <p:nvSpPr>
          <p:cNvPr id="21" name="Shape"/>
          <p:cNvSpPr/>
          <p:nvPr/>
        </p:nvSpPr>
        <p:spPr>
          <a:xfrm>
            <a:off x="2952750" y="3619500"/>
            <a:ext cx="5715000" cy="361950"/>
          </a:xfrm>
          <a:prstGeom prst="rect">
            <a:avLst/>
          </a:prstGeom>
          <a:solidFill>
            <a:srgbClr val="DBEAFE"/>
          </a:solidFill>
          <a:ln w="10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3009900" y="3676650"/>
            <a:ext cx="56007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50" dirty="0">
                <a:solidFill>
                  <a:srgbClr val="1E3A8A"/>
                </a:solidFill>
                <a:b/>
              </a:rPr>
              <a:t>Meaning</a:t>
            </a:r>
          </a:p>
        </p:txBody>
      </p:sp>
      <p:sp>
        <p:nvSpPr>
          <p:cNvPr id="23" name="Shape"/>
          <p:cNvSpPr/>
          <p:nvPr/>
        </p:nvSpPr>
        <p:spPr>
          <a:xfrm>
            <a:off x="952500" y="3981450"/>
            <a:ext cx="2000250" cy="3619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1009650" y="4029075"/>
            <a:ext cx="18859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mean AUC</a:t>
            </a:r>
          </a:p>
        </p:txBody>
      </p:sp>
      <p:sp>
        <p:nvSpPr>
          <p:cNvPr id="25" name="Shape"/>
          <p:cNvSpPr/>
          <p:nvPr/>
        </p:nvSpPr>
        <p:spPr>
          <a:xfrm>
            <a:off x="2952750" y="3981450"/>
            <a:ext cx="5715000" cy="3619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3009900" y="4029075"/>
            <a:ext cx="5600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Expected CTGAN behavior across seeds</a:t>
            </a:r>
          </a:p>
        </p:txBody>
      </p:sp>
      <p:sp>
        <p:nvSpPr>
          <p:cNvPr id="27" name="Shape"/>
          <p:cNvSpPr/>
          <p:nvPr/>
        </p:nvSpPr>
        <p:spPr>
          <a:xfrm>
            <a:off x="952500" y="4343400"/>
            <a:ext cx="2000250" cy="3619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1009650" y="4391025"/>
            <a:ext cx="18859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best AUC</a:t>
            </a:r>
          </a:p>
        </p:txBody>
      </p:sp>
      <p:sp>
        <p:nvSpPr>
          <p:cNvPr id="29" name="Shape"/>
          <p:cNvSpPr/>
          <p:nvPr/>
        </p:nvSpPr>
        <p:spPr>
          <a:xfrm>
            <a:off x="2952750" y="4343400"/>
            <a:ext cx="5715000" cy="3619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0" name="Text"/>
          <p:cNvSpPr txBox="1"/>
          <p:nvPr/>
        </p:nvSpPr>
        <p:spPr>
          <a:xfrm>
            <a:off x="3009900" y="4391025"/>
            <a:ext cx="5600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How close a lucky run gets to the paper</a:t>
            </a:r>
          </a:p>
        </p:txBody>
      </p:sp>
      <p:sp>
        <p:nvSpPr>
          <p:cNvPr id="31" name="Shape"/>
          <p:cNvSpPr/>
          <p:nvPr/>
        </p:nvSpPr>
        <p:spPr>
          <a:xfrm>
            <a:off x="952500" y="4705350"/>
            <a:ext cx="2000250" cy="3619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2" name="Text"/>
          <p:cNvSpPr txBox="1"/>
          <p:nvPr/>
        </p:nvSpPr>
        <p:spPr>
          <a:xfrm>
            <a:off x="1009650" y="4752975"/>
            <a:ext cx="18859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worst AUC</a:t>
            </a:r>
          </a:p>
        </p:txBody>
      </p:sp>
      <p:sp>
        <p:nvSpPr>
          <p:cNvPr id="33" name="Shape"/>
          <p:cNvSpPr/>
          <p:nvPr/>
        </p:nvSpPr>
        <p:spPr>
          <a:xfrm>
            <a:off x="2952750" y="4705350"/>
            <a:ext cx="5715000" cy="361950"/>
          </a:xfrm>
          <a:prstGeom prst="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3009900" y="4752975"/>
            <a:ext cx="5600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Instability bound</a:t>
            </a:r>
          </a:p>
        </p:txBody>
      </p:sp>
      <p:sp>
        <p:nvSpPr>
          <p:cNvPr id="35" name="Shape"/>
          <p:cNvSpPr/>
          <p:nvPr/>
        </p:nvSpPr>
        <p:spPr>
          <a:xfrm>
            <a:off x="952500" y="5067300"/>
            <a:ext cx="2000250" cy="3619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6" name="Text"/>
          <p:cNvSpPr txBox="1"/>
          <p:nvPr/>
        </p:nvSpPr>
        <p:spPr>
          <a:xfrm>
            <a:off x="1009650" y="5114925"/>
            <a:ext cx="18859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std AUC</a:t>
            </a:r>
          </a:p>
        </p:txBody>
      </p:sp>
      <p:sp>
        <p:nvSpPr>
          <p:cNvPr id="37" name="Shape"/>
          <p:cNvSpPr/>
          <p:nvPr/>
        </p:nvSpPr>
        <p:spPr>
          <a:xfrm>
            <a:off x="2952750" y="5067300"/>
            <a:ext cx="5715000" cy="361950"/>
          </a:xfrm>
          <a:prstGeom prst="rect">
            <a:avLst/>
          </a:prstGeom>
          <a:solidFill>
            <a:srgbClr val="F8FAFC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8" name="Text"/>
          <p:cNvSpPr txBox="1"/>
          <p:nvPr/>
        </p:nvSpPr>
        <p:spPr>
          <a:xfrm>
            <a:off x="3009900" y="5114925"/>
            <a:ext cx="5600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>
                <a:solidFill>
                  <a:srgbClr val="111827"/>
                </a:solidFill>
              </a:rPr>
              <a:t>Seed sensitivity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952500" y="5905500"/>
            <a:ext cx="80962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150" dirty="0">
                <a:solidFill>
                  <a:srgbClr val="475569"/>
                </a:solidFill>
              </a:rPr>
              <a:t>Run: bash scripts/slurm/submit_ctgan_repeats_pipeline.sh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571500" y="65722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Source: outputs/analysis CSVs and reproduction scripts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"/>
          <p:cNvSpPr txBox="1"/>
          <p:nvPr/>
        </p:nvSpPr>
        <p:spPr>
          <a:xfrm>
            <a:off x="571500" y="419100"/>
            <a:ext cx="9334500" cy="552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3000" dirty="0">
                <a:solidFill>
                  <a:srgbClr val="0F172A"/>
                </a:solidFill>
                <a:b/>
              </a:rPr>
              <a:t>Missing-row rerun plan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590550" y="990599"/>
            <a:ext cx="89535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00" dirty="0">
                <a:solidFill>
                  <a:srgbClr val="64748B"/>
                </a:solidFill>
              </a:rPr>
              <a:t>Small targeted rerun before final claims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762000" y="1333500"/>
            <a:ext cx="4095750" cy="3238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800" dirty="0">
                <a:solidFill>
                  <a:srgbClr val="0F172A"/>
                </a:solidFill>
                <a:b/>
              </a:rPr>
              <a:t>13 missing downstream cells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857250" y="1857374"/>
            <a:ext cx="3524250" cy="666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400" dirty="0">
                <a:solidFill>
                  <a:srgbClr val="334155"/>
                </a:solidFill>
              </a:rPr>
              <a:t>9 TabPFGen diabetes cells</a:t>
            </a:r>
          </a:p>
          <a:p>
            <a:pPr algn="l"/>
            <a:r>
              <a:rPr lang="en-US" sz="1400" dirty="0">
                <a:solidFill>
                  <a:srgbClr val="334155"/>
                </a:solidFill>
              </a:rPr>
              <a:t>4 CTGAN climate-model cells</a:t>
            </a:r>
          </a:p>
        </p:txBody>
      </p:sp>
      <p:sp>
        <p:nvSpPr>
          <p:cNvPr id="8" name="Shape"/>
          <p:cNvSpPr/>
          <p:nvPr/>
        </p:nvSpPr>
        <p:spPr>
          <a:xfrm>
            <a:off x="5619750" y="1428750"/>
            <a:ext cx="2476500" cy="104775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9" name="Text"/>
          <p:cNvSpPr txBox="1"/>
          <p:nvPr/>
        </p:nvSpPr>
        <p:spPr>
          <a:xfrm>
            <a:off x="5791200" y="1619250"/>
            <a:ext cx="21336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2500" dirty="0">
                <a:solidFill>
                  <a:srgbClr val="DC2626"/>
                </a:solidFill>
                <a:b/>
              </a:rPr>
              <a:t>3 jobs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5791200" y="20383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050" dirty="0">
                <a:solidFill>
                  <a:srgbClr val="475569"/>
                </a:solidFill>
              </a:rPr>
              <a:t>TabPFGen diabetes generation</a:t>
            </a:r>
          </a:p>
        </p:txBody>
      </p:sp>
      <p:sp>
        <p:nvSpPr>
          <p:cNvPr id="11" name="Shape"/>
          <p:cNvSpPr/>
          <p:nvPr/>
        </p:nvSpPr>
        <p:spPr>
          <a:xfrm>
            <a:off x="8477250" y="1428750"/>
            <a:ext cx="2095500" cy="104775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8648700" y="1619250"/>
            <a:ext cx="1752599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2500" dirty="0">
                <a:solidFill>
                  <a:srgbClr val="2563EB"/>
                </a:solidFill>
                <a:b/>
              </a:rPr>
              <a:t>13 jobs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648700" y="2038350"/>
            <a:ext cx="1752599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050" dirty="0">
                <a:solidFill>
                  <a:srgbClr val="475569"/>
                </a:solidFill>
              </a:rPr>
              <a:t>Exact evaluations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57250" y="3333750"/>
            <a:ext cx="72390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250" dirty="0">
                <a:solidFill>
                  <a:srgbClr val="475569"/>
                </a:solidFill>
              </a:rPr>
              <a:t>Run: bash scripts/slurm/submit_table1_missing_rows.sh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857250" y="3857625"/>
            <a:ext cx="87630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50" dirty="0">
                <a:solidFill>
                  <a:srgbClr val="0F172A"/>
                </a:solidFill>
                <a:b/>
              </a:rPr>
              <a:t>After completion, rerun the analysis job to refresh table1_vs_paper.csv and diagnostics.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571500" y="65722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Source: outputs/analysis CSVs and reproduction scripts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"/>
          <p:cNvSpPr txBox="1"/>
          <p:nvPr/>
        </p:nvSpPr>
        <p:spPr>
          <a:xfrm>
            <a:off x="571500" y="419100"/>
            <a:ext cx="9334500" cy="552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3000" dirty="0">
                <a:solidFill>
                  <a:srgbClr val="0F172A"/>
                </a:solidFill>
                <a:b/>
              </a:rPr>
              <a:t>Interpretation to present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590550" y="990599"/>
            <a:ext cx="89535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300" dirty="0">
                <a:solidFill>
                  <a:srgbClr val="64748B"/>
                </a:solidFill>
              </a:rPr>
              <a:t>What the reproduction currently supports</a:t>
            </a:r>
          </a:p>
        </p:txBody>
      </p:sp>
      <p:sp>
        <p:nvSpPr>
          <p:cNvPr id="6" name="Shape"/>
          <p:cNvSpPr/>
          <p:nvPr/>
        </p:nvSpPr>
        <p:spPr>
          <a:xfrm>
            <a:off x="857250" y="1285875"/>
            <a:ext cx="495300" cy="495299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"/>
          <p:cNvSpPr txBox="1"/>
          <p:nvPr/>
        </p:nvSpPr>
        <p:spPr>
          <a:xfrm>
            <a:off x="857250" y="1381125"/>
            <a:ext cx="4953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700" dirty="0">
                <a:solidFill>
                  <a:srgbClr val="1D4ED8"/>
                </a:solidFill>
                <a:b/>
              </a:rPr>
              <a:t>1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1571625" y="1352550"/>
            <a:ext cx="809625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800" dirty="0">
                <a:solidFill>
                  <a:srgbClr val="0F172A"/>
                </a:solidFill>
                <a:b/>
              </a:rPr>
              <a:t>TabPFGen mostly reproduces the paper ranking</a:t>
            </a:r>
          </a:p>
        </p:txBody>
      </p:sp>
      <p:sp>
        <p:nvSpPr>
          <p:cNvPr id="9" name="Shape"/>
          <p:cNvSpPr/>
          <p:nvPr/>
        </p:nvSpPr>
        <p:spPr>
          <a:xfrm>
            <a:off x="857250" y="2286000"/>
            <a:ext cx="495300" cy="495299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"/>
          <p:cNvSpPr txBox="1"/>
          <p:nvPr/>
        </p:nvSpPr>
        <p:spPr>
          <a:xfrm>
            <a:off x="857250" y="2381250"/>
            <a:ext cx="4953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700" dirty="0">
                <a:solidFill>
                  <a:srgbClr val="1D4ED8"/>
                </a:solidFill>
                <a:b/>
              </a:rPr>
              <a:t>2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1571625" y="2352675"/>
            <a:ext cx="809625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800" dirty="0">
                <a:solidFill>
                  <a:srgbClr val="0F172A"/>
                </a:solidFill>
                <a:b/>
              </a:rPr>
              <a:t>Replacement mode is the stress test</a:t>
            </a:r>
          </a:p>
        </p:txBody>
      </p:sp>
      <p:sp>
        <p:nvSpPr>
          <p:cNvPr id="12" name="Shape"/>
          <p:cNvSpPr/>
          <p:nvPr/>
        </p:nvSpPr>
        <p:spPr>
          <a:xfrm>
            <a:off x="857250" y="3286125"/>
            <a:ext cx="495300" cy="495299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857250" y="3381375"/>
            <a:ext cx="4953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700" dirty="0">
                <a:solidFill>
                  <a:srgbClr val="1D4ED8"/>
                </a:solidFill>
                <a:b/>
              </a:rPr>
              <a:t>3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1571625" y="3352800"/>
            <a:ext cx="809625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800" dirty="0">
                <a:solidFill>
                  <a:srgbClr val="0F172A"/>
                </a:solidFill>
                <a:b/>
              </a:rPr>
              <a:t>Utility does not equal distribution matching</a:t>
            </a:r>
          </a:p>
        </p:txBody>
      </p:sp>
      <p:sp>
        <p:nvSpPr>
          <p:cNvPr id="15" name="Shape"/>
          <p:cNvSpPr/>
          <p:nvPr/>
        </p:nvSpPr>
        <p:spPr>
          <a:xfrm>
            <a:off x="857250" y="4286250"/>
            <a:ext cx="495300" cy="495299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857250" y="4381500"/>
            <a:ext cx="4953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700" dirty="0">
                <a:solidFill>
                  <a:srgbClr val="1D4ED8"/>
                </a:solidFill>
                <a:b/>
              </a:rPr>
              <a:t>4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1571625" y="4352925"/>
            <a:ext cx="809625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800" dirty="0">
                <a:solidFill>
                  <a:srgbClr val="0F172A"/>
                </a:solidFill>
                <a:b/>
              </a:rPr>
              <a:t>Numerical stability is the main TabPFGen risk now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57250" y="5810250"/>
            <a:ext cx="93345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1250" dirty="0">
                <a:solidFill>
                  <a:srgbClr val="475569"/>
                </a:solidFill>
              </a:rPr>
              <a:t>Use this deck after rerunning the 13 cells and CTGAN repeats; the structure is ready, the numbers should be refreshed.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571500" y="65722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Source: outputs/analysis CSVs and reproduction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bPFGen">
  <a:themeElements>
    <a:clrScheme name="TabPFGen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891B2"/>
      </a:accent2>
      <a:accent3>
        <a:srgbClr val="16A34A"/>
      </a:accent3>
      <a:accent4>
        <a:srgbClr val="F59E0B"/>
      </a:accent4>
      <a:accent5>
        <a:srgbClr val="DC2626"/>
      </a:accent5>
      <a:accent6>
        <a:srgbClr val="7C3AED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TabPFGen reproduction results visual</dc:title>
  <dc:creator>Codex</dc:creator>
  <cp:lastModifiedBy>Codex</cp:lastModifiedBy>
</cp:coreProperties>
</file>