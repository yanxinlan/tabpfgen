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slideMaster1.xml"/><Relationship Id="rId1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Box"/>
          <p:cNvSpPr txBox="1"/>
          <p:nvPr/>
        </p:nvSpPr>
        <p:spPr>
          <a:xfrm>
            <a:off x="762000" y="161925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rgbClr val="0F172A"/>
                </a:solidFill>
                <a:b/>
              </a:rPr>
              <a:t>TabPFGen reproduction results</a:t>
            </a:r>
            <a:endParaRPr lang="en-US" sz="4200" dirty="0"/>
          </a:p>
        </p:txBody>
      </p:sp>
      <p:sp>
        <p:nvSpPr>
          <p:cNvPr id="5" name="Text Box"/>
          <p:cNvSpPr txBox="1"/>
          <p:nvPr/>
        </p:nvSpPr>
        <p:spPr>
          <a:xfrm>
            <a:off x="781049" y="295275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rgbClr val="475569"/>
                </a:solidFill>
              </a:rPr>
              <a:t>OpenML-CC18 Table 1 rerun and diagnostic readout</a:t>
            </a:r>
            <a:endParaRPr lang="en-US" sz="2100" dirty="0"/>
          </a:p>
          <a:p>
            <a:r>
              <a:rPr lang="en-US" sz="2100" dirty="0">
                <a:solidFill>
                  <a:srgbClr val="475569"/>
                </a:solidFill>
              </a:rPr>
              <a:t>Generated from analysis outputs on 7 Oct 2026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 txBox="1"/>
          <p:nvPr/>
        </p:nvSpPr>
        <p:spPr>
          <a:xfrm>
            <a:off x="523875" y="4000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F172A"/>
                </a:solidFill>
                <a:b/>
              </a:rPr>
              <a:t>Reproduction status</a:t>
            </a:r>
            <a:endParaRPr lang="en-US" sz="3200" dirty="0"/>
          </a:p>
        </p:txBody>
      </p:sp>
      <p:sp>
        <p:nvSpPr>
          <p:cNvPr id="3" name="Text Box"/>
          <p:cNvSpPr txBox="1"/>
          <p:nvPr/>
        </p:nvSpPr>
        <p:spPr>
          <a:xfrm>
            <a:off x="762000" y="12382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3227 downstream metric files found; 13 of 3240 planned cells are still missing</a:t>
            </a:r>
            <a:endParaRPr lang="en-US" sz="1900" dirty="0"/>
          </a:p>
        </p:txBody>
      </p:sp>
      <p:sp>
        <p:nvSpPr>
          <p:cNvPr id="4" name="Text Box"/>
          <p:cNvSpPr txBox="1"/>
          <p:nvPr/>
        </p:nvSpPr>
        <p:spPr>
          <a:xfrm>
            <a:off x="762000" y="18859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TabPFGen aligns reasonably with the paper average, but XGB and RF replacement remain low</a:t>
            </a:r>
            <a:endParaRPr lang="en-US" sz="1900" dirty="0"/>
          </a:p>
        </p:txBody>
      </p:sp>
      <p:sp>
        <p:nvSpPr>
          <p:cNvPr id="5" name="Text Box"/>
          <p:cNvSpPr txBox="1"/>
          <p:nvPr/>
        </p:nvSpPr>
        <p:spPr>
          <a:xfrm>
            <a:off x="762000" y="25336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CTGAN replacement is far below the paper table, consistent with unstable generator training</a:t>
            </a:r>
            <a:endParaRPr lang="en-US" sz="1900" dirty="0"/>
          </a:p>
        </p:txBody>
      </p:sp>
      <p:sp>
        <p:nvSpPr>
          <p:cNvPr id="6" name="Text Box"/>
          <p:cNvSpPr txBox="1"/>
          <p:nvPr/>
        </p:nvSpPr>
        <p:spPr>
          <a:xfrm>
            <a:off x="762000" y="31813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Diabetes TabPFGen output exposed numerical instability: labels remain, feature columns become blank</a:t>
            </a:r>
            <a:endParaRPr lang="en-US" sz="1900" dirty="0"/>
          </a:p>
        </p:txBody>
      </p:sp>
      <p:sp>
        <p:nvSpPr>
          <p:cNvPr id="7" name="Text Box"/>
          <p:cNvSpPr txBox="1"/>
          <p:nvPr/>
        </p:nvSpPr>
        <p:spPr>
          <a:xfrm>
            <a:off x="523875" y="6429375"/>
            <a:ext cx="9525000" cy="2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4748B"/>
                </a:solidFill>
              </a:rPr>
              <a:t>Source: outputs/analysis CSVs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 txBox="1"/>
          <p:nvPr/>
        </p:nvSpPr>
        <p:spPr>
          <a:xfrm>
            <a:off x="523875" y="4000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F172A"/>
                </a:solidFill>
                <a:b/>
              </a:rPr>
              <a:t>Paper Table 1 comparison</a:t>
            </a:r>
            <a:endParaRPr lang="en-US" sz="3200" dirty="0"/>
          </a:p>
        </p:txBody>
      </p:sp>
      <p:sp>
        <p:nvSpPr>
          <p:cNvPr id="3" name="Text Box"/>
          <p:cNvSpPr txBox="1"/>
          <p:nvPr/>
        </p:nvSpPr>
        <p:spPr>
          <a:xfrm>
            <a:off x="762000" y="12382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Average absolute gap for augmentation cells: 0.007 AUC</a:t>
            </a:r>
            <a:endParaRPr lang="en-US" sz="1900" dirty="0"/>
          </a:p>
        </p:txBody>
      </p:sp>
      <p:sp>
        <p:nvSpPr>
          <p:cNvPr id="4" name="Text Box"/>
          <p:cNvSpPr txBox="1"/>
          <p:nvPr/>
        </p:nvSpPr>
        <p:spPr>
          <a:xfrm>
            <a:off x="762000" y="18859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Average absolute gap for replacement cells: 0.077 AUC</a:t>
            </a:r>
            <a:endParaRPr lang="en-US" sz="1900" dirty="0"/>
          </a:p>
        </p:txBody>
      </p:sp>
      <p:sp>
        <p:nvSpPr>
          <p:cNvPr id="5" name="Text Box"/>
          <p:cNvSpPr txBox="1"/>
          <p:nvPr/>
        </p:nvSpPr>
        <p:spPr>
          <a:xfrm>
            <a:off x="762000" y="25336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Best aligned generators by mean absolute gap: smote 0.006, tabpfgen 0.017, nflow 0.022, tvae 0.024</a:t>
            </a:r>
            <a:endParaRPr lang="en-US" sz="1900" dirty="0"/>
          </a:p>
        </p:txBody>
      </p:sp>
      <p:sp>
        <p:nvSpPr>
          <p:cNvPr id="6" name="Text Box"/>
          <p:cNvSpPr txBox="1"/>
          <p:nvPr/>
        </p:nvSpPr>
        <p:spPr>
          <a:xfrm>
            <a:off x="762000" y="31813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Most mismatch comes from replacement, where synthetic data has to carry the full training signal</a:t>
            </a:r>
            <a:endParaRPr lang="en-US" sz="1900" dirty="0"/>
          </a:p>
        </p:txBody>
      </p:sp>
      <p:sp>
        <p:nvSpPr>
          <p:cNvPr id="7" name="Text Box"/>
          <p:cNvSpPr txBox="1"/>
          <p:nvPr/>
        </p:nvSpPr>
        <p:spPr>
          <a:xfrm>
            <a:off x="523875" y="6429375"/>
            <a:ext cx="9525000" cy="2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4748B"/>
                </a:solidFill>
              </a:rPr>
              <a:t>Source: outputs/analysis CSVs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 txBox="1"/>
          <p:nvPr/>
        </p:nvSpPr>
        <p:spPr>
          <a:xfrm>
            <a:off x="523875" y="4000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F172A"/>
                </a:solidFill>
                <a:b/>
              </a:rPr>
              <a:t>TabPFGen table cells</a:t>
            </a:r>
            <a:endParaRPr lang="en-US" sz="3200" dirty="0"/>
          </a:p>
        </p:txBody>
      </p:sp>
      <p:sp>
        <p:nvSpPr>
          <p:cNvPr id="3" name="Text Box"/>
          <p:cNvSpPr txBox="1"/>
          <p:nvPr/>
        </p:nvSpPr>
        <p:spPr>
          <a:xfrm>
            <a:off x="762000" y="12382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augmentation lr: 0.923 vs paper 0.921 (+0.002)</a:t>
            </a:r>
            <a:endParaRPr lang="en-US" sz="1900" dirty="0"/>
          </a:p>
        </p:txBody>
      </p:sp>
      <p:sp>
        <p:nvSpPr>
          <p:cNvPr id="4" name="Text Box"/>
          <p:cNvSpPr txBox="1"/>
          <p:nvPr/>
        </p:nvSpPr>
        <p:spPr>
          <a:xfrm>
            <a:off x="762000" y="18859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augmentation rf: 0.908 vs paper 0.912 (-0.004)</a:t>
            </a:r>
            <a:endParaRPr lang="en-US" sz="1900" dirty="0"/>
          </a:p>
        </p:txBody>
      </p:sp>
      <p:sp>
        <p:nvSpPr>
          <p:cNvPr id="5" name="Text Box"/>
          <p:cNvSpPr txBox="1"/>
          <p:nvPr/>
        </p:nvSpPr>
        <p:spPr>
          <a:xfrm>
            <a:off x="762000" y="25336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augmentation tabpfn: 0.926 vs paper 0.935 (-0.009)</a:t>
            </a:r>
            <a:endParaRPr lang="en-US" sz="1900" dirty="0"/>
          </a:p>
        </p:txBody>
      </p:sp>
      <p:sp>
        <p:nvSpPr>
          <p:cNvPr id="6" name="Text Box"/>
          <p:cNvSpPr txBox="1"/>
          <p:nvPr/>
        </p:nvSpPr>
        <p:spPr>
          <a:xfrm>
            <a:off x="762000" y="31813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augmentation xgb: 0.912 vs paper 0.934 (-0.022)</a:t>
            </a:r>
            <a:endParaRPr lang="en-US" sz="1900" dirty="0"/>
          </a:p>
        </p:txBody>
      </p:sp>
      <p:sp>
        <p:nvSpPr>
          <p:cNvPr id="7" name="Text Box"/>
          <p:cNvSpPr txBox="1"/>
          <p:nvPr/>
        </p:nvSpPr>
        <p:spPr>
          <a:xfrm>
            <a:off x="762000" y="38290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replacement lr: 0.913 vs paper 0.920 (-0.007)</a:t>
            </a:r>
            <a:endParaRPr lang="en-US" sz="1900" dirty="0"/>
          </a:p>
        </p:txBody>
      </p:sp>
      <p:sp>
        <p:nvSpPr>
          <p:cNvPr id="8" name="Text Box"/>
          <p:cNvSpPr txBox="1"/>
          <p:nvPr/>
        </p:nvSpPr>
        <p:spPr>
          <a:xfrm>
            <a:off x="762000" y="44767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replacement rf: 0.876 vs paper 0.906 (-0.030)</a:t>
            </a:r>
            <a:endParaRPr lang="en-US" sz="1900" dirty="0"/>
          </a:p>
        </p:txBody>
      </p:sp>
      <p:sp>
        <p:nvSpPr>
          <p:cNvPr id="9" name="Text Box"/>
          <p:cNvSpPr txBox="1"/>
          <p:nvPr/>
        </p:nvSpPr>
        <p:spPr>
          <a:xfrm>
            <a:off x="762000" y="51244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replacement tabpfn: 0.924 vs paper 0.934 (-0.010)</a:t>
            </a:r>
            <a:endParaRPr lang="en-US" sz="1900" dirty="0"/>
          </a:p>
        </p:txBody>
      </p:sp>
      <p:sp>
        <p:nvSpPr>
          <p:cNvPr id="10" name="Text Box"/>
          <p:cNvSpPr txBox="1"/>
          <p:nvPr/>
        </p:nvSpPr>
        <p:spPr>
          <a:xfrm>
            <a:off x="762000" y="57721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replacement xgb: 0.878 vs paper 0.927 (-0.049)</a:t>
            </a:r>
            <a:endParaRPr lang="en-US" sz="1900" dirty="0"/>
          </a:p>
        </p:txBody>
      </p:sp>
      <p:sp>
        <p:nvSpPr>
          <p:cNvPr id="11" name="Text Box"/>
          <p:cNvSpPr txBox="1"/>
          <p:nvPr/>
        </p:nvSpPr>
        <p:spPr>
          <a:xfrm>
            <a:off x="523875" y="6429375"/>
            <a:ext cx="9525000" cy="2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4748B"/>
                </a:solidFill>
              </a:rPr>
              <a:t>Source: outputs/analysis CSVs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 txBox="1"/>
          <p:nvPr/>
        </p:nvSpPr>
        <p:spPr>
          <a:xfrm>
            <a:off x="523875" y="4000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F172A"/>
                </a:solidFill>
                <a:b/>
              </a:rPr>
              <a:t>TabPFGen failure pattern</a:t>
            </a:r>
            <a:endParaRPr lang="en-US" sz="3200" dirty="0"/>
          </a:p>
        </p:txBody>
      </p:sp>
      <p:sp>
        <p:nvSpPr>
          <p:cNvPr id="3" name="Text Box"/>
          <p:cNvSpPr txBox="1"/>
          <p:nvPr/>
        </p:nvSpPr>
        <p:spPr>
          <a:xfrm>
            <a:off x="762000" y="12382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Worst rows concentrate in replacement mode, especially diabetes with RF and XGB at AUC 0.5</a:t>
            </a:r>
            <a:endParaRPr lang="en-US" sz="1900" dirty="0"/>
          </a:p>
        </p:txBody>
      </p:sp>
      <p:sp>
        <p:nvSpPr>
          <p:cNvPr id="4" name="Text Box"/>
          <p:cNvSpPr txBox="1"/>
          <p:nvPr/>
        </p:nvSpPr>
        <p:spPr>
          <a:xfrm>
            <a:off x="762000" y="18859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The blank diabetes synthetic CSV indicates non-finite generated features rather than a downstream classifier issue</a:t>
            </a:r>
            <a:endParaRPr lang="en-US" sz="1900" dirty="0"/>
          </a:p>
        </p:txBody>
      </p:sp>
      <p:sp>
        <p:nvSpPr>
          <p:cNvPr id="5" name="Text Box"/>
          <p:cNvSpPr txBox="1"/>
          <p:nvPr/>
        </p:nvSpPr>
        <p:spPr>
          <a:xfrm>
            <a:off x="762000" y="25336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The sampler now fails fast on non-finite energy, gradients, samples, or inverse-scaled outputs</a:t>
            </a:r>
            <a:endParaRPr lang="en-US" sz="1900" dirty="0"/>
          </a:p>
        </p:txBody>
      </p:sp>
      <p:sp>
        <p:nvSpPr>
          <p:cNvPr id="6" name="Text Box"/>
          <p:cNvSpPr txBox="1"/>
          <p:nvPr/>
        </p:nvSpPr>
        <p:spPr>
          <a:xfrm>
            <a:off x="762000" y="31813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A retry path lowers step size and noise before giving up, and records fallback use in metadata</a:t>
            </a:r>
            <a:endParaRPr lang="en-US" sz="1900" dirty="0"/>
          </a:p>
        </p:txBody>
      </p:sp>
      <p:sp>
        <p:nvSpPr>
          <p:cNvPr id="7" name="Text Box"/>
          <p:cNvSpPr txBox="1"/>
          <p:nvPr/>
        </p:nvSpPr>
        <p:spPr>
          <a:xfrm>
            <a:off x="762000" y="38290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Rows to revisit: 37 &lt;bound method Series.mode of dataset_id                                                          37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seed                                                                 0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generator                                                     tabpfgen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mode                                                       replacement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downstream_model                                                    rf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auc                                                                0.5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n_train_real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n_train_used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n_test      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classes                         ['tested_negative', 'tested_positive']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result_path          /projects/prjs1237/project/tabpfgen/TabPFGen/o...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metrics_path         /projects/prjs1237/project/tabpfgen/TabPFGen/o...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dataset_name                                                  diabetes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original_auc                                                  0.832463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delta_vs_original                                            -0.332463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Name: 2227, dtype: object&gt; rf -0.33; 37 &lt;bound method Series.mode of dataset_id                                                          37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seed                                                                 2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generator                                                     tabpfgen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mode                                                       replacement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downstream_model                                                    rf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auc                                                                0.5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n_train_real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n_train_used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n_test      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classes                         ['tested_negative', 'tested_positive']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result_path          /projects/prjs1237/project/tabpfgen/TabPFGen/o...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metrics_path         /projects/prjs1237/project/tabpfgen/TabPFGen/o...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dataset_name                                                  diabetes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original_auc                                                  0.821597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delta_vs_original                                            -0.321597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Name: 2333, dtype: object&gt; rf -0.32; 37 &lt;bound method Series.mode of dataset_id                                                          37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seed                                                                 0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generator                                                     tabpfgen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mode                                                       replacement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downstream_model                                                   xgb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auc                                                                0.5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n_train_real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n_train_used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n_test      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classes                         ['tested_negative', 'tested_positive']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result_path          /projects/prjs1237/project/tabpfgen/TabPFGen/o...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metrics_path         /projects/prjs1237/project/tabpfgen/TabPFGen/o...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dataset_name                                                  diabetes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original_auc                                                  0.809701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delta_vs_original                                            -0.309701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Name: 2228, dtype: object&gt; xgb -0.31; 37 &lt;bound method Series.mode of dataset_id                                                          37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seed                                                                 2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generator                                                     tabpfgen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mode                                                       replacement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downstream_model                                                   xgb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auc                                                                0.5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n_train_real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n_train_used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n_test      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classes                         ['tested_negative', 'tested_positive']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result_path          /projects/prjs1237/project/tabpfgen/TabPFGen/o...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metrics_path         /projects/prjs1237/project/tabpfgen/TabPFGen/o...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dataset_name                                                  diabetes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original_auc                                                  0.806716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delta_vs_original                                            -0.306716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Name: 2334, dtype: object&gt; xgb -0.31; 37 &lt;bound method Series.mode of dataset_id                                                          37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seed                                                                 1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generator                                                     tabpfgen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mode                                                       replacement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downstream_model                                                    rf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auc                                                                0.5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n_train_real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n_train_used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n_test                                                             384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classes                         ['tested_negative', 'tested_positive']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result_path          /projects/prjs1237/project/tabpfgen/TabPFGen/o...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metrics_path         /projects/prjs1237/project/tabpfgen/TabPFGen/o...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dataset_name                                                  diabetes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original_auc                                                  0.792015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delta_vs_original                                            -0.292015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Name: 2280, dtype: object&gt; rf -0.29</a:t>
            </a:r>
            <a:endParaRPr lang="en-US" sz="1900" dirty="0"/>
          </a:p>
        </p:txBody>
      </p:sp>
      <p:sp>
        <p:nvSpPr>
          <p:cNvPr id="8" name="Text Box"/>
          <p:cNvSpPr txBox="1"/>
          <p:nvPr/>
        </p:nvSpPr>
        <p:spPr>
          <a:xfrm>
            <a:off x="523875" y="6429375"/>
            <a:ext cx="9525000" cy="2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4748B"/>
                </a:solidFill>
              </a:rPr>
              <a:t>Source: outputs/analysis CSVs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 txBox="1"/>
          <p:nvPr/>
        </p:nvSpPr>
        <p:spPr>
          <a:xfrm>
            <a:off x="523875" y="4000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F172A"/>
                </a:solidFill>
                <a:b/>
              </a:rPr>
              <a:t>Synthetic data diagnostics</a:t>
            </a:r>
            <a:endParaRPr lang="en-US" sz="3200" dirty="0"/>
          </a:p>
        </p:txBody>
      </p:sp>
      <p:sp>
        <p:nvSpPr>
          <p:cNvPr id="3" name="Text Box"/>
          <p:cNvSpPr txBox="1"/>
          <p:nvPr/>
        </p:nvSpPr>
        <p:spPr>
          <a:xfrm>
            <a:off x="762000" y="12382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smote: KS 0.060, corr MAE 0.048, detectability 0.628</a:t>
            </a:r>
            <a:endParaRPr lang="en-US" sz="1900" dirty="0"/>
          </a:p>
        </p:txBody>
      </p:sp>
      <p:sp>
        <p:nvSpPr>
          <p:cNvPr id="4" name="Text Box"/>
          <p:cNvSpPr txBox="1"/>
          <p:nvPr/>
        </p:nvSpPr>
        <p:spPr>
          <a:xfrm>
            <a:off x="762000" y="18859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tabpfgen: KS 0.113, corr MAE 0.054, detectability 0.904</a:t>
            </a:r>
            <a:endParaRPr lang="en-US" sz="1900" dirty="0"/>
          </a:p>
        </p:txBody>
      </p:sp>
      <p:sp>
        <p:nvSpPr>
          <p:cNvPr id="5" name="Text Box"/>
          <p:cNvSpPr txBox="1"/>
          <p:nvPr/>
        </p:nvSpPr>
        <p:spPr>
          <a:xfrm>
            <a:off x="762000" y="25336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tabddpm: KS 0.353, corr MAE 0.196, detectability 0.891</a:t>
            </a:r>
            <a:endParaRPr lang="en-US" sz="1900" dirty="0"/>
          </a:p>
        </p:txBody>
      </p:sp>
      <p:sp>
        <p:nvSpPr>
          <p:cNvPr id="6" name="Text Box"/>
          <p:cNvSpPr txBox="1"/>
          <p:nvPr/>
        </p:nvSpPr>
        <p:spPr>
          <a:xfrm>
            <a:off x="762000" y="31813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ctgan: KS 0.343, corr MAE 0.259, detectability 0.976</a:t>
            </a:r>
            <a:endParaRPr lang="en-US" sz="1900" dirty="0"/>
          </a:p>
        </p:txBody>
      </p:sp>
      <p:sp>
        <p:nvSpPr>
          <p:cNvPr id="7" name="Text Box"/>
          <p:cNvSpPr txBox="1"/>
          <p:nvPr/>
        </p:nvSpPr>
        <p:spPr>
          <a:xfrm>
            <a:off x="762000" y="38290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rtvae: KS 0.325, corr MAE 0.226, detectability 0.980</a:t>
            </a:r>
            <a:endParaRPr lang="en-US" sz="1900" dirty="0"/>
          </a:p>
        </p:txBody>
      </p:sp>
      <p:sp>
        <p:nvSpPr>
          <p:cNvPr id="8" name="Text Box"/>
          <p:cNvSpPr txBox="1"/>
          <p:nvPr/>
        </p:nvSpPr>
        <p:spPr>
          <a:xfrm>
            <a:off x="762000" y="44767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SMOTE looks most realistic by C2ST but has exact-neighbor risk from interpolation and duplication</a:t>
            </a:r>
            <a:endParaRPr lang="en-US" sz="1900" dirty="0"/>
          </a:p>
        </p:txBody>
      </p:sp>
      <p:sp>
        <p:nvSpPr>
          <p:cNvPr id="9" name="Text Box"/>
          <p:cNvSpPr txBox="1"/>
          <p:nvPr/>
        </p:nvSpPr>
        <p:spPr>
          <a:xfrm>
            <a:off x="762000" y="51244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TabPFGen preserves correlations well and has no exact duplicates in this run</a:t>
            </a:r>
            <a:endParaRPr lang="en-US" sz="1900" dirty="0"/>
          </a:p>
        </p:txBody>
      </p:sp>
      <p:sp>
        <p:nvSpPr>
          <p:cNvPr id="10" name="Text Box"/>
          <p:cNvSpPr txBox="1"/>
          <p:nvPr/>
        </p:nvSpPr>
        <p:spPr>
          <a:xfrm>
            <a:off x="762000" y="57721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High detectability means TabPFGen utility does not imply real-data indistinguishability</a:t>
            </a:r>
            <a:endParaRPr lang="en-US" sz="1900" dirty="0"/>
          </a:p>
        </p:txBody>
      </p:sp>
      <p:sp>
        <p:nvSpPr>
          <p:cNvPr id="11" name="Text Box"/>
          <p:cNvSpPr txBox="1"/>
          <p:nvPr/>
        </p:nvSpPr>
        <p:spPr>
          <a:xfrm>
            <a:off x="523875" y="6429375"/>
            <a:ext cx="9525000" cy="2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4748B"/>
                </a:solidFill>
              </a:rPr>
              <a:t>Source: outputs/analysis CSVs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 txBox="1"/>
          <p:nvPr/>
        </p:nvSpPr>
        <p:spPr>
          <a:xfrm>
            <a:off x="523875" y="4000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F172A"/>
                </a:solidFill>
                <a:b/>
              </a:rPr>
              <a:t>CTGAN repeat experiment</a:t>
            </a:r>
            <a:endParaRPr lang="en-US" sz="3200" dirty="0"/>
          </a:p>
        </p:txBody>
      </p:sp>
      <p:sp>
        <p:nvSpPr>
          <p:cNvPr id="3" name="Text Box"/>
          <p:cNvSpPr txBox="1"/>
          <p:nvPr/>
        </p:nvSpPr>
        <p:spPr>
          <a:xfrm>
            <a:off x="762000" y="12382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New CTGAN repeat scripts separate data split seed from CTGAN training seed</a:t>
            </a:r>
            <a:endParaRPr lang="en-US" sz="1900" dirty="0"/>
          </a:p>
        </p:txBody>
      </p:sp>
      <p:sp>
        <p:nvSpPr>
          <p:cNvPr id="4" name="Text Box"/>
          <p:cNvSpPr txBox="1"/>
          <p:nvPr/>
        </p:nvSpPr>
        <p:spPr>
          <a:xfrm>
            <a:off x="762000" y="18859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The planned grid runs 10 CTGAN seeds per dataset split: 540 generator jobs and 4320 evaluation jobs</a:t>
            </a:r>
            <a:endParaRPr lang="en-US" sz="1900" dirty="0"/>
          </a:p>
        </p:txBody>
      </p:sp>
      <p:sp>
        <p:nvSpPr>
          <p:cNvPr id="5" name="Text Box"/>
          <p:cNvSpPr txBox="1"/>
          <p:nvPr/>
        </p:nvSpPr>
        <p:spPr>
          <a:xfrm>
            <a:off x="762000" y="25336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The summary reports mean, standard deviation, best, and worst AUC by mode and downstream model</a:t>
            </a:r>
            <a:endParaRPr lang="en-US" sz="1900" dirty="0"/>
          </a:p>
        </p:txBody>
      </p:sp>
      <p:sp>
        <p:nvSpPr>
          <p:cNvPr id="6" name="Text Box"/>
          <p:cNvSpPr txBox="1"/>
          <p:nvPr/>
        </p:nvSpPr>
        <p:spPr>
          <a:xfrm>
            <a:off x="762000" y="31813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This tests whether paper-level CTGAN performance reflects average behavior or lucky training runs</a:t>
            </a:r>
            <a:endParaRPr lang="en-US" sz="1900" dirty="0"/>
          </a:p>
        </p:txBody>
      </p:sp>
      <p:sp>
        <p:nvSpPr>
          <p:cNvPr id="7" name="Text Box"/>
          <p:cNvSpPr txBox="1"/>
          <p:nvPr/>
        </p:nvSpPr>
        <p:spPr>
          <a:xfrm>
            <a:off x="523875" y="6429375"/>
            <a:ext cx="9525000" cy="2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4748B"/>
                </a:solidFill>
              </a:rPr>
              <a:t>Source: outputs/analysis CSVs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 txBox="1"/>
          <p:nvPr/>
        </p:nvSpPr>
        <p:spPr>
          <a:xfrm>
            <a:off x="523875" y="4000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F172A"/>
                </a:solidFill>
                <a:b/>
              </a:rPr>
              <a:t>Reruns and analysis fixes</a:t>
            </a:r>
            <a:endParaRPr lang="en-US" sz="3200" dirty="0"/>
          </a:p>
        </p:txBody>
      </p:sp>
      <p:sp>
        <p:nvSpPr>
          <p:cNvPr id="3" name="Text Box"/>
          <p:cNvSpPr txBox="1"/>
          <p:nvPr/>
        </p:nvSpPr>
        <p:spPr>
          <a:xfrm>
            <a:off x="762000" y="12382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Added a 13-row rerun pipeline: regenerate diabetes TabPFGen for seeds 0 to 2, then evaluate the exact missing cells</a:t>
            </a:r>
            <a:endParaRPr lang="en-US" sz="1900" dirty="0"/>
          </a:p>
        </p:txBody>
      </p:sp>
      <p:sp>
        <p:nvSpPr>
          <p:cNvPr id="4" name="Text Box"/>
          <p:cNvSpPr txBox="1"/>
          <p:nvPr/>
        </p:nvSpPr>
        <p:spPr>
          <a:xfrm>
            <a:off x="762000" y="18859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Original rows now map to the paper’s augmentation/original column in table1_vs_paper.csv</a:t>
            </a:r>
            <a:endParaRPr lang="en-US" sz="1900" dirty="0"/>
          </a:p>
        </p:txBody>
      </p:sp>
      <p:sp>
        <p:nvSpPr>
          <p:cNvPr id="5" name="Text Box"/>
          <p:cNvSpPr txBox="1"/>
          <p:nvPr/>
        </p:nvSpPr>
        <p:spPr>
          <a:xfrm>
            <a:off x="762000" y="25336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C2ST now reports raw AUC and orientation-free detectability: max(AUC, 1 - AUC)</a:t>
            </a:r>
            <a:endParaRPr lang="en-US" sz="1900" dirty="0"/>
          </a:p>
        </p:txBody>
      </p:sp>
      <p:sp>
        <p:nvSpPr>
          <p:cNvPr id="6" name="Text Box"/>
          <p:cNvSpPr txBox="1"/>
          <p:nvPr/>
        </p:nvSpPr>
        <p:spPr>
          <a:xfrm>
            <a:off x="762000" y="31813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Next analysis pass should rerun outputs after the diabetes fix and CTGAN repeat study complete</a:t>
            </a:r>
            <a:endParaRPr lang="en-US" sz="1900" dirty="0"/>
          </a:p>
        </p:txBody>
      </p:sp>
      <p:sp>
        <p:nvSpPr>
          <p:cNvPr id="7" name="Text Box"/>
          <p:cNvSpPr txBox="1"/>
          <p:nvPr/>
        </p:nvSpPr>
        <p:spPr>
          <a:xfrm>
            <a:off x="523875" y="6429375"/>
            <a:ext cx="9525000" cy="2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4748B"/>
                </a:solidFill>
              </a:rPr>
              <a:t>Source: outputs/analysis CSVs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 txBox="1"/>
          <p:nvPr/>
        </p:nvSpPr>
        <p:spPr>
          <a:xfrm>
            <a:off x="523875" y="4000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F172A"/>
                </a:solidFill>
                <a:b/>
              </a:rPr>
              <a:t>Main interpretation</a:t>
            </a:r>
            <a:endParaRPr lang="en-US" sz="3200" dirty="0"/>
          </a:p>
        </p:txBody>
      </p:sp>
      <p:sp>
        <p:nvSpPr>
          <p:cNvPr id="3" name="Text Box"/>
          <p:cNvSpPr txBox="1"/>
          <p:nvPr/>
        </p:nvSpPr>
        <p:spPr>
          <a:xfrm>
            <a:off x="762000" y="12382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TabPFGen reproduces the paper’s central ranking better than most neural baselines</a:t>
            </a:r>
            <a:endParaRPr lang="en-US" sz="1900" dirty="0"/>
          </a:p>
        </p:txBody>
      </p:sp>
      <p:sp>
        <p:nvSpPr>
          <p:cNvPr id="4" name="Text Box"/>
          <p:cNvSpPr txBox="1"/>
          <p:nvPr/>
        </p:nvSpPr>
        <p:spPr>
          <a:xfrm>
            <a:off x="762000" y="18859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Its value is downstream utility, not perfect distribution matching</a:t>
            </a:r>
            <a:endParaRPr lang="en-US" sz="1900" dirty="0"/>
          </a:p>
        </p:txBody>
      </p:sp>
      <p:sp>
        <p:nvSpPr>
          <p:cNvPr id="5" name="Text Box"/>
          <p:cNvSpPr txBox="1"/>
          <p:nvPr/>
        </p:nvSpPr>
        <p:spPr>
          <a:xfrm>
            <a:off x="762000" y="25336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Replacement mode is the stress test and reveals most failures</a:t>
            </a:r>
            <a:endParaRPr lang="en-US" sz="1900" dirty="0"/>
          </a:p>
        </p:txBody>
      </p:sp>
      <p:sp>
        <p:nvSpPr>
          <p:cNvPr id="6" name="Text Box"/>
          <p:cNvSpPr txBox="1"/>
          <p:nvPr/>
        </p:nvSpPr>
        <p:spPr>
          <a:xfrm>
            <a:off x="762000" y="31813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• Numerical stability and exact TabPFN behavior are now the key reproduction risks</a:t>
            </a:r>
            <a:endParaRPr lang="en-US" sz="1900" dirty="0"/>
          </a:p>
        </p:txBody>
      </p:sp>
      <p:sp>
        <p:nvSpPr>
          <p:cNvPr id="7" name="Text Box"/>
          <p:cNvSpPr txBox="1"/>
          <p:nvPr/>
        </p:nvSpPr>
        <p:spPr>
          <a:xfrm>
            <a:off x="523875" y="6429375"/>
            <a:ext cx="9525000" cy="2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4748B"/>
                </a:solidFill>
              </a:rPr>
              <a:t>Source: outputs/analysis CSVs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891B2"/>
      </a:accent2>
      <a:accent3>
        <a:srgbClr val="16A34A"/>
      </a:accent3>
      <a:accent4>
        <a:srgbClr val="F59E0B"/>
      </a:accent4>
      <a:accent5>
        <a:srgbClr val="DC2626"/>
      </a:accent5>
      <a:accent6>
        <a:srgbClr val="7C3AED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TabPFGen reproduction results</dc:title>
  <dc:creator>Codex</dc:creator>
  <cp:lastModifiedBy>Codex</cp:lastModifiedBy>
</cp:coreProperties>
</file>